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4D3A42-5314-6997-E546-177095F6EA27}" v="3" dt="2026-03-30T14:39:14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269CE-ED06-483D-8AC2-F3D3794CC8F2}" type="datetimeFigureOut"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C910E-55B0-4DC0-B13C-DD9C5C7EFF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36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73152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82296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09728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64008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37160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74320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56032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320040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237744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83464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19456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4048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420624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365760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411480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74904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4297680"/>
            <a:ext cx="27432" cy="27432"/>
          </a:xfrm>
          <a:prstGeom prst="ellipse">
            <a:avLst/>
          </a:prstGeom>
          <a:solidFill>
            <a:srgbClr val="F0F4FF">
              <a:alpha val="6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685800"/>
            <a:ext cx="5394960" cy="3749040"/>
          </a:xfrm>
          <a:prstGeom prst="rect">
            <a:avLst/>
          </a:prstGeom>
          <a:solidFill>
            <a:srgbClr val="1A2B5E">
              <a:alpha val="8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63040" y="685800"/>
            <a:ext cx="53949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685800"/>
            <a:ext cx="2011680" cy="20116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554480" y="8229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8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SECURING</a:t>
            </a:r>
            <a:endParaRPr lang="en-US" sz="3800" dirty="0"/>
          </a:p>
        </p:txBody>
      </p:sp>
      <p:sp>
        <p:nvSpPr>
          <p:cNvPr id="28" name="Text 25"/>
          <p:cNvSpPr/>
          <p:nvPr/>
        </p:nvSpPr>
        <p:spPr>
          <a:xfrm>
            <a:off x="1554480" y="142646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kern="0" spc="3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AI SYSTEMS</a:t>
            </a:r>
            <a:endParaRPr lang="en-US" sz="2300" dirty="0"/>
          </a:p>
        </p:txBody>
      </p:sp>
      <p:sp>
        <p:nvSpPr>
          <p:cNvPr id="29" name="Shape 26"/>
          <p:cNvSpPr/>
          <p:nvPr/>
        </p:nvSpPr>
        <p:spPr>
          <a:xfrm>
            <a:off x="2560320" y="2066544"/>
            <a:ext cx="3291840" cy="36576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554480" y="215798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8-Hour Hands-On Workshop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554480" y="2523744"/>
            <a:ext cx="52120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8BA8D4"/>
                </a:solidFill>
                <a:latin typeface="Courier New"/>
                <a:ea typeface="Courier New" pitchFamily="34" charset="-122"/>
                <a:cs typeface="Courier New"/>
              </a:rPr>
              <a:t>BSidesOK</a:t>
            </a:r>
            <a:r>
              <a:rPr lang="en-US" sz="1000" dirty="0">
                <a:solidFill>
                  <a:srgbClr val="8BA8D4"/>
                </a:solidFill>
                <a:latin typeface="Courier New"/>
                <a:ea typeface="Courier New" pitchFamily="34" charset="-122"/>
                <a:cs typeface="Courier New"/>
              </a:rPr>
              <a:t> 2026  ·  Training Day  ·  April 8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554480" y="287121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Evan Wagner  ·  Christopher Williams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554480" y="332841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ML Fundamentals to Agentic Defense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0" y="47274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FEDERATION OF BSIDES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586" y="4587333"/>
            <a:ext cx="572895" cy="5171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INSTRUCTORS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the team behind the workshop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EVAN WAGNER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Co-instructor &amp; Workshop Co-Organizer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ea typeface="Courier New" pitchFamily="34" charset="-122"/>
                <a:cs typeface="Courier New"/>
              </a:rPr>
              <a:t>Cybersecurity practitioner</a:t>
            </a:r>
            <a:endParaRPr lang="en-US" sz="950" dirty="0">
              <a:latin typeface="Courier New"/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 err="1">
                <a:solidFill>
                  <a:srgbClr val="F0F4FF"/>
                </a:solidFill>
                <a:latin typeface="Courier New"/>
                <a:cs typeface="Courier New"/>
              </a:rPr>
              <a:t>HackNWA</a:t>
            </a:r>
            <a:r>
              <a:rPr lang="en-US" sz="950" dirty="0">
                <a:solidFill>
                  <a:srgbClr val="F0F4FF"/>
                </a:solidFill>
                <a:latin typeface="Courier New"/>
                <a:cs typeface="Courier New"/>
              </a:rPr>
              <a:t>, SFISSA, </a:t>
            </a:r>
            <a:r>
              <a:rPr lang="en-US" sz="950" dirty="0" err="1">
                <a:solidFill>
                  <a:srgbClr val="F0F4FF"/>
                </a:solidFill>
                <a:latin typeface="Courier New"/>
                <a:cs typeface="Courier New"/>
              </a:rPr>
              <a:t>HackMiami</a:t>
            </a:r>
            <a:endParaRPr lang="en-US" sz="950">
              <a:solidFill>
                <a:srgbClr val="F0F4FF"/>
              </a:solidFill>
              <a:latin typeface="Courier New"/>
              <a:cs typeface="Courier New"/>
            </a:endParaRPr>
          </a:p>
          <a:p>
            <a:pPr marL="342900" indent="-342900">
              <a:spcAft>
                <a:spcPts val="300"/>
              </a:spcAft>
              <a:buSzPct val="100000"/>
              <a:buFont typeface="Arial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ea typeface="Calibri" panose="020F0502020204030204"/>
                <a:cs typeface="Courier New"/>
              </a:rPr>
              <a:t>Professional CSIRT Lead</a:t>
            </a:r>
          </a:p>
          <a:p>
            <a:pPr marL="342900" indent="-342900">
              <a:spcAft>
                <a:spcPts val="300"/>
              </a:spcAft>
              <a:buSzPct val="100000"/>
              <a:buFont typeface="Arial"/>
              <a:buChar char="•"/>
            </a:pPr>
            <a:r>
              <a:rPr lang="en-US" sz="900">
                <a:solidFill>
                  <a:srgbClr val="F0F4FF"/>
                </a:solidFill>
                <a:latin typeface="Courier New"/>
                <a:ea typeface="Calibri" panose="020F0502020204030204"/>
                <a:cs typeface="Courier New"/>
              </a:rPr>
              <a:t>Experienced Programmer, DevOps, Ethical Hacker</a:t>
            </a:r>
            <a:endParaRPr lang="en-US" sz="950" dirty="0">
              <a:solidFill>
                <a:srgbClr val="F0F4FF"/>
              </a:solidFill>
              <a:latin typeface="Courier New"/>
              <a:ea typeface="Calibri" panose="020F0502020204030204"/>
              <a:cs typeface="Courier New"/>
            </a:endParaRPr>
          </a:p>
          <a:p>
            <a:pPr marL="342900" indent="-342900">
              <a:spcAft>
                <a:spcPts val="300"/>
              </a:spcAft>
              <a:buSzPct val="100000"/>
              <a:buFont typeface="Arial"/>
              <a:buChar char="•"/>
            </a:pPr>
            <a:endParaRPr lang="en-US" sz="950" dirty="0">
              <a:solidFill>
                <a:srgbClr val="F0F4FF"/>
              </a:solidFill>
              <a:latin typeface="Courier New"/>
              <a:ea typeface="Calibri" panose="020F0502020204030204"/>
              <a:cs typeface="Courier New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CHRISTOPHER WILLIAMS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ea typeface="Courier New" pitchFamily="34" charset="-122"/>
                <a:cs typeface="Courier New"/>
              </a:rPr>
              <a:t>Principal Incident Response Engineer</a:t>
            </a:r>
            <a:endParaRPr lang="en-US" sz="950">
              <a:latin typeface="Courier New"/>
              <a:cs typeface="Courier New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ea typeface="Courier New" pitchFamily="34" charset="-122"/>
                <a:cs typeface="Courier New"/>
              </a:rPr>
              <a:t>Active</a:t>
            </a:r>
            <a:r>
              <a:rPr lang="en-US" sz="950" dirty="0">
                <a:solidFill>
                  <a:srgbClr val="F0F4FF"/>
                </a:solidFill>
                <a:latin typeface="Courier New"/>
                <a:ea typeface="Courier New" pitchFamily="34" charset="-122"/>
                <a:cs typeface="Courier New"/>
              </a:rPr>
              <a:t> CISSP  ·  CISM  ·  GCFA</a:t>
            </a:r>
            <a:endParaRPr lang="en-US" sz="950" dirty="0">
              <a:latin typeface="Courier New"/>
              <a:cs typeface="Courier New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/>
                <a:cs typeface="Courier New"/>
              </a:rPr>
              <a:t>B.S. in Cyber Secur</a:t>
            </a:r>
            <a:r>
              <a:rPr lang="en-US" sz="950">
                <a:solidFill>
                  <a:srgbClr val="F0F4FF"/>
                </a:solidFill>
                <a:latin typeface="Courier New"/>
                <a:cs typeface="Courier New"/>
              </a:rPr>
              <a:t>ity from Bellevue University</a:t>
            </a:r>
            <a:endParaRPr lang="en-US" sz="950" dirty="0">
              <a:solidFill>
                <a:srgbClr val="F0F4FF"/>
              </a:solidFill>
              <a:latin typeface="Courier New"/>
              <a:cs typeface="Courier New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cs typeface="Courier New"/>
              </a:rPr>
              <a:t>Graduate Student at Bellevue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ea typeface="Courier New" pitchFamily="34" charset="-122"/>
                <a:cs typeface="Courier New"/>
              </a:rPr>
              <a:t>30+ years industry experience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>
                <a:solidFill>
                  <a:srgbClr val="F0F4FF"/>
                </a:solidFill>
                <a:latin typeface="Courier New"/>
                <a:cs typeface="Courier New"/>
              </a:rPr>
              <a:t>Linux/Unix, DevOps, Ethical Hacker</a:t>
            </a:r>
            <a:endParaRPr lang="en-US" sz="950" dirty="0">
              <a:solidFill>
                <a:srgbClr val="F0F4FF"/>
              </a:solidFill>
              <a:latin typeface="Courier New"/>
              <a:cs typeface="Courier New"/>
            </a:endParaRPr>
          </a:p>
          <a:p>
            <a:pPr>
              <a:spcAft>
                <a:spcPts val="300"/>
              </a:spcAft>
            </a:pPr>
            <a:r>
              <a:rPr lang="en-US" sz="1100" b="1">
                <a:solidFill>
                  <a:srgbClr val="FF0000"/>
                </a:solidFill>
                <a:ea typeface="+mn-lt"/>
                <a:cs typeface="+mn-lt"/>
              </a:rPr>
              <a:t>My presentation, comments and opinions are provided in my personal capacity and not as a representative of my employer. They do not reflect the views of my employer and are not endorsed by my employer.</a:t>
            </a:r>
            <a:endParaRPr lang="en-US">
              <a:ea typeface="+mn-lt"/>
              <a:cs typeface="+mn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950" dirty="0">
              <a:solidFill>
                <a:srgbClr val="F0F4FF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433" y="4538546"/>
            <a:ext cx="572895" cy="6077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REQUIREMENTS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need · All labs are browser-accessible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88720"/>
            <a:ext cx="4224528" cy="32918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11887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OPTIONS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01168" y="1572768"/>
            <a:ext cx="422452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with modern Nvidia GPU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OR 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/ Mac with hypervisor: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VMware Workstation / Fusion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VirtualBox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Ollama-compatible system accepted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18304" y="1188720"/>
            <a:ext cx="4224528" cy="329184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9744" y="11887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 PROVIDED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18304" y="1572768"/>
            <a:ext cx="422452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Preconfigured VM image: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.ova  (VMware / VirtualBox)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.qcow2 (KVM / QEMU)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labs run in the browser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local install beyond VM host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01168" y="3822192"/>
            <a:ext cx="8741664" cy="713232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8313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INCLUDED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0040" y="4096512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 ·  PyTorch  ·  Transformers  ·  Ollama  ·  Open WebUI  ·  Gradio  ·  FastMCP  ·  LangChain  ·  LangGraph  ·  OpenClaw  ·  Elasticsearch  ·  Wazuh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799" y="4517638"/>
            <a:ext cx="656528" cy="628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AGENDA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hours · 10 labs · ML Fundamentals through Agentic Defense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70432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70432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" y="12161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69264" y="1216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Fundamentals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639312" y="121615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01168" y="1645920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1168" y="1645920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169164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69264" y="16916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ML to GenAI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39312" y="169164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01168" y="2121408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01168" y="2121408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216712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69264" y="21671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LLMs Using Tools / MCP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639312" y="21671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01168" y="2596896"/>
            <a:ext cx="4315968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92608" y="2596896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BREAK —  15-20 min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01168" y="3072384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01168" y="3072384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2608" y="311810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4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69264" y="31181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Agents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639312" y="311810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01168" y="3547872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01168" y="3547872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2608" y="359359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5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969264" y="35935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Agents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639312" y="359359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01168" y="4023360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01168" y="4023360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92608" y="406908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969264" y="40690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Attacking LLMs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639312" y="406908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718304" y="1170432"/>
            <a:ext cx="4315968" cy="420624"/>
          </a:xfrm>
          <a:prstGeom prst="rect">
            <a:avLst/>
          </a:prstGeom>
          <a:solidFill>
            <a:srgbClr val="1E4D00"/>
          </a:solidFill>
          <a:ln w="12700">
            <a:solidFill>
              <a:srgbClr val="44AA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09744" y="1170432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LUNCH —  60 min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718304" y="1645920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718304" y="1645920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09744" y="169164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7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486400" y="16916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Watchword Observability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156448" y="169164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718304" y="2121408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18304" y="2121408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09744" y="216712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8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486400" y="21671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&amp; Alerting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8156448" y="21671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718304" y="2596896"/>
            <a:ext cx="4315968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809744" y="2596896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BREAK —  15-20 min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718304" y="3072384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718304" y="3072384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809744" y="311810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9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5486400" y="31181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Canaries in the Coal Mine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8156448" y="311810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4718304" y="3547872"/>
            <a:ext cx="4315968" cy="420624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718304" y="3547872"/>
            <a:ext cx="54864" cy="42062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809744" y="359359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10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5486400" y="35935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 Capstone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8156448" y="359359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718304" y="4023360"/>
            <a:ext cx="4315968" cy="420624"/>
          </a:xfrm>
          <a:prstGeom prst="rect">
            <a:avLst/>
          </a:prstGeom>
          <a:solidFill>
            <a:srgbClr val="0D2D0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809744" y="4023360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Q&amp;A  ·  Open Discussion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708" y="4545516"/>
            <a:ext cx="642589" cy="6147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1: ML FUNDAMENTALS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minutes  ·  Classification · Learning Types · GLUE Benchmark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Supervised · Unsupervised · Reinforcement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Classification, regression, clustering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/ validation / test sets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Overfitting, underfitting, bias-variance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evaluation: accuracy, F1, AUC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Neural networks &amp; deep learning intro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a small dataset manually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Categories: Plant / Animal / Mineral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the GLUE benchmark on a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small purpose-built model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well does it classify?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factors affect accuracy?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Python + Transformers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799" y="4545516"/>
            <a:ext cx="656528" cy="628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2: FROM ML TO GENAI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minutes  ·  LLMs · Prompting · Consistency Testing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Discriminative vs generative models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an LLM? Tokens &amp; attention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engineering fundamentals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&amp; sampling parameters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vs cloud-hosted models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Ollama: running models locally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to a local LLM via Ollama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the same question multiple times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consistent are the responses?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Open WebUI chat interface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 you tell you're chatting with AI?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basic prompt manipulation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Discuss: LLM behavior &amp; limits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860" y="4545516"/>
            <a:ext cx="670467" cy="6147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3: LLMs USING TOOLS  ·  MCP PRIMER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Tool Calls · FastMCP · Server/Client Architecture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a tool call?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Context Protocol (MCP) overview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MCP: host / client / server architecture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schemas and JSON-RPC transport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LLMs decide when to use tools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FastMCP: Python MCP server builder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implications of tool use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FastMCP server + client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Expose: add, subtract, multiply, divide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the LLM invoke tool calls live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 the JSON-RPC messages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agent can now compute!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Discuss: What could go wrong?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Preview: tool misuse attack surface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TIME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– 20 Minutes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982" y="4454912"/>
            <a:ext cx="698346" cy="691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677" y="4545516"/>
            <a:ext cx="614712" cy="586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4: BUILDING AGENTS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LangChain · ReAct Pattern · Agent Loops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an AI agent?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vs chatbots vs pipelines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ReAct pattern: Reason + Act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LangChain: chains, agents, runnables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components: LLM, tools, memory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loops and state management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do agents go wrong?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an agent using LangChain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the tools from Lab 3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a goal and watch it reason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 Thought → Action → Observe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 new tool and test behavior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 intermediate reasoning steps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Discuss: autonomous decision risks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799" y="4545516"/>
            <a:ext cx="670467" cy="6147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5: AUTONOMOUS AGENTS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OpenClaw · LangGraph · Multi-Step Autonomy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 to OpenClaw framework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LangGraph: stateful agentic graphs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Multi-agent coordination patterns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 decomposition and planning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Persistence, checkpoints, memory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attack surface expansion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Real-world autonomous agent risks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 OpenClaw with an objective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the agent a multi-step mission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 autonomous planning behavior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tools does it reach for?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to redirect the agent mid-task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 containment strategies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this matter for security?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647" y="4538546"/>
            <a:ext cx="600772" cy="6077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6: ATTACKING LLMs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10 Attack Classes  ·  Best Attack Wins Challenge Coins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88720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88720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" y="1243584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Injection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9184" y="1499616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 unintended behavior via crafted input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18304" y="1188720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88720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243584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Jailbreaking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46320" y="1499616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 safety guardrails and policies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01168" y="1865376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1168" y="1865376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9184" y="1920240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Exfiltration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29184" y="2176272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training data or context window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18304" y="1865376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18304" y="1865376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1920240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Poisoning Attacks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46320" y="2176272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Corrupt training or RAG data sources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01168" y="2542032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01168" y="2542032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9184" y="2596896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Engineering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29184" y="285292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Manipulate users through AI output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18304" y="2542032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18304" y="2542032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2596896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Insecure Output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846320" y="285292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Exploit downstream processing of LLM output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01168" y="3218688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1168" y="3218688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9184" y="327355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Multimodal Attacks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29184" y="3529584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or audio as attack vector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718304" y="3218688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718304" y="3218688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46320" y="327355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/ Agent Abuse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846320" y="3529584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 tools for unintended actions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01168" y="3895344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01168" y="3895344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9184" y="3950208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 Chain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329184" y="420624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Compromise models, plugins, or MCP servers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718304" y="3895344"/>
            <a:ext cx="4315968" cy="603504"/>
          </a:xfrm>
          <a:prstGeom prst="rect">
            <a:avLst/>
          </a:prstGeom>
          <a:solidFill>
            <a:srgbClr val="162040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718304" y="3895344"/>
            <a:ext cx="54864" cy="603504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846320" y="3950208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 &amp; Hybrid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4846320" y="420624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exhaustion and combined techniques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LUNCH BREAK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 up  ·  4 labs remaining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830" y="4454912"/>
            <a:ext cx="663498" cy="6913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677" y="4587333"/>
            <a:ext cx="621682" cy="558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7: WATCHWORD OBSERVABILITY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Logging · Elasticsearch · Evidence Collection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"Logs or it didn't happen"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log in agentic systems?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info &amp; session metadata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Prompts, responses, and tool calls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actions and decision traces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Elasticsearch for log aggregation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vs freeform logging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logs from the Lab 6 attacks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Identify attack indicators in logs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Elasticsearch to query events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the data exfiltration attempt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Correlate prompt + response + tool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timeline of malicious activity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would you have missed?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66" y="4545517"/>
            <a:ext cx="740161" cy="6007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8: DETECTION AND ALERTING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Wazuh · Alert Rules · Needle in a Haystack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Needle in a haystack: what matters?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vs noise in AI system logs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Generating alerts from log events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Wazuh: open-source SIEM / XDR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writing and alert correlation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tiering for AI-specific events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MITRE ATT&amp;CK for LLM-based threats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 Wazuh alert rules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prompt injection signatures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abnormal tool call patterns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data exfil volume thresholds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alerts using Lab 6 logs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 rules to reduce false positives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Discuss: alert fatigue vs blind spots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TIME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– 20 Minutes  ·  Almost there!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103" y="4454912"/>
            <a:ext cx="726224" cy="6913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677" y="4545515"/>
            <a:ext cx="621681" cy="635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9: CANARIES IN THE COAL MINE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minutes  ·  Canary Tokens · Deception Defense · Detection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1115568"/>
            <a:ext cx="4224528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are canary tokens?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Lure attackers · detect access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types: URLs, files, credentials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Planting tokens in AI contexts: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System prompts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Tool responses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RAG document stores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data exfil detection via canaries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18304" y="1115568"/>
            <a:ext cx="4224528" cy="34290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8304" y="1115568"/>
            <a:ext cx="42245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1170432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1499616"/>
            <a:ext cx="4005072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 canary tokens in the environment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 in documents &amp; tool outputs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tokens via attack simulation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 beacon callbacks in real time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 use cases: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RAG poisoning detection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LLM-based exfil detection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Insider threat identification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64" y="4580363"/>
            <a:ext cx="531077" cy="5659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10: INCIDENT RESPONSE CAPSTONE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minutes  ·  Attribution · Impact · Containment · Prevention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8741664" cy="640080"/>
          </a:xfrm>
          <a:prstGeom prst="rect">
            <a:avLst/>
          </a:prstGeom>
          <a:solidFill>
            <a:srgbClr val="C0272D">
              <a:alpha val="85000"/>
            </a:srgbClr>
          </a:solidFill>
          <a:ln w="25400">
            <a:solidFill>
              <a:srgbClr val="C027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14300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A customer service AI agent has been compromised. Attackers targeted the public-facing application. You have alerts, traces, and logs. Find them.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01168" y="1883664"/>
            <a:ext cx="2743200" cy="27432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168" y="1883664"/>
            <a:ext cx="2743200" cy="36576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" y="193852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10896" y="2267712"/>
            <a:ext cx="2523744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Determine attribution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carried out the attack?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data was obtained?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did they gain access?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145536" y="1883664"/>
            <a:ext cx="2743200" cy="27432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45536" y="1883664"/>
            <a:ext cx="2743200" cy="36576"/>
          </a:xfrm>
          <a:prstGeom prst="rect">
            <a:avLst/>
          </a:prstGeom>
          <a:solidFill>
            <a:srgbClr val="2D8CBB"/>
          </a:solidFill>
          <a:ln w="12700">
            <a:solidFill>
              <a:srgbClr val="2D8CB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55264" y="193852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255264" y="2267712"/>
            <a:ext cx="2523744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the alert trail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logs forward &amp; backward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Correlate tool call records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to MITRE ATT&amp;CK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89904" y="1883664"/>
            <a:ext cx="2852928" cy="2743200"/>
          </a:xfrm>
          <a:prstGeom prst="rect">
            <a:avLst/>
          </a:prstGeom>
          <a:solidFill>
            <a:srgbClr val="16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89904" y="1883664"/>
            <a:ext cx="285292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9632" y="193852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199632" y="2267712"/>
            <a:ext cx="2633472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Containment plan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hardening recommendations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rule improvements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Prevention strategies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7315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2743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54864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36576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64008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743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74320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28600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92608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603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237744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0" y="274320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11480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384048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43891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93192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4206240"/>
            <a:ext cx="27432" cy="27432"/>
          </a:xfrm>
          <a:prstGeom prst="ellipse">
            <a:avLst/>
          </a:prstGeom>
          <a:solidFill>
            <a:srgbClr val="F0F4FF">
              <a:alpha val="50000"/>
            </a:srgbClr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640080"/>
            <a:ext cx="5852160" cy="3749040"/>
          </a:xfrm>
          <a:prstGeom prst="rect">
            <a:avLst/>
          </a:prstGeom>
          <a:solidFill>
            <a:srgbClr val="1A2B5E">
              <a:alpha val="75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640080"/>
            <a:ext cx="58521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777240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60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26" name="Shape 24"/>
          <p:cNvSpPr/>
          <p:nvPr/>
        </p:nvSpPr>
        <p:spPr>
          <a:xfrm>
            <a:off x="3017520" y="1627632"/>
            <a:ext cx="3108960" cy="36576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17373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for attending!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45920" y="21762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Evan Wagner  ·  Christopher Williams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2596896"/>
            <a:ext cx="585216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8BA8D4"/>
                </a:solidFill>
                <a:latin typeface="Courier New"/>
                <a:ea typeface="Courier New" pitchFamily="34" charset="-122"/>
                <a:cs typeface="Courier New"/>
              </a:rPr>
              <a:t>BSidesOK</a:t>
            </a:r>
            <a:r>
              <a:rPr lang="en-US" sz="1000" dirty="0">
                <a:solidFill>
                  <a:srgbClr val="8BA8D4"/>
                </a:solidFill>
                <a:latin typeface="Courier New"/>
                <a:ea typeface="Courier New" pitchFamily="34" charset="-122"/>
                <a:cs typeface="Courier New"/>
              </a:rPr>
              <a:t> 2026  ·  Training Day  ·  April 8, 2026</a:t>
            </a:r>
            <a:endParaRPr lang="en-US" sz="1000" dirty="0">
              <a:latin typeface="Courier New"/>
              <a:cs typeface="Courier New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645920" y="298094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materials are open source. Labs, slides, and code will be shared.</a:t>
            </a:r>
            <a:endParaRPr lang="en-US" sz="10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493008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4864" cy="4736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8097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BSidesOK 2026  |  Securing Agentic AI Systems  |  United Federation of BSides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556" y="4573394"/>
            <a:ext cx="600773" cy="5868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91440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13232"/>
            <a:ext cx="41148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Subtitle / context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1115568"/>
            <a:ext cx="8741664" cy="3456432"/>
          </a:xfrm>
          <a:prstGeom prst="rect">
            <a:avLst/>
          </a:prstGeom>
          <a:solidFill>
            <a:srgbClr val="162040">
              <a:alpha val="6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Content goes here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Securing Agentic AI Systems</dc:title>
  <dc:subject>PptxGenJS Presentation</dc:subject>
  <dc:creator>Evan Wagner &amp; Christopher Williams</dc:creator>
  <cp:lastModifiedBy>Evan Wagner &amp; Christopher Williams</cp:lastModifiedBy>
  <cp:revision>62</cp:revision>
  <dcterms:created xsi:type="dcterms:W3CDTF">2026-03-28T02:04:29Z</dcterms:created>
  <dcterms:modified xsi:type="dcterms:W3CDTF">2026-03-30T14:39:24Z</dcterms:modified>
</cp:coreProperties>
</file>