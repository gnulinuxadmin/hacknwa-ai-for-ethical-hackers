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9" r:id="rId4"/>
    <p:sldId id="265" r:id="rId5"/>
    <p:sldId id="266" r:id="rId6"/>
    <p:sldId id="267" r:id="rId7"/>
    <p:sldId id="261" r:id="rId8"/>
    <p:sldId id="268" r:id="rId9"/>
    <p:sldId id="264" r:id="rId10"/>
    <p:sldId id="269" r:id="rId11"/>
    <p:sldId id="270" r:id="rId12"/>
    <p:sldId id="271" r:id="rId13"/>
    <p:sldId id="262" r:id="rId14"/>
    <p:sldId id="260" r:id="rId15"/>
    <p:sldId id="275" r:id="rId16"/>
    <p:sldId id="277" r:id="rId17"/>
    <p:sldId id="281" r:id="rId18"/>
    <p:sldId id="279" r:id="rId19"/>
    <p:sldId id="280" r:id="rId20"/>
    <p:sldId id="278" r:id="rId21"/>
    <p:sldId id="26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C7F323-F459-BB0D-4467-15F3B103F1AA}" v="3258" dt="2026-03-27T01:14:50.2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CC017E11-73C5-460A-AC9F-3FB5EBD356C7}" type="datetimeFigureOut">
              <a:t>3/27/2026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D9254FA2-FA07-4FC1-8141-E9F15690B156}" type="slidenum">
              <a:t>‹#›</a:t>
            </a:fld>
            <a:endParaRPr lang="en-US"/>
          </a:p>
        </p:txBody>
      </p:sp>
    </p:spTree>
    <p:extLst>
      <p:ext uri="{BB962C8B-B14F-4D97-AF65-F5344CB8AC3E}">
        <p14:creationId xmlns:p14="http://schemas.microsoft.com/office/powerpoint/2010/main" val="1606342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DFF02-66D1-6409-2AD0-308D09B1A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16B63-FB57-B096-40B8-4229E0821B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20AFE-6281-BC0A-813D-BBA73567B4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EA1B48-1815-63BD-DFD3-5D0B4D4E621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22262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D4E45-8502-4527-B20C-42EB6F015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5E8C9-A444-6EE5-8868-A61007B04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C6449-DD8E-B05A-1EF9-DB32D7D1E9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6D279B-F7ED-907C-22E8-F68C5246283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55209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0FF72-F022-47F0-78DB-233ABC927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49D9-8921-749B-D628-2F6A47F611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68407-338A-86AB-D336-110A45B546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D3125B-CB0A-6303-36B6-FC6DCCD8315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10101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0B68B-0992-F89F-D263-ADF7045EF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44A93-E307-CE68-15B7-0785BA699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8ACF1-53D7-7315-1EE9-D2D5AA4F4F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72C2FB-2B8D-2489-43A5-03D3BD3B7C9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45860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8FB53-9BE9-2DBC-F767-BE3E6047D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481DD-CA6F-79D8-188B-9FDF9ACDA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67DEA-D522-5481-6838-6CF7BA4FA4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E3A499-FA48-187F-3FA1-326A6EE3A01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91683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1358-25E8-1E24-8C57-4B6681F59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3FA76-7E26-7897-065F-41B0BBAE2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48C57-ABD6-5ED0-7EAA-8F2FE12EBD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9AFCC-A05C-C69B-1A76-3195678236E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70761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E4CC5-0BAE-D71E-1A9F-9EC4181AF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EECCA-A158-8FDC-C2CF-A06E32D2F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E1F403-17DE-3F59-C889-FD9D9996BE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80E623-1571-E20C-281B-D980B35B88E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430745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9ACBD-3F38-ECAA-AFAC-5DDBB204E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B9600-15DB-99E5-88C2-BE5040AB9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6AAB12-1DE5-9B50-C091-50E39B98A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227CDC-6F29-558C-C579-BC8754F1383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86512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5C82-A8D3-FAC2-5BEB-8D93FD69F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341F1-9A4A-BF5E-7892-5B81F0D88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76FB3-891E-DEF0-A348-8299916A63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A75DE8-6ED0-1F53-EDCD-3720FC0650A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769149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68905-1C98-7908-2F95-572B85593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599A7-F63D-55AB-9307-17516AFDF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5794C-6557-2C01-0E8B-9B1D98BA44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A4355-C01A-1199-3CE0-AA4C51A186F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76945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01169-4B2F-1658-18DE-F778C87B24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30F4F-1C0A-4734-DDF4-45ADE8B82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324A7-1993-37FB-9B79-2B37F267BF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8812B1-E17D-5E7B-4CC9-6905E88C01B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23601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7538A-9E52-AD1A-2AA3-711669781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CE818-30CB-1C36-7269-804F88831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51CEA-395A-8B16-11DF-4D3181ED79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7538C0-3317-1D0E-295F-5291709FFA1C}"/>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151337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7A0000"/>
          </a:solidFill>
          <a:ln w="12700">
            <a:solidFill>
              <a:srgbClr val="7A0000"/>
            </a:solidFill>
            <a:prstDash val="solid"/>
          </a:ln>
        </p:spPr>
      </p:sp>
      <p:sp>
        <p:nvSpPr>
          <p:cNvPr id="3" name="Shape 1"/>
          <p:cNvSpPr/>
          <p:nvPr/>
        </p:nvSpPr>
        <p:spPr>
          <a:xfrm>
            <a:off x="3931920" y="0"/>
            <a:ext cx="548640" cy="5143500"/>
          </a:xfrm>
          <a:prstGeom prst="rect">
            <a:avLst/>
          </a:prstGeom>
          <a:solidFill>
            <a:srgbClr val="CC0000"/>
          </a:solidFill>
          <a:ln w="12700">
            <a:solidFill>
              <a:srgbClr val="CC0000"/>
            </a:solidFill>
            <a:prstDash val="solid"/>
          </a:ln>
        </p:spPr>
      </p:sp>
      <p:sp>
        <p:nvSpPr>
          <p:cNvPr id="4" name="Text 2"/>
          <p:cNvSpPr/>
          <p:nvPr/>
        </p:nvSpPr>
        <p:spPr>
          <a:xfrm>
            <a:off x="228600" y="182880"/>
            <a:ext cx="3840480" cy="320040"/>
          </a:xfrm>
          <a:prstGeom prst="rect">
            <a:avLst/>
          </a:prstGeom>
          <a:noFill/>
          <a:ln/>
        </p:spPr>
        <p:txBody>
          <a:bodyPr wrap="square" lIns="0" tIns="0" rIns="0" bIns="0" rtlCol="0" anchor="ctr"/>
          <a:lstStyle/>
          <a:p>
            <a:pPr marL="0" indent="0" algn="l">
              <a:buNone/>
            </a:pPr>
            <a:r>
              <a:rPr lang="en-US" sz="1000" kern="0" spc="400" dirty="0">
                <a:solidFill>
                  <a:srgbClr val="F0EDE8"/>
                </a:solidFill>
                <a:latin typeface="JetBrains Mono" pitchFamily="34" charset="0"/>
                <a:ea typeface="JetBrains Mono" pitchFamily="34" charset="-122"/>
                <a:cs typeface="JetBrains Mono" pitchFamily="34" charset="-120"/>
              </a:rPr>
              <a:t>HACKNWA // 2026</a:t>
            </a:r>
            <a:endParaRPr lang="en-US" sz="1000" dirty="0"/>
          </a:p>
        </p:txBody>
      </p:sp>
      <p:sp>
        <p:nvSpPr>
          <p:cNvPr id="5" name="Text 3"/>
          <p:cNvSpPr/>
          <p:nvPr/>
        </p:nvSpPr>
        <p:spPr>
          <a:xfrm>
            <a:off x="228600" y="594360"/>
            <a:ext cx="3840480" cy="777240"/>
          </a:xfrm>
          <a:prstGeom prst="rect">
            <a:avLst/>
          </a:prstGeom>
          <a:noFill/>
          <a:ln/>
        </p:spPr>
        <p:txBody>
          <a:bodyPr wrap="square" lIns="0" tIns="0" rIns="0" bIns="0" rtlCol="0" anchor="ctr"/>
          <a:lstStyle/>
          <a:p>
            <a:pPr marL="0" indent="0" algn="l">
              <a:buNone/>
            </a:pPr>
            <a:r>
              <a:rPr lang="en-US" sz="4000" b="1" dirty="0">
                <a:solidFill>
                  <a:srgbClr val="F0EDE8"/>
                </a:solidFill>
                <a:latin typeface="Arial Black" pitchFamily="34" charset="0"/>
                <a:ea typeface="Arial Black" pitchFamily="34" charset="-122"/>
                <a:cs typeface="Arial Black" pitchFamily="34" charset="-120"/>
              </a:rPr>
              <a:t>HOLIDAY IN</a:t>
            </a:r>
            <a:endParaRPr lang="en-US" sz="4000" dirty="0"/>
          </a:p>
        </p:txBody>
      </p:sp>
      <p:sp>
        <p:nvSpPr>
          <p:cNvPr id="6" name="Text 4"/>
          <p:cNvSpPr/>
          <p:nvPr/>
        </p:nvSpPr>
        <p:spPr>
          <a:xfrm>
            <a:off x="228600" y="1325880"/>
            <a:ext cx="3840480" cy="777240"/>
          </a:xfrm>
          <a:prstGeom prst="rect">
            <a:avLst/>
          </a:prstGeom>
          <a:noFill/>
          <a:ln/>
        </p:spPr>
        <p:txBody>
          <a:bodyPr wrap="square" lIns="0" tIns="0" rIns="0" bIns="0" rtlCol="0" anchor="ctr"/>
          <a:lstStyle/>
          <a:p>
            <a:pPr marL="0" indent="0" algn="l">
              <a:buNone/>
            </a:pPr>
            <a:r>
              <a:rPr lang="en-US" sz="4000" b="1" dirty="0">
                <a:solidFill>
                  <a:srgbClr val="FF1A1A"/>
                </a:solidFill>
                <a:latin typeface="Arial Black" pitchFamily="34" charset="0"/>
                <a:ea typeface="Arial Black" pitchFamily="34" charset="-122"/>
                <a:cs typeface="Arial Black" pitchFamily="34" charset="-120"/>
              </a:rPr>
              <a:t>SCAMBODIA</a:t>
            </a:r>
            <a:endParaRPr lang="en-US" sz="4000" dirty="0"/>
          </a:p>
        </p:txBody>
      </p:sp>
      <p:sp>
        <p:nvSpPr>
          <p:cNvPr id="7" name="Text 5"/>
          <p:cNvSpPr/>
          <p:nvPr/>
        </p:nvSpPr>
        <p:spPr>
          <a:xfrm>
            <a:off x="228600" y="2240280"/>
            <a:ext cx="3840480" cy="457200"/>
          </a:xfrm>
          <a:prstGeom prst="rect">
            <a:avLst/>
          </a:prstGeom>
          <a:noFill/>
          <a:ln/>
        </p:spPr>
        <p:txBody>
          <a:bodyPr wrap="square" lIns="0" tIns="0" rIns="0" bIns="0" rtlCol="0" anchor="ctr"/>
          <a:lstStyle/>
          <a:p>
            <a:r>
              <a:rPr lang="en-US" sz="2400" i="1">
                <a:solidFill>
                  <a:srgbClr val="F0EDE8"/>
                </a:solidFill>
                <a:latin typeface="JetBrains Mono"/>
                <a:ea typeface="JetBrains Mono"/>
              </a:rPr>
              <a:t>AI For Ethical Hackers</a:t>
            </a:r>
            <a:endParaRPr lang="en-US" sz="2400" dirty="0"/>
          </a:p>
        </p:txBody>
      </p:sp>
      <p:sp>
        <p:nvSpPr>
          <p:cNvPr id="8" name="Shape 6"/>
          <p:cNvSpPr/>
          <p:nvPr/>
        </p:nvSpPr>
        <p:spPr>
          <a:xfrm>
            <a:off x="228600" y="2834640"/>
            <a:ext cx="3840480" cy="36576"/>
          </a:xfrm>
          <a:prstGeom prst="rect">
            <a:avLst/>
          </a:prstGeom>
          <a:solidFill>
            <a:srgbClr val="FF1A1A"/>
          </a:solidFill>
          <a:ln w="12700">
            <a:solidFill>
              <a:srgbClr val="FF1A1A"/>
            </a:solidFill>
            <a:prstDash val="solid"/>
          </a:ln>
        </p:spPr>
      </p:sp>
      <p:sp>
        <p:nvSpPr>
          <p:cNvPr id="9" name="Text 7"/>
          <p:cNvSpPr/>
          <p:nvPr/>
        </p:nvSpPr>
        <p:spPr>
          <a:xfrm>
            <a:off x="228600" y="2944368"/>
            <a:ext cx="3840480" cy="320040"/>
          </a:xfrm>
          <a:prstGeom prst="rect">
            <a:avLst/>
          </a:prstGeom>
          <a:noFill/>
          <a:ln/>
        </p:spPr>
        <p:txBody>
          <a:bodyPr wrap="square" lIns="0" tIns="0" rIns="0" bIns="0" rtlCol="0" anchor="ctr"/>
          <a:lstStyle/>
          <a:p>
            <a:r>
              <a:rPr lang="en-US" sz="1200" b="1">
                <a:solidFill>
                  <a:srgbClr val="F0EDE8"/>
                </a:solidFill>
                <a:latin typeface="JetBrains Mono"/>
                <a:ea typeface="JetBrains Mono"/>
                <a:cs typeface="JetBrains Mono" pitchFamily="34" charset="-120"/>
              </a:rPr>
              <a:t>Christopher</a:t>
            </a:r>
            <a:r>
              <a:rPr lang="en-US" sz="1200" b="1" dirty="0">
                <a:solidFill>
                  <a:srgbClr val="F0EDE8"/>
                </a:solidFill>
                <a:latin typeface="JetBrains Mono" pitchFamily="34" charset="0"/>
                <a:ea typeface="JetBrains Mono"/>
                <a:cs typeface="JetBrains Mono" pitchFamily="34" charset="-120"/>
              </a:rPr>
              <a:t> </a:t>
            </a:r>
            <a:r>
              <a:rPr lang="en-US" sz="1200" b="1">
                <a:solidFill>
                  <a:srgbClr val="F0EDE8"/>
                </a:solidFill>
                <a:latin typeface="JetBrains Mono"/>
                <a:ea typeface="JetBrains Mono"/>
                <a:cs typeface="JetBrains Mono" pitchFamily="34" charset="-120"/>
              </a:rPr>
              <a:t>Williams  |  CISSP, GCFA, CISM</a:t>
            </a:r>
            <a:endParaRPr lang="en-US" sz="1200" dirty="0">
              <a:latin typeface="JetBrains Mono"/>
            </a:endParaRPr>
          </a:p>
        </p:txBody>
      </p:sp>
      <p:sp>
        <p:nvSpPr>
          <p:cNvPr id="11" name="Shape 9"/>
          <p:cNvSpPr/>
          <p:nvPr/>
        </p:nvSpPr>
        <p:spPr>
          <a:xfrm>
            <a:off x="4663440" y="365760"/>
            <a:ext cx="4206240" cy="4114800"/>
          </a:xfrm>
          <a:prstGeom prst="rect">
            <a:avLst/>
          </a:prstGeom>
          <a:solidFill>
            <a:srgbClr val="1A1A1A"/>
          </a:solidFill>
          <a:ln w="12700">
            <a:solidFill>
              <a:srgbClr val="3A3A3A"/>
            </a:solidFill>
            <a:prstDash val="solid"/>
          </a:ln>
        </p:spPr>
      </p:sp>
      <p:sp>
        <p:nvSpPr>
          <p:cNvPr id="12" name="Text 10"/>
          <p:cNvSpPr/>
          <p:nvPr/>
        </p:nvSpPr>
        <p:spPr>
          <a:xfrm>
            <a:off x="4663440" y="1920240"/>
            <a:ext cx="4206240" cy="548640"/>
          </a:xfrm>
          <a:prstGeom prst="rect">
            <a:avLst/>
          </a:prstGeom>
          <a:noFill/>
          <a:ln/>
        </p:spPr>
        <p:txBody>
          <a:bodyPr wrap="square" lIns="0" tIns="0" rIns="0" bIns="0" rtlCol="0" anchor="ctr"/>
          <a:lstStyle/>
          <a:p>
            <a:pPr marL="0" indent="0" algn="ctr">
              <a:buNone/>
            </a:pPr>
            <a:r>
              <a:rPr lang="en-US" sz="1100" dirty="0">
                <a:solidFill>
                  <a:srgbClr val="666666"/>
                </a:solidFill>
                <a:latin typeface="JetBrains Mono" pitchFamily="34" charset="0"/>
                <a:ea typeface="JetBrains Mono" pitchFamily="34" charset="-122"/>
                <a:cs typeface="JetBrains Mono" pitchFamily="34" charset="-120"/>
              </a:rPr>
              <a:t>[ SPEAKER / TOPIC IMAGE ]</a:t>
            </a:r>
            <a:endParaRPr lang="en-US" sz="1100" dirty="0"/>
          </a:p>
        </p:txBody>
      </p:sp>
      <p:pic>
        <p:nvPicPr>
          <p:cNvPr id="17" name="Picture 16" descr="An Ethical hacker with a goatee wearing a hoodie and a cape emits an energy shield from his fingertips that surrounds an...">
            <a:extLst>
              <a:ext uri="{FF2B5EF4-FFF2-40B4-BE49-F238E27FC236}">
                <a16:creationId xmlns:a16="http://schemas.microsoft.com/office/drawing/2014/main" id="{D9DD1DE4-CE83-79BB-8AD1-C6F3C9EA59DA}"/>
              </a:ext>
            </a:extLst>
          </p:cNvPr>
          <p:cNvPicPr>
            <a:picLocks noChangeAspect="1"/>
          </p:cNvPicPr>
          <p:nvPr/>
        </p:nvPicPr>
        <p:blipFill>
          <a:blip r:embed="rId3"/>
          <a:stretch>
            <a:fillRect/>
          </a:stretch>
        </p:blipFill>
        <p:spPr>
          <a:xfrm>
            <a:off x="4661005" y="182693"/>
            <a:ext cx="4347147" cy="4333095"/>
          </a:xfrm>
          <a:prstGeom prst="rect">
            <a:avLst/>
          </a:prstGeom>
        </p:spPr>
      </p:pic>
      <p:sp>
        <p:nvSpPr>
          <p:cNvPr id="13" name="Text 11"/>
          <p:cNvSpPr/>
          <p:nvPr/>
        </p:nvSpPr>
        <p:spPr>
          <a:xfrm>
            <a:off x="4709160" y="4160520"/>
            <a:ext cx="4114800" cy="228600"/>
          </a:xfrm>
          <a:prstGeom prst="rect">
            <a:avLst/>
          </a:prstGeom>
          <a:noFill/>
          <a:ln/>
        </p:spPr>
        <p:txBody>
          <a:bodyPr wrap="square" lIns="0" tIns="0" rIns="0" bIns="0" rtlCol="0" anchor="ctr"/>
          <a:lstStyle/>
          <a:p>
            <a:pPr marL="0" indent="0" algn="l">
              <a:buNone/>
            </a:pPr>
            <a:r>
              <a:rPr lang="en-US" sz="800" dirty="0">
                <a:solidFill>
                  <a:srgbClr val="CC0000"/>
                </a:solidFill>
                <a:latin typeface="JetBrains Mono" pitchFamily="34" charset="0"/>
                <a:ea typeface="JetBrains Mono" pitchFamily="34" charset="-122"/>
                <a:cs typeface="JetBrains Mono" pitchFamily="34" charset="-120"/>
              </a:rPr>
              <a:t>SOURCE: LEAKED_CAM_01</a:t>
            </a:r>
            <a:endParaRPr lang="en-US" sz="800" dirty="0"/>
          </a:p>
        </p:txBody>
      </p:sp>
      <p:sp>
        <p:nvSpPr>
          <p:cNvPr id="14" name="Shape 12"/>
          <p:cNvSpPr/>
          <p:nvPr/>
        </p:nvSpPr>
        <p:spPr>
          <a:xfrm>
            <a:off x="0" y="4800600"/>
            <a:ext cx="9144000" cy="342900"/>
          </a:xfrm>
          <a:prstGeom prst="rect">
            <a:avLst/>
          </a:prstGeom>
          <a:solidFill>
            <a:srgbClr val="7A0000"/>
          </a:solidFill>
          <a:ln w="12700">
            <a:solidFill>
              <a:srgbClr val="7A0000"/>
            </a:solidFill>
            <a:prstDash val="solid"/>
          </a:ln>
        </p:spPr>
      </p:sp>
      <p:sp>
        <p:nvSpPr>
          <p:cNvPr id="15" name="Text 13"/>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6" name="Text 14"/>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CC0000"/>
          </a:solidFill>
          <a:ln w="12700">
            <a:solidFill>
              <a:srgbClr val="CC0000"/>
            </a:solidFill>
            <a:prstDash val="solid"/>
          </a:ln>
        </p:spPr>
      </p:sp>
      <p:sp>
        <p:nvSpPr>
          <p:cNvPr id="3" name="Text 1"/>
          <p:cNvSpPr/>
          <p:nvPr/>
        </p:nvSpPr>
        <p:spPr>
          <a:xfrm>
            <a:off x="274320" y="91440"/>
            <a:ext cx="8229600" cy="411480"/>
          </a:xfrm>
          <a:prstGeom prst="rect">
            <a:avLst/>
          </a:prstGeom>
          <a:noFill/>
          <a:ln/>
        </p:spPr>
        <p:txBody>
          <a:bodyPr wrap="square" lIns="0" tIns="0" rIns="0" bIns="0" rtlCol="0" anchor="ctr"/>
          <a:lstStyle/>
          <a:p>
            <a:pPr marL="0" indent="0" algn="l">
              <a:buNone/>
            </a:pPr>
            <a:r>
              <a:rPr lang="en-US" sz="1800" b="1">
                <a:solidFill>
                  <a:srgbClr val="F0EDE8"/>
                </a:solidFill>
                <a:latin typeface="JetBrains Mono" pitchFamily="34" charset="0"/>
                <a:ea typeface="JetBrains Mono"/>
                <a:cs typeface="JetBrains Mono" pitchFamily="34" charset="-120"/>
              </a:rPr>
              <a:t>// OPERATIONS </a:t>
            </a:r>
            <a:r>
              <a:rPr lang="en-US" b="1">
                <a:solidFill>
                  <a:srgbClr val="F0EDE8"/>
                </a:solidFill>
                <a:latin typeface="JetBrains Mono" pitchFamily="34" charset="0"/>
                <a:ea typeface="JetBrains Mono"/>
                <a:cs typeface="JetBrains Mono" pitchFamily="34" charset="-120"/>
              </a:rPr>
              <a:t>HMI</a:t>
            </a:r>
            <a:endParaRPr lang="en-US" sz="1800" dirty="0"/>
          </a:p>
        </p:txBody>
      </p:sp>
      <p:sp>
        <p:nvSpPr>
          <p:cNvPr id="4" name="Shape 2"/>
          <p:cNvSpPr/>
          <p:nvPr/>
        </p:nvSpPr>
        <p:spPr>
          <a:xfrm>
            <a:off x="1047437" y="814716"/>
            <a:ext cx="3414011" cy="617557"/>
          </a:xfrm>
          <a:prstGeom prst="rect">
            <a:avLst/>
          </a:prstGeom>
          <a:solidFill>
            <a:srgbClr val="1E1E1E"/>
          </a:solidFill>
          <a:ln w="6350">
            <a:solidFill>
              <a:srgbClr val="3A3A3A"/>
            </a:solidFill>
            <a:prstDash val="solid"/>
          </a:ln>
        </p:spPr>
      </p:sp>
      <p:sp>
        <p:nvSpPr>
          <p:cNvPr id="5" name="Shape 3"/>
          <p:cNvSpPr/>
          <p:nvPr/>
        </p:nvSpPr>
        <p:spPr>
          <a:xfrm>
            <a:off x="1019331" y="828769"/>
            <a:ext cx="64008" cy="603504"/>
          </a:xfrm>
          <a:prstGeom prst="rect">
            <a:avLst/>
          </a:prstGeom>
          <a:solidFill>
            <a:srgbClr val="FF1A1A"/>
          </a:solidFill>
          <a:ln w="12700">
            <a:solidFill>
              <a:srgbClr val="FF1A1A"/>
            </a:solidFill>
            <a:prstDash val="solid"/>
          </a:ln>
        </p:spPr>
      </p:sp>
      <p:sp>
        <p:nvSpPr>
          <p:cNvPr id="6" name="Text 4"/>
          <p:cNvSpPr/>
          <p:nvPr/>
        </p:nvSpPr>
        <p:spPr>
          <a:xfrm>
            <a:off x="1247931" y="965929"/>
            <a:ext cx="2404048" cy="370894"/>
          </a:xfrm>
          <a:prstGeom prst="rect">
            <a:avLst/>
          </a:prstGeom>
          <a:noFill/>
          <a:ln/>
        </p:spPr>
        <p:txBody>
          <a:bodyPr wrap="square" lIns="0" tIns="0" rIns="0" bIns="0" rtlCol="0" anchor="ctr"/>
          <a:lstStyle/>
          <a:p>
            <a:pPr marL="0" indent="0" algn="l">
              <a:buNone/>
            </a:pPr>
            <a:r>
              <a:rPr lang="en-US" sz="1400" b="1">
                <a:solidFill>
                  <a:schemeClr val="bg1">
                    <a:lumMod val="65000"/>
                  </a:schemeClr>
                </a:solidFill>
                <a:latin typeface="JetBrains Mono"/>
                <a:ea typeface="JetBrains Mono" pitchFamily="34" charset="-122"/>
                <a:cs typeface="JetBrains Mono" pitchFamily="34" charset="-120"/>
              </a:rPr>
              <a:t>01  INTRODUCTION </a:t>
            </a:r>
            <a:endParaRPr lang="en-US" sz="1400">
              <a:solidFill>
                <a:schemeClr val="bg1">
                  <a:lumMod val="65000"/>
                </a:schemeClr>
              </a:solidFill>
              <a:latin typeface="JetBrains Mono"/>
            </a:endParaRPr>
          </a:p>
        </p:txBody>
      </p:sp>
      <p:sp>
        <p:nvSpPr>
          <p:cNvPr id="7" name="Shape 5"/>
          <p:cNvSpPr/>
          <p:nvPr/>
        </p:nvSpPr>
        <p:spPr>
          <a:xfrm>
            <a:off x="1047437" y="1592630"/>
            <a:ext cx="3414010" cy="589451"/>
          </a:xfrm>
          <a:prstGeom prst="rect">
            <a:avLst/>
          </a:prstGeom>
          <a:solidFill>
            <a:srgbClr val="1E1E1E"/>
          </a:solidFill>
          <a:ln w="6350">
            <a:solidFill>
              <a:srgbClr val="3A3A3A"/>
            </a:solidFill>
            <a:prstDash val="solid"/>
          </a:ln>
        </p:spPr>
      </p:sp>
      <p:sp>
        <p:nvSpPr>
          <p:cNvPr id="8" name="Shape 6"/>
          <p:cNvSpPr/>
          <p:nvPr/>
        </p:nvSpPr>
        <p:spPr>
          <a:xfrm>
            <a:off x="1019331" y="1578577"/>
            <a:ext cx="64008" cy="603504"/>
          </a:xfrm>
          <a:prstGeom prst="rect">
            <a:avLst/>
          </a:prstGeom>
          <a:solidFill>
            <a:srgbClr val="7A0000"/>
          </a:solidFill>
          <a:ln w="12700">
            <a:solidFill>
              <a:srgbClr val="7A0000"/>
            </a:solidFill>
            <a:prstDash val="solid"/>
          </a:ln>
        </p:spPr>
      </p:sp>
      <p:sp>
        <p:nvSpPr>
          <p:cNvPr id="9" name="Text 7"/>
          <p:cNvSpPr/>
          <p:nvPr/>
        </p:nvSpPr>
        <p:spPr>
          <a:xfrm>
            <a:off x="1247931" y="1715737"/>
            <a:ext cx="2708536" cy="347472"/>
          </a:xfrm>
          <a:prstGeom prst="rect">
            <a:avLst/>
          </a:prstGeom>
          <a:noFill/>
          <a:ln/>
        </p:spPr>
        <p:txBody>
          <a:bodyPr wrap="square" lIns="0" tIns="0" rIns="0" bIns="0" rtlCol="0" anchor="ctr"/>
          <a:lstStyle/>
          <a:p>
            <a:r>
              <a:rPr lang="en-US" sz="1400">
                <a:solidFill>
                  <a:srgbClr val="AAAAAA"/>
                </a:solidFill>
                <a:latin typeface="JetBrains Mono"/>
                <a:ea typeface="JetBrains Mono"/>
                <a:cs typeface="JetBrains Mono" pitchFamily="34" charset="-120"/>
              </a:rPr>
              <a:t>02 JARGON</a:t>
            </a:r>
            <a:endParaRPr lang="en-US" sz="1400">
              <a:latin typeface="JetBrains Mono"/>
            </a:endParaRPr>
          </a:p>
        </p:txBody>
      </p:sp>
      <p:sp>
        <p:nvSpPr>
          <p:cNvPr id="10" name="Shape 8"/>
          <p:cNvSpPr/>
          <p:nvPr/>
        </p:nvSpPr>
        <p:spPr>
          <a:xfrm>
            <a:off x="1042753" y="2337753"/>
            <a:ext cx="3414010" cy="594136"/>
          </a:xfrm>
          <a:prstGeom prst="rect">
            <a:avLst/>
          </a:prstGeom>
          <a:solidFill>
            <a:srgbClr val="1E1E1E"/>
          </a:solidFill>
          <a:ln w="6350">
            <a:solidFill>
              <a:srgbClr val="3A3A3A"/>
            </a:solidFill>
            <a:prstDash val="solid"/>
          </a:ln>
        </p:spPr>
      </p:sp>
      <p:sp>
        <p:nvSpPr>
          <p:cNvPr id="11" name="Shape 9"/>
          <p:cNvSpPr/>
          <p:nvPr/>
        </p:nvSpPr>
        <p:spPr>
          <a:xfrm>
            <a:off x="1019331" y="2328385"/>
            <a:ext cx="64008" cy="603504"/>
          </a:xfrm>
          <a:prstGeom prst="rect">
            <a:avLst/>
          </a:prstGeom>
          <a:solidFill>
            <a:srgbClr val="7A0000"/>
          </a:solidFill>
          <a:ln w="12700">
            <a:solidFill>
              <a:srgbClr val="7A0000"/>
            </a:solidFill>
            <a:prstDash val="solid"/>
          </a:ln>
        </p:spPr>
      </p:sp>
      <p:sp>
        <p:nvSpPr>
          <p:cNvPr id="12" name="Text 10"/>
          <p:cNvSpPr/>
          <p:nvPr/>
        </p:nvSpPr>
        <p:spPr>
          <a:xfrm>
            <a:off x="1247931" y="2465545"/>
            <a:ext cx="2703851" cy="347472"/>
          </a:xfrm>
          <a:prstGeom prst="rect">
            <a:avLst/>
          </a:prstGeom>
          <a:noFill/>
          <a:ln/>
        </p:spPr>
        <p:txBody>
          <a:bodyPr wrap="square" lIns="0" tIns="0" rIns="0" bIns="0" rtlCol="0" anchor="ctr"/>
          <a:lstStyle/>
          <a:p>
            <a:r>
              <a:rPr lang="en-US" sz="1400">
                <a:solidFill>
                  <a:srgbClr val="AAAAAA"/>
                </a:solidFill>
                <a:latin typeface="JetBrains Mono"/>
                <a:ea typeface="JetBrains Mono"/>
                <a:cs typeface="JetBrains Mono" pitchFamily="34" charset="-120"/>
              </a:rPr>
              <a:t>03  MACHINE LEARNING</a:t>
            </a:r>
            <a:endParaRPr lang="en-US" sz="1400">
              <a:latin typeface="JetBrains Mono"/>
            </a:endParaRPr>
          </a:p>
        </p:txBody>
      </p:sp>
      <p:sp>
        <p:nvSpPr>
          <p:cNvPr id="13" name="Shape 11"/>
          <p:cNvSpPr/>
          <p:nvPr/>
        </p:nvSpPr>
        <p:spPr>
          <a:xfrm>
            <a:off x="1042753" y="3087561"/>
            <a:ext cx="3414010" cy="594136"/>
          </a:xfrm>
          <a:prstGeom prst="rect">
            <a:avLst/>
          </a:prstGeom>
          <a:solidFill>
            <a:srgbClr val="1E1E1E"/>
          </a:solidFill>
          <a:ln w="6350">
            <a:solidFill>
              <a:srgbClr val="3A3A3A"/>
            </a:solidFill>
            <a:prstDash val="solid"/>
          </a:ln>
        </p:spPr>
      </p:sp>
      <p:sp>
        <p:nvSpPr>
          <p:cNvPr id="14" name="Shape 12"/>
          <p:cNvSpPr/>
          <p:nvPr/>
        </p:nvSpPr>
        <p:spPr>
          <a:xfrm>
            <a:off x="1019331" y="3078193"/>
            <a:ext cx="64008" cy="603504"/>
          </a:xfrm>
          <a:prstGeom prst="rect">
            <a:avLst/>
          </a:prstGeom>
          <a:solidFill>
            <a:srgbClr val="7A0000"/>
          </a:solidFill>
          <a:ln w="12700">
            <a:solidFill>
              <a:srgbClr val="7A0000"/>
            </a:solidFill>
            <a:prstDash val="solid"/>
          </a:ln>
        </p:spPr>
      </p:sp>
      <p:sp>
        <p:nvSpPr>
          <p:cNvPr id="15" name="Text 13"/>
          <p:cNvSpPr/>
          <p:nvPr/>
        </p:nvSpPr>
        <p:spPr>
          <a:xfrm>
            <a:off x="1247931" y="3215353"/>
            <a:ext cx="2938073" cy="347472"/>
          </a:xfrm>
          <a:prstGeom prst="rect">
            <a:avLst/>
          </a:prstGeom>
          <a:noFill/>
          <a:ln/>
        </p:spPr>
        <p:txBody>
          <a:bodyPr wrap="square" lIns="0" tIns="0" rIns="0" bIns="0" rtlCol="0" anchor="ctr"/>
          <a:lstStyle/>
          <a:p>
            <a:r>
              <a:rPr lang="en-US" sz="1400" dirty="0">
                <a:solidFill>
                  <a:srgbClr val="AAAAAA"/>
                </a:solidFill>
                <a:latin typeface="JetBrains Mono"/>
                <a:ea typeface="JetBrains Mono"/>
                <a:cs typeface="JetBrains Mono" pitchFamily="34" charset="-120"/>
              </a:rPr>
              <a:t>04  LLMs, GPTs, and </a:t>
            </a:r>
            <a:r>
              <a:rPr lang="en-US" sz="1400" dirty="0" err="1">
                <a:solidFill>
                  <a:srgbClr val="AAAAAA"/>
                </a:solidFill>
                <a:latin typeface="JetBrains Mono"/>
                <a:ea typeface="JetBrains Mono"/>
                <a:cs typeface="JetBrains Mono" pitchFamily="34" charset="-120"/>
              </a:rPr>
              <a:t>MoE's</a:t>
            </a:r>
            <a:endParaRPr lang="en-US" sz="1400" dirty="0" err="1">
              <a:latin typeface="JetBrains Mono"/>
            </a:endParaRPr>
          </a:p>
        </p:txBody>
      </p:sp>
      <p:sp>
        <p:nvSpPr>
          <p:cNvPr id="16" name="Shape 14"/>
          <p:cNvSpPr/>
          <p:nvPr/>
        </p:nvSpPr>
        <p:spPr>
          <a:xfrm>
            <a:off x="1042753" y="3837369"/>
            <a:ext cx="3414010" cy="594136"/>
          </a:xfrm>
          <a:prstGeom prst="rect">
            <a:avLst/>
          </a:prstGeom>
          <a:solidFill>
            <a:srgbClr val="1E1E1E"/>
          </a:solidFill>
          <a:ln w="6350">
            <a:solidFill>
              <a:srgbClr val="3A3A3A"/>
            </a:solidFill>
            <a:prstDash val="solid"/>
          </a:ln>
        </p:spPr>
      </p:sp>
      <p:sp>
        <p:nvSpPr>
          <p:cNvPr id="17" name="Shape 15"/>
          <p:cNvSpPr/>
          <p:nvPr/>
        </p:nvSpPr>
        <p:spPr>
          <a:xfrm>
            <a:off x="1019331" y="3828001"/>
            <a:ext cx="64008" cy="603504"/>
          </a:xfrm>
          <a:prstGeom prst="rect">
            <a:avLst/>
          </a:prstGeom>
          <a:solidFill>
            <a:srgbClr val="7A0000"/>
          </a:solidFill>
          <a:ln w="12700">
            <a:solidFill>
              <a:srgbClr val="7A0000"/>
            </a:solidFill>
            <a:prstDash val="solid"/>
          </a:ln>
        </p:spPr>
      </p:sp>
      <p:sp>
        <p:nvSpPr>
          <p:cNvPr id="18" name="Text 16"/>
          <p:cNvSpPr/>
          <p:nvPr/>
        </p:nvSpPr>
        <p:spPr>
          <a:xfrm>
            <a:off x="1247931" y="3965161"/>
            <a:ext cx="2849068" cy="347472"/>
          </a:xfrm>
          <a:prstGeom prst="rect">
            <a:avLst/>
          </a:prstGeom>
          <a:noFill/>
          <a:ln/>
        </p:spPr>
        <p:txBody>
          <a:bodyPr wrap="square" lIns="0" tIns="0" rIns="0" bIns="0" rtlCol="0" anchor="ctr"/>
          <a:lstStyle/>
          <a:p>
            <a:r>
              <a:rPr lang="en-US" sz="1400" dirty="0">
                <a:solidFill>
                  <a:srgbClr val="AAAAAA"/>
                </a:solidFill>
                <a:latin typeface="JetBrains Mono"/>
                <a:ea typeface="JetBrains Mono"/>
                <a:cs typeface="JetBrains Mono" pitchFamily="34" charset="-120"/>
              </a:rPr>
              <a:t>05  AGENTs </a:t>
            </a:r>
            <a:r>
              <a:rPr lang="en-US" sz="1400">
                <a:solidFill>
                  <a:srgbClr val="AAAAAA"/>
                </a:solidFill>
                <a:latin typeface="JetBrains Mono"/>
                <a:ea typeface="JetBrains Mono"/>
                <a:cs typeface="JetBrains Mono" pitchFamily="34" charset="-120"/>
              </a:rPr>
              <a:t>and Super AGENTs</a:t>
            </a:r>
            <a:endParaRPr lang="en-US" sz="1400" dirty="0">
              <a:solidFill>
                <a:srgbClr val="AAAAAA"/>
              </a:solidFill>
              <a:latin typeface="JetBrains Mono"/>
            </a:endParaRPr>
          </a:p>
        </p:txBody>
      </p:sp>
      <p:sp>
        <p:nvSpPr>
          <p:cNvPr id="19" name="Shape 17"/>
          <p:cNvSpPr/>
          <p:nvPr/>
        </p:nvSpPr>
        <p:spPr>
          <a:xfrm>
            <a:off x="0" y="4800600"/>
            <a:ext cx="9144000" cy="342900"/>
          </a:xfrm>
          <a:prstGeom prst="rect">
            <a:avLst/>
          </a:prstGeom>
          <a:solidFill>
            <a:srgbClr val="7A0000"/>
          </a:solidFill>
          <a:ln w="12700">
            <a:solidFill>
              <a:srgbClr val="7A0000"/>
            </a:solidFill>
            <a:prstDash val="solid"/>
          </a:ln>
        </p:spPr>
      </p:sp>
      <p:sp>
        <p:nvSpPr>
          <p:cNvPr id="20" name="Text 18"/>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21" name="Text 19"/>
          <p:cNvSpPr/>
          <p:nvPr/>
        </p:nvSpPr>
        <p:spPr>
          <a:xfrm>
            <a:off x="2743200" y="4818888"/>
            <a:ext cx="3657600" cy="274320"/>
          </a:xfrm>
          <a:prstGeom prst="rect">
            <a:avLst/>
          </a:prstGeom>
          <a:noFill/>
          <a:ln/>
        </p:spPr>
        <p:txBody>
          <a:bodyPr wrap="square" lIns="0" tIns="0" rIns="0" bIns="0" rtlCol="0" anchor="ctr"/>
          <a:lstStyle/>
          <a:p>
            <a:pPr marL="0" indent="0" algn="ctr">
              <a:buNone/>
            </a:pPr>
            <a:r>
              <a:rPr lang="en-US" sz="900" dirty="0">
                <a:solidFill>
                  <a:srgbClr val="AAAAAA"/>
                </a:solidFill>
                <a:latin typeface="JetBrains Mono" pitchFamily="34" charset="0"/>
                <a:ea typeface="JetBrains Mono" pitchFamily="34" charset="-122"/>
                <a:cs typeface="JetBrains Mono" pitchFamily="34" charset="-120"/>
              </a:rPr>
              <a:t>AGENDA</a:t>
            </a:r>
            <a:endParaRPr lang="en-US" sz="900" dirty="0"/>
          </a:p>
        </p:txBody>
      </p:sp>
      <p:sp>
        <p:nvSpPr>
          <p:cNvPr id="22" name="Text 20"/>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
        <p:nvSpPr>
          <p:cNvPr id="23" name="Shape 2">
            <a:extLst>
              <a:ext uri="{FF2B5EF4-FFF2-40B4-BE49-F238E27FC236}">
                <a16:creationId xmlns:a16="http://schemas.microsoft.com/office/drawing/2014/main" id="{1C996C0B-4D46-6FC6-50F8-2F2FB899C861}"/>
              </a:ext>
            </a:extLst>
          </p:cNvPr>
          <p:cNvSpPr/>
          <p:nvPr/>
        </p:nvSpPr>
        <p:spPr>
          <a:xfrm>
            <a:off x="4790293" y="810031"/>
            <a:ext cx="3414011" cy="617557"/>
          </a:xfrm>
          <a:prstGeom prst="rect">
            <a:avLst/>
          </a:prstGeom>
          <a:solidFill>
            <a:srgbClr val="1E1E1E"/>
          </a:solidFill>
          <a:ln w="6350">
            <a:solidFill>
              <a:srgbClr val="3A3A3A"/>
            </a:solidFill>
            <a:prstDash val="solid"/>
          </a:ln>
        </p:spPr>
      </p:sp>
      <p:sp>
        <p:nvSpPr>
          <p:cNvPr id="26" name="Shape 5">
            <a:extLst>
              <a:ext uri="{FF2B5EF4-FFF2-40B4-BE49-F238E27FC236}">
                <a16:creationId xmlns:a16="http://schemas.microsoft.com/office/drawing/2014/main" id="{8BAD5AA9-CAA0-A9BA-5889-0C7D8D85FC68}"/>
              </a:ext>
            </a:extLst>
          </p:cNvPr>
          <p:cNvSpPr/>
          <p:nvPr/>
        </p:nvSpPr>
        <p:spPr>
          <a:xfrm>
            <a:off x="4790293" y="1587945"/>
            <a:ext cx="3414010" cy="589451"/>
          </a:xfrm>
          <a:prstGeom prst="rect">
            <a:avLst/>
          </a:prstGeom>
          <a:solidFill>
            <a:srgbClr val="1E1E1E"/>
          </a:solidFill>
          <a:ln w="6350">
            <a:solidFill>
              <a:srgbClr val="3A3A3A"/>
            </a:solidFill>
            <a:prstDash val="solid"/>
          </a:ln>
        </p:spPr>
      </p:sp>
      <p:sp>
        <p:nvSpPr>
          <p:cNvPr id="27" name="Shape 6">
            <a:extLst>
              <a:ext uri="{FF2B5EF4-FFF2-40B4-BE49-F238E27FC236}">
                <a16:creationId xmlns:a16="http://schemas.microsoft.com/office/drawing/2014/main" id="{54A15296-CA67-15BE-AE04-3BBF768AD6D8}"/>
              </a:ext>
            </a:extLst>
          </p:cNvPr>
          <p:cNvSpPr/>
          <p:nvPr/>
        </p:nvSpPr>
        <p:spPr>
          <a:xfrm>
            <a:off x="4762187" y="1573892"/>
            <a:ext cx="64008" cy="603504"/>
          </a:xfrm>
          <a:prstGeom prst="rect">
            <a:avLst/>
          </a:prstGeom>
          <a:solidFill>
            <a:srgbClr val="7A0000"/>
          </a:solidFill>
          <a:ln w="12700">
            <a:solidFill>
              <a:srgbClr val="7A0000"/>
            </a:solidFill>
            <a:prstDash val="solid"/>
          </a:ln>
        </p:spPr>
      </p:sp>
      <p:sp>
        <p:nvSpPr>
          <p:cNvPr id="28" name="Text 7">
            <a:extLst>
              <a:ext uri="{FF2B5EF4-FFF2-40B4-BE49-F238E27FC236}">
                <a16:creationId xmlns:a16="http://schemas.microsoft.com/office/drawing/2014/main" id="{7C557ADD-0529-4F91-21C6-48075DAB5B40}"/>
              </a:ext>
            </a:extLst>
          </p:cNvPr>
          <p:cNvSpPr/>
          <p:nvPr/>
        </p:nvSpPr>
        <p:spPr>
          <a:xfrm>
            <a:off x="4990787" y="1711052"/>
            <a:ext cx="2708536" cy="347472"/>
          </a:xfrm>
          <a:prstGeom prst="rect">
            <a:avLst/>
          </a:prstGeom>
          <a:noFill/>
          <a:ln/>
        </p:spPr>
        <p:txBody>
          <a:bodyPr wrap="square" lIns="0" tIns="0" rIns="0" bIns="0" rtlCol="0" anchor="ctr"/>
          <a:lstStyle/>
          <a:p>
            <a:r>
              <a:rPr lang="en-US" sz="1400">
                <a:solidFill>
                  <a:srgbClr val="AAAAAA"/>
                </a:solidFill>
                <a:latin typeface="JetBrains Mono"/>
                <a:ea typeface="JetBrains Mono"/>
                <a:cs typeface="JetBrains Mono" pitchFamily="34" charset="-120"/>
              </a:rPr>
              <a:t>07 OBSERVABILITY</a:t>
            </a:r>
            <a:endParaRPr lang="en-US" sz="1400">
              <a:latin typeface="JetBrains Mono"/>
            </a:endParaRPr>
          </a:p>
        </p:txBody>
      </p:sp>
      <p:sp>
        <p:nvSpPr>
          <p:cNvPr id="29" name="Shape 8">
            <a:extLst>
              <a:ext uri="{FF2B5EF4-FFF2-40B4-BE49-F238E27FC236}">
                <a16:creationId xmlns:a16="http://schemas.microsoft.com/office/drawing/2014/main" id="{BAC0FCF0-A50E-BB9B-AFA6-AE619DF161A8}"/>
              </a:ext>
            </a:extLst>
          </p:cNvPr>
          <p:cNvSpPr/>
          <p:nvPr/>
        </p:nvSpPr>
        <p:spPr>
          <a:xfrm>
            <a:off x="4785609" y="2333068"/>
            <a:ext cx="3414010" cy="594136"/>
          </a:xfrm>
          <a:prstGeom prst="rect">
            <a:avLst/>
          </a:prstGeom>
          <a:solidFill>
            <a:srgbClr val="1E1E1E"/>
          </a:solidFill>
          <a:ln w="6350">
            <a:solidFill>
              <a:srgbClr val="3A3A3A"/>
            </a:solidFill>
            <a:prstDash val="solid"/>
          </a:ln>
        </p:spPr>
      </p:sp>
      <p:sp>
        <p:nvSpPr>
          <p:cNvPr id="30" name="Shape 9">
            <a:extLst>
              <a:ext uri="{FF2B5EF4-FFF2-40B4-BE49-F238E27FC236}">
                <a16:creationId xmlns:a16="http://schemas.microsoft.com/office/drawing/2014/main" id="{6EA2BE0D-B5CE-FC77-2B19-0C3B1C8F0DCD}"/>
              </a:ext>
            </a:extLst>
          </p:cNvPr>
          <p:cNvSpPr/>
          <p:nvPr/>
        </p:nvSpPr>
        <p:spPr>
          <a:xfrm>
            <a:off x="4762187" y="2323700"/>
            <a:ext cx="64008" cy="603504"/>
          </a:xfrm>
          <a:prstGeom prst="rect">
            <a:avLst/>
          </a:prstGeom>
          <a:solidFill>
            <a:srgbClr val="7A0000"/>
          </a:solidFill>
          <a:ln w="12700">
            <a:solidFill>
              <a:srgbClr val="7A0000"/>
            </a:solidFill>
            <a:prstDash val="solid"/>
          </a:ln>
        </p:spPr>
      </p:sp>
      <p:sp>
        <p:nvSpPr>
          <p:cNvPr id="31" name="Text 10">
            <a:extLst>
              <a:ext uri="{FF2B5EF4-FFF2-40B4-BE49-F238E27FC236}">
                <a16:creationId xmlns:a16="http://schemas.microsoft.com/office/drawing/2014/main" id="{6FAE627E-02F1-6880-8B51-D7DE123FE935}"/>
              </a:ext>
            </a:extLst>
          </p:cNvPr>
          <p:cNvSpPr/>
          <p:nvPr/>
        </p:nvSpPr>
        <p:spPr>
          <a:xfrm>
            <a:off x="4990787" y="2460860"/>
            <a:ext cx="2703851" cy="347472"/>
          </a:xfrm>
          <a:prstGeom prst="rect">
            <a:avLst/>
          </a:prstGeom>
          <a:noFill/>
          <a:ln/>
        </p:spPr>
        <p:txBody>
          <a:bodyPr wrap="square" lIns="0" tIns="0" rIns="0" bIns="0" rtlCol="0" anchor="ctr"/>
          <a:lstStyle/>
          <a:p>
            <a:r>
              <a:rPr lang="en-US" sz="1400">
                <a:solidFill>
                  <a:srgbClr val="AAAAAA"/>
                </a:solidFill>
                <a:latin typeface="JetBrains Mono"/>
                <a:ea typeface="JetBrains Mono"/>
              </a:rPr>
              <a:t>08</a:t>
            </a:r>
            <a:r>
              <a:rPr lang="en-US" sz="1400">
                <a:solidFill>
                  <a:srgbClr val="AAAAAA"/>
                </a:solidFill>
                <a:latin typeface="JetBrains Mono"/>
              </a:rPr>
              <a:t> ACTIVE DEFENSE</a:t>
            </a:r>
            <a:endParaRPr lang="en-US" sz="1400">
              <a:latin typeface="JetBrains Mono"/>
            </a:endParaRPr>
          </a:p>
        </p:txBody>
      </p:sp>
      <p:sp>
        <p:nvSpPr>
          <p:cNvPr id="32" name="Shape 11">
            <a:extLst>
              <a:ext uri="{FF2B5EF4-FFF2-40B4-BE49-F238E27FC236}">
                <a16:creationId xmlns:a16="http://schemas.microsoft.com/office/drawing/2014/main" id="{2CE8A79D-1A44-7103-9B21-5E92090AD08E}"/>
              </a:ext>
            </a:extLst>
          </p:cNvPr>
          <p:cNvSpPr/>
          <p:nvPr/>
        </p:nvSpPr>
        <p:spPr>
          <a:xfrm>
            <a:off x="4785609" y="3082876"/>
            <a:ext cx="3414010" cy="594136"/>
          </a:xfrm>
          <a:prstGeom prst="rect">
            <a:avLst/>
          </a:prstGeom>
          <a:solidFill>
            <a:srgbClr val="1E1E1E"/>
          </a:solidFill>
          <a:ln w="6350">
            <a:solidFill>
              <a:srgbClr val="3A3A3A"/>
            </a:solidFill>
            <a:prstDash val="solid"/>
          </a:ln>
        </p:spPr>
      </p:sp>
      <p:sp>
        <p:nvSpPr>
          <p:cNvPr id="33" name="Shape 12">
            <a:extLst>
              <a:ext uri="{FF2B5EF4-FFF2-40B4-BE49-F238E27FC236}">
                <a16:creationId xmlns:a16="http://schemas.microsoft.com/office/drawing/2014/main" id="{51DC98AD-D7D5-76AC-CF57-D2F8D922BE0A}"/>
              </a:ext>
            </a:extLst>
          </p:cNvPr>
          <p:cNvSpPr/>
          <p:nvPr/>
        </p:nvSpPr>
        <p:spPr>
          <a:xfrm>
            <a:off x="4762187" y="3073508"/>
            <a:ext cx="64008" cy="603504"/>
          </a:xfrm>
          <a:prstGeom prst="rect">
            <a:avLst/>
          </a:prstGeom>
          <a:solidFill>
            <a:srgbClr val="7A0000"/>
          </a:solidFill>
          <a:ln w="12700">
            <a:solidFill>
              <a:srgbClr val="7A0000"/>
            </a:solidFill>
            <a:prstDash val="solid"/>
          </a:ln>
        </p:spPr>
      </p:sp>
      <p:sp>
        <p:nvSpPr>
          <p:cNvPr id="34" name="Text 13">
            <a:extLst>
              <a:ext uri="{FF2B5EF4-FFF2-40B4-BE49-F238E27FC236}">
                <a16:creationId xmlns:a16="http://schemas.microsoft.com/office/drawing/2014/main" id="{551AA472-76F5-6904-2FE6-81146B42B87D}"/>
              </a:ext>
            </a:extLst>
          </p:cNvPr>
          <p:cNvSpPr/>
          <p:nvPr/>
        </p:nvSpPr>
        <p:spPr>
          <a:xfrm>
            <a:off x="4990787" y="3210668"/>
            <a:ext cx="2938073" cy="347472"/>
          </a:xfrm>
          <a:prstGeom prst="rect">
            <a:avLst/>
          </a:prstGeom>
          <a:noFill/>
          <a:ln/>
        </p:spPr>
        <p:txBody>
          <a:bodyPr wrap="square" lIns="0" tIns="0" rIns="0" bIns="0" rtlCol="0" anchor="ctr"/>
          <a:lstStyle/>
          <a:p>
            <a:r>
              <a:rPr lang="en-US" sz="1400">
                <a:solidFill>
                  <a:srgbClr val="AAAAAA"/>
                </a:solidFill>
                <a:latin typeface="JetBrains Mono"/>
                <a:ea typeface="JetBrains Mono"/>
              </a:rPr>
              <a:t>09</a:t>
            </a:r>
            <a:r>
              <a:rPr lang="en-US" sz="1400">
                <a:solidFill>
                  <a:srgbClr val="AAAAAA"/>
                </a:solidFill>
                <a:latin typeface="JetBrains Mono"/>
              </a:rPr>
              <a:t> EXERCISE</a:t>
            </a:r>
            <a:endParaRPr lang="en-US" sz="1400">
              <a:latin typeface="JetBrains Mono"/>
            </a:endParaRPr>
          </a:p>
        </p:txBody>
      </p:sp>
      <p:sp>
        <p:nvSpPr>
          <p:cNvPr id="35" name="Shape 14">
            <a:extLst>
              <a:ext uri="{FF2B5EF4-FFF2-40B4-BE49-F238E27FC236}">
                <a16:creationId xmlns:a16="http://schemas.microsoft.com/office/drawing/2014/main" id="{D4EA3E6E-EEBC-FE37-94CE-6CCF75491AAF}"/>
              </a:ext>
            </a:extLst>
          </p:cNvPr>
          <p:cNvSpPr/>
          <p:nvPr/>
        </p:nvSpPr>
        <p:spPr>
          <a:xfrm>
            <a:off x="4785609" y="3832684"/>
            <a:ext cx="3414010" cy="594136"/>
          </a:xfrm>
          <a:prstGeom prst="rect">
            <a:avLst/>
          </a:prstGeom>
          <a:solidFill>
            <a:srgbClr val="1E1E1E"/>
          </a:solidFill>
          <a:ln w="6350">
            <a:solidFill>
              <a:srgbClr val="3A3A3A"/>
            </a:solidFill>
            <a:prstDash val="solid"/>
          </a:ln>
        </p:spPr>
      </p:sp>
      <p:sp>
        <p:nvSpPr>
          <p:cNvPr id="36" name="Shape 15">
            <a:extLst>
              <a:ext uri="{FF2B5EF4-FFF2-40B4-BE49-F238E27FC236}">
                <a16:creationId xmlns:a16="http://schemas.microsoft.com/office/drawing/2014/main" id="{69A90FE4-930D-AC69-C62B-DA3D9C76D3AF}"/>
              </a:ext>
            </a:extLst>
          </p:cNvPr>
          <p:cNvSpPr/>
          <p:nvPr/>
        </p:nvSpPr>
        <p:spPr>
          <a:xfrm>
            <a:off x="4762187" y="3823316"/>
            <a:ext cx="64008" cy="603504"/>
          </a:xfrm>
          <a:prstGeom prst="rect">
            <a:avLst/>
          </a:prstGeom>
          <a:solidFill>
            <a:srgbClr val="7A0000"/>
          </a:solidFill>
          <a:ln w="12700">
            <a:solidFill>
              <a:srgbClr val="7A0000"/>
            </a:solidFill>
            <a:prstDash val="solid"/>
          </a:ln>
        </p:spPr>
      </p:sp>
      <p:sp>
        <p:nvSpPr>
          <p:cNvPr id="37" name="Text 16">
            <a:extLst>
              <a:ext uri="{FF2B5EF4-FFF2-40B4-BE49-F238E27FC236}">
                <a16:creationId xmlns:a16="http://schemas.microsoft.com/office/drawing/2014/main" id="{9C777AA1-9CC4-791D-FE72-3616E121E762}"/>
              </a:ext>
            </a:extLst>
          </p:cNvPr>
          <p:cNvSpPr/>
          <p:nvPr/>
        </p:nvSpPr>
        <p:spPr>
          <a:xfrm>
            <a:off x="4990787" y="3960476"/>
            <a:ext cx="2849068" cy="347472"/>
          </a:xfrm>
          <a:prstGeom prst="rect">
            <a:avLst/>
          </a:prstGeom>
          <a:noFill/>
          <a:ln/>
        </p:spPr>
        <p:txBody>
          <a:bodyPr wrap="square" lIns="0" tIns="0" rIns="0" bIns="0" rtlCol="0" anchor="ctr"/>
          <a:lstStyle/>
          <a:p>
            <a:r>
              <a:rPr lang="en-US" sz="1400">
                <a:solidFill>
                  <a:srgbClr val="AAAAAA"/>
                </a:solidFill>
                <a:latin typeface="JetBrains Mono"/>
              </a:rPr>
              <a:t>10 QUESTIONS</a:t>
            </a:r>
          </a:p>
        </p:txBody>
      </p:sp>
      <p:sp>
        <p:nvSpPr>
          <p:cNvPr id="38" name="Shape 6">
            <a:extLst>
              <a:ext uri="{FF2B5EF4-FFF2-40B4-BE49-F238E27FC236}">
                <a16:creationId xmlns:a16="http://schemas.microsoft.com/office/drawing/2014/main" id="{45884C58-3CF4-278A-0519-1CB2F753D331}"/>
              </a:ext>
            </a:extLst>
          </p:cNvPr>
          <p:cNvSpPr/>
          <p:nvPr/>
        </p:nvSpPr>
        <p:spPr>
          <a:xfrm>
            <a:off x="4757502" y="815015"/>
            <a:ext cx="64008" cy="617556"/>
          </a:xfrm>
          <a:prstGeom prst="rect">
            <a:avLst/>
          </a:prstGeom>
          <a:solidFill>
            <a:srgbClr val="7A0000"/>
          </a:solidFill>
          <a:ln w="12700">
            <a:solidFill>
              <a:srgbClr val="7A0000"/>
            </a:solidFill>
            <a:prstDash val="solid"/>
          </a:ln>
        </p:spPr>
      </p:sp>
      <p:sp>
        <p:nvSpPr>
          <p:cNvPr id="39" name="Text 7">
            <a:extLst>
              <a:ext uri="{FF2B5EF4-FFF2-40B4-BE49-F238E27FC236}">
                <a16:creationId xmlns:a16="http://schemas.microsoft.com/office/drawing/2014/main" id="{06291059-8177-707B-552D-49100B592A0B}"/>
              </a:ext>
            </a:extLst>
          </p:cNvPr>
          <p:cNvSpPr/>
          <p:nvPr/>
        </p:nvSpPr>
        <p:spPr>
          <a:xfrm>
            <a:off x="4986102" y="956859"/>
            <a:ext cx="2708536" cy="347472"/>
          </a:xfrm>
          <a:prstGeom prst="rect">
            <a:avLst/>
          </a:prstGeom>
          <a:noFill/>
          <a:ln/>
        </p:spPr>
        <p:txBody>
          <a:bodyPr wrap="square" lIns="0" tIns="0" rIns="0" bIns="0" rtlCol="0" anchor="ctr"/>
          <a:lstStyle/>
          <a:p>
            <a:r>
              <a:rPr lang="en-US" sz="1400">
                <a:solidFill>
                  <a:srgbClr val="AAAAAA"/>
                </a:solidFill>
                <a:latin typeface="JetBrains Mono"/>
                <a:ea typeface="JetBrains Mono"/>
                <a:cs typeface="JetBrains Mono" pitchFamily="34" charset="-120"/>
              </a:rPr>
              <a:t>06 THREATS</a:t>
            </a:r>
            <a:endParaRPr lang="en-US" sz="1400">
              <a:latin typeface="JetBrains Mono"/>
            </a:endParaRPr>
          </a:p>
        </p:txBody>
      </p:sp>
      <p:pic>
        <p:nvPicPr>
          <p:cNvPr id="40" name="Picture 39" descr="A red arrow with black text&#10;&#10;AI-generated content may be incorrect.">
            <a:extLst>
              <a:ext uri="{FF2B5EF4-FFF2-40B4-BE49-F238E27FC236}">
                <a16:creationId xmlns:a16="http://schemas.microsoft.com/office/drawing/2014/main" id="{449C3500-4D6A-96E9-B973-5A533C75F504}"/>
              </a:ext>
            </a:extLst>
          </p:cNvPr>
          <p:cNvPicPr>
            <a:picLocks noChangeAspect="1"/>
          </p:cNvPicPr>
          <p:nvPr/>
        </p:nvPicPr>
        <p:blipFill>
          <a:blip r:embed="rId3"/>
          <a:stretch>
            <a:fillRect/>
          </a:stretch>
        </p:blipFill>
        <p:spPr>
          <a:xfrm>
            <a:off x="3846226" y="857563"/>
            <a:ext cx="509979" cy="524031"/>
          </a:xfrm>
          <a:prstGeom prst="rect">
            <a:avLst/>
          </a:prstGeom>
        </p:spPr>
      </p:pic>
      <p:pic>
        <p:nvPicPr>
          <p:cNvPr id="41" name="Picture 40" descr="A red square with black and white text&#10;&#10;AI-generated content may be incorrect.">
            <a:extLst>
              <a:ext uri="{FF2B5EF4-FFF2-40B4-BE49-F238E27FC236}">
                <a16:creationId xmlns:a16="http://schemas.microsoft.com/office/drawing/2014/main" id="{6A5048C1-98C7-B63B-ACC7-82DACD5BD2DB}"/>
              </a:ext>
            </a:extLst>
          </p:cNvPr>
          <p:cNvPicPr>
            <a:picLocks noChangeAspect="1"/>
          </p:cNvPicPr>
          <p:nvPr/>
        </p:nvPicPr>
        <p:blipFill>
          <a:blip r:embed="rId4"/>
          <a:stretch>
            <a:fillRect/>
          </a:stretch>
        </p:blipFill>
        <p:spPr>
          <a:xfrm>
            <a:off x="3846225" y="1644547"/>
            <a:ext cx="509981" cy="533401"/>
          </a:xfrm>
          <a:prstGeom prst="rect">
            <a:avLst/>
          </a:prstGeom>
        </p:spPr>
      </p:pic>
      <p:pic>
        <p:nvPicPr>
          <p:cNvPr id="42" name="Picture 41" descr="A red circle with black dots&#10;&#10;AI-generated content may be incorrect.">
            <a:extLst>
              <a:ext uri="{FF2B5EF4-FFF2-40B4-BE49-F238E27FC236}">
                <a16:creationId xmlns:a16="http://schemas.microsoft.com/office/drawing/2014/main" id="{9F8EF3AA-5F81-C887-2ED9-1A9203E06453}"/>
              </a:ext>
            </a:extLst>
          </p:cNvPr>
          <p:cNvPicPr>
            <a:picLocks noChangeAspect="1"/>
          </p:cNvPicPr>
          <p:nvPr/>
        </p:nvPicPr>
        <p:blipFill>
          <a:blip r:embed="rId5"/>
          <a:stretch>
            <a:fillRect/>
          </a:stretch>
        </p:blipFill>
        <p:spPr>
          <a:xfrm>
            <a:off x="3846227" y="2375317"/>
            <a:ext cx="509976" cy="547451"/>
          </a:xfrm>
          <a:prstGeom prst="rect">
            <a:avLst/>
          </a:prstGeom>
        </p:spPr>
      </p:pic>
      <p:pic>
        <p:nvPicPr>
          <p:cNvPr id="43" name="Picture 42" descr="A close-up of a logo&#10;&#10;AI-generated content may be incorrect.">
            <a:extLst>
              <a:ext uri="{FF2B5EF4-FFF2-40B4-BE49-F238E27FC236}">
                <a16:creationId xmlns:a16="http://schemas.microsoft.com/office/drawing/2014/main" id="{BC0850DE-F5B3-AF62-AC1C-B4E0D09C2D69}"/>
              </a:ext>
            </a:extLst>
          </p:cNvPr>
          <p:cNvPicPr>
            <a:picLocks noChangeAspect="1"/>
          </p:cNvPicPr>
          <p:nvPr/>
        </p:nvPicPr>
        <p:blipFill>
          <a:blip r:embed="rId6"/>
          <a:stretch>
            <a:fillRect/>
          </a:stretch>
        </p:blipFill>
        <p:spPr>
          <a:xfrm>
            <a:off x="3846226" y="3129510"/>
            <a:ext cx="509979" cy="552137"/>
          </a:xfrm>
          <a:prstGeom prst="rect">
            <a:avLst/>
          </a:prstGeom>
        </p:spPr>
      </p:pic>
      <p:pic>
        <p:nvPicPr>
          <p:cNvPr id="44" name="Picture 43" descr="A red and black symbol&#10;&#10;AI-generated content may be incorrect.">
            <a:extLst>
              <a:ext uri="{FF2B5EF4-FFF2-40B4-BE49-F238E27FC236}">
                <a16:creationId xmlns:a16="http://schemas.microsoft.com/office/drawing/2014/main" id="{45A3EF31-B7B0-181C-5168-2A957FF9FF1E}"/>
              </a:ext>
            </a:extLst>
          </p:cNvPr>
          <p:cNvPicPr>
            <a:picLocks noChangeAspect="1"/>
          </p:cNvPicPr>
          <p:nvPr/>
        </p:nvPicPr>
        <p:blipFill>
          <a:blip r:embed="rId7"/>
          <a:stretch>
            <a:fillRect/>
          </a:stretch>
        </p:blipFill>
        <p:spPr>
          <a:xfrm>
            <a:off x="3846227" y="3883703"/>
            <a:ext cx="509977" cy="547452"/>
          </a:xfrm>
          <a:prstGeom prst="rect">
            <a:avLst/>
          </a:prstGeom>
        </p:spPr>
      </p:pic>
      <p:pic>
        <p:nvPicPr>
          <p:cNvPr id="45" name="Picture 44" descr="A red smiley face with a white background&#10;&#10;AI-generated content may be incorrect.">
            <a:extLst>
              <a:ext uri="{FF2B5EF4-FFF2-40B4-BE49-F238E27FC236}">
                <a16:creationId xmlns:a16="http://schemas.microsoft.com/office/drawing/2014/main" id="{FC924999-E30B-3D9A-7EF6-492397EE6842}"/>
              </a:ext>
            </a:extLst>
          </p:cNvPr>
          <p:cNvPicPr>
            <a:picLocks noChangeAspect="1"/>
          </p:cNvPicPr>
          <p:nvPr/>
        </p:nvPicPr>
        <p:blipFill>
          <a:blip r:embed="rId8"/>
          <a:stretch>
            <a:fillRect/>
          </a:stretch>
        </p:blipFill>
        <p:spPr>
          <a:xfrm>
            <a:off x="7598452" y="829458"/>
            <a:ext cx="491239" cy="552136"/>
          </a:xfrm>
          <a:prstGeom prst="rect">
            <a:avLst/>
          </a:prstGeom>
        </p:spPr>
      </p:pic>
      <p:pic>
        <p:nvPicPr>
          <p:cNvPr id="46" name="Picture 45">
            <a:extLst>
              <a:ext uri="{FF2B5EF4-FFF2-40B4-BE49-F238E27FC236}">
                <a16:creationId xmlns:a16="http://schemas.microsoft.com/office/drawing/2014/main" id="{BE819C40-AE5D-2DEF-9305-16968DE1CA9D}"/>
              </a:ext>
            </a:extLst>
          </p:cNvPr>
          <p:cNvPicPr>
            <a:picLocks noChangeAspect="1"/>
          </p:cNvPicPr>
          <p:nvPr/>
        </p:nvPicPr>
        <p:blipFill>
          <a:blip r:embed="rId9"/>
          <a:stretch>
            <a:fillRect/>
          </a:stretch>
        </p:blipFill>
        <p:spPr>
          <a:xfrm>
            <a:off x="7598452" y="1644547"/>
            <a:ext cx="491241" cy="528716"/>
          </a:xfrm>
          <a:prstGeom prst="rect">
            <a:avLst/>
          </a:prstGeom>
        </p:spPr>
      </p:pic>
      <p:pic>
        <p:nvPicPr>
          <p:cNvPr id="47" name="Picture 46" descr="A symbol of a cross and a shield&#10;&#10;AI-generated content may be incorrect.">
            <a:extLst>
              <a:ext uri="{FF2B5EF4-FFF2-40B4-BE49-F238E27FC236}">
                <a16:creationId xmlns:a16="http://schemas.microsoft.com/office/drawing/2014/main" id="{7009BC16-47E1-BD9A-AF6B-01E89112E1F4}"/>
              </a:ext>
            </a:extLst>
          </p:cNvPr>
          <p:cNvPicPr>
            <a:picLocks noChangeAspect="1"/>
          </p:cNvPicPr>
          <p:nvPr/>
        </p:nvPicPr>
        <p:blipFill>
          <a:blip r:embed="rId10"/>
          <a:stretch>
            <a:fillRect/>
          </a:stretch>
        </p:blipFill>
        <p:spPr>
          <a:xfrm>
            <a:off x="7598451" y="2375315"/>
            <a:ext cx="491241" cy="491242"/>
          </a:xfrm>
          <a:prstGeom prst="rect">
            <a:avLst/>
          </a:prstGeom>
        </p:spPr>
      </p:pic>
      <p:pic>
        <p:nvPicPr>
          <p:cNvPr id="48" name="Picture 47">
            <a:extLst>
              <a:ext uri="{FF2B5EF4-FFF2-40B4-BE49-F238E27FC236}">
                <a16:creationId xmlns:a16="http://schemas.microsoft.com/office/drawing/2014/main" id="{3D44D27A-31DC-0029-C4C6-2843DB5742C4}"/>
              </a:ext>
            </a:extLst>
          </p:cNvPr>
          <p:cNvPicPr>
            <a:picLocks noChangeAspect="1"/>
          </p:cNvPicPr>
          <p:nvPr/>
        </p:nvPicPr>
        <p:blipFill>
          <a:blip r:embed="rId11"/>
          <a:stretch>
            <a:fillRect/>
          </a:stretch>
        </p:blipFill>
        <p:spPr>
          <a:xfrm>
            <a:off x="7598452" y="3129509"/>
            <a:ext cx="491241" cy="542769"/>
          </a:xfrm>
          <a:prstGeom prst="rect">
            <a:avLst/>
          </a:prstGeom>
        </p:spPr>
      </p:pic>
      <p:pic>
        <p:nvPicPr>
          <p:cNvPr id="49" name="Picture 48" descr="A question mark in a circle&#10;&#10;AI-generated content may be incorrect.">
            <a:extLst>
              <a:ext uri="{FF2B5EF4-FFF2-40B4-BE49-F238E27FC236}">
                <a16:creationId xmlns:a16="http://schemas.microsoft.com/office/drawing/2014/main" id="{2F72DDAC-97E5-9953-3382-DA82F742AEAA}"/>
              </a:ext>
            </a:extLst>
          </p:cNvPr>
          <p:cNvPicPr>
            <a:picLocks noChangeAspect="1"/>
          </p:cNvPicPr>
          <p:nvPr/>
        </p:nvPicPr>
        <p:blipFill>
          <a:blip r:embed="rId12"/>
          <a:stretch>
            <a:fillRect/>
          </a:stretch>
        </p:blipFill>
        <p:spPr>
          <a:xfrm>
            <a:off x="7598452" y="3874333"/>
            <a:ext cx="491241" cy="5521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C0000"/>
          </a:solidFill>
          <a:ln w="12700">
            <a:solidFill>
              <a:srgbClr val="CC0000"/>
            </a:solidFill>
            <a:prstDash val="solid"/>
          </a:ln>
        </p:spPr>
      </p:sp>
      <p:sp>
        <p:nvSpPr>
          <p:cNvPr id="3" name="Text 1"/>
          <p:cNvSpPr/>
          <p:nvPr/>
        </p:nvSpPr>
        <p:spPr>
          <a:xfrm>
            <a:off x="165266" y="164592"/>
            <a:ext cx="8841386" cy="502920"/>
          </a:xfrm>
          <a:prstGeom prst="rect">
            <a:avLst/>
          </a:prstGeom>
          <a:noFill/>
          <a:ln/>
        </p:spPr>
        <p:txBody>
          <a:bodyPr wrap="square" lIns="0" tIns="0" rIns="0" bIns="0" rtlCol="0" anchor="ctr"/>
          <a:lstStyle/>
          <a:p>
            <a:r>
              <a:rPr lang="en-US" sz="2800" b="1">
                <a:solidFill>
                  <a:srgbClr val="F0EDE8"/>
                </a:solidFill>
                <a:latin typeface="JetBrains Mono"/>
              </a:rPr>
              <a:t>01 Introduction – Christoper Williams</a:t>
            </a:r>
            <a:endParaRPr lang="en-US" sz="2800">
              <a:latin typeface="JetBrains Mono"/>
              <a:cs typeface="Courier New"/>
            </a:endParaRPr>
          </a:p>
        </p:txBody>
      </p:sp>
      <p:sp>
        <p:nvSpPr>
          <p:cNvPr id="4" name="Shape 2"/>
          <p:cNvSpPr/>
          <p:nvPr/>
        </p:nvSpPr>
        <p:spPr>
          <a:xfrm>
            <a:off x="137160" y="822960"/>
            <a:ext cx="5029200" cy="3749040"/>
          </a:xfrm>
          <a:prstGeom prst="rect">
            <a:avLst/>
          </a:prstGeom>
          <a:solidFill>
            <a:srgbClr val="1E1E1E"/>
          </a:solidFill>
          <a:ln w="6350">
            <a:solidFill>
              <a:srgbClr val="3A3A3A"/>
            </a:solidFill>
            <a:prstDash val="solid"/>
          </a:ln>
        </p:spPr>
      </p:sp>
      <p:sp>
        <p:nvSpPr>
          <p:cNvPr id="5" name="Shape 3"/>
          <p:cNvSpPr/>
          <p:nvPr/>
        </p:nvSpPr>
        <p:spPr>
          <a:xfrm>
            <a:off x="137160" y="822960"/>
            <a:ext cx="64008" cy="3749040"/>
          </a:xfrm>
          <a:prstGeom prst="rect">
            <a:avLst/>
          </a:prstGeom>
          <a:solidFill>
            <a:srgbClr val="7A0000"/>
          </a:solidFill>
          <a:ln w="12700">
            <a:solidFill>
              <a:srgbClr val="7A0000"/>
            </a:solidFill>
            <a:prstDash val="solid"/>
          </a:ln>
        </p:spPr>
      </p:sp>
      <p:sp>
        <p:nvSpPr>
          <p:cNvPr id="6" name="Text 4"/>
          <p:cNvSpPr/>
          <p:nvPr/>
        </p:nvSpPr>
        <p:spPr>
          <a:xfrm>
            <a:off x="320040" y="825396"/>
            <a:ext cx="4663440" cy="3680834"/>
          </a:xfrm>
          <a:prstGeom prst="rect">
            <a:avLst/>
          </a:prstGeom>
          <a:noFill/>
          <a:ln/>
        </p:spPr>
        <p:txBody>
          <a:bodyPr wrap="square" lIns="91440" tIns="45720" rIns="91440" bIns="45720" rtlCol="0" anchor="t"/>
          <a:lstStyle/>
          <a:p>
            <a:pPr marL="342900" indent="-342900">
              <a:spcAft>
                <a:spcPts val="1200"/>
              </a:spcAft>
              <a:buSzPct val="100000"/>
              <a:buChar char="•"/>
            </a:pPr>
            <a:r>
              <a:rPr lang="en-US" sz="1300">
                <a:solidFill>
                  <a:srgbClr val="F0EDE8"/>
                </a:solidFill>
                <a:latin typeface="JetBrains Mono"/>
                <a:ea typeface="Calibri"/>
                <a:cs typeface="Calibri"/>
              </a:rPr>
              <a:t>Principal Incident Response Engineer for a top retailer</a:t>
            </a:r>
            <a:endParaRPr lang="en-US">
              <a:latin typeface="JetBrains Mono"/>
            </a:endParaRPr>
          </a:p>
          <a:p>
            <a:pPr marL="342900" indent="-342900">
              <a:spcAft>
                <a:spcPts val="1200"/>
              </a:spcAft>
              <a:buSzPct val="100000"/>
              <a:buChar char="•"/>
            </a:pPr>
            <a:r>
              <a:rPr lang="en-US" sz="1300">
                <a:solidFill>
                  <a:srgbClr val="F0EDE8"/>
                </a:solidFill>
                <a:latin typeface="JetBrains Mono"/>
                <a:ea typeface="Calibri"/>
                <a:cs typeface="Calibri"/>
              </a:rPr>
              <a:t>B.S. in Cyber Security from Bellevue University</a:t>
            </a:r>
            <a:endParaRPr lang="en-US" sz="1300" dirty="0">
              <a:solidFill>
                <a:srgbClr val="F0EDE8"/>
              </a:solidFill>
              <a:latin typeface="JetBrains Mono"/>
              <a:ea typeface="Calibri"/>
              <a:cs typeface="Calibri"/>
            </a:endParaRPr>
          </a:p>
          <a:p>
            <a:pPr marL="342900" indent="-342900">
              <a:spcAft>
                <a:spcPts val="1200"/>
              </a:spcAft>
              <a:buSzPct val="100000"/>
              <a:buChar char="•"/>
            </a:pPr>
            <a:r>
              <a:rPr lang="en-US" sz="1300">
                <a:solidFill>
                  <a:srgbClr val="F0EDE8"/>
                </a:solidFill>
                <a:latin typeface="JetBrains Mono"/>
                <a:ea typeface="Calibri"/>
                <a:cs typeface="Calibri"/>
              </a:rPr>
              <a:t>Graduate Student for M.S. in Cyber</a:t>
            </a:r>
            <a:endParaRPr lang="en-US" sz="1300" dirty="0">
              <a:solidFill>
                <a:srgbClr val="F0EDE8"/>
              </a:solidFill>
              <a:latin typeface="JetBrains Mono"/>
              <a:ea typeface="Calibri"/>
              <a:cs typeface="Calibri"/>
            </a:endParaRPr>
          </a:p>
          <a:p>
            <a:pPr marL="342900" indent="-342900">
              <a:spcAft>
                <a:spcPts val="1200"/>
              </a:spcAft>
              <a:buSzPct val="100000"/>
              <a:buChar char="•"/>
            </a:pPr>
            <a:r>
              <a:rPr lang="en-US" sz="1300">
                <a:solidFill>
                  <a:srgbClr val="F0EDE8"/>
                </a:solidFill>
                <a:latin typeface="JetBrains Mono"/>
                <a:ea typeface="Calibri"/>
                <a:cs typeface="Calibri"/>
              </a:rPr>
              <a:t>Active CISSP, GCFA, CISM</a:t>
            </a:r>
            <a:endParaRPr lang="en-US" sz="1300" dirty="0">
              <a:solidFill>
                <a:srgbClr val="F0EDE8"/>
              </a:solidFill>
              <a:latin typeface="JetBrains Mono"/>
              <a:ea typeface="Calibri"/>
              <a:cs typeface="Calibri"/>
            </a:endParaRPr>
          </a:p>
          <a:p>
            <a:pPr marL="342900" indent="-342900">
              <a:spcAft>
                <a:spcPts val="1200"/>
              </a:spcAft>
              <a:buSzPct val="100000"/>
              <a:buChar char="•"/>
            </a:pPr>
            <a:r>
              <a:rPr lang="en-US" sz="1300" dirty="0">
                <a:solidFill>
                  <a:srgbClr val="F0EDE8"/>
                </a:solidFill>
                <a:latin typeface="JetBrains Mono"/>
                <a:ea typeface="Calibri"/>
                <a:cs typeface="Calibri"/>
              </a:rPr>
              <a:t>Ethical Hacker, DevOps Practition</a:t>
            </a:r>
            <a:r>
              <a:rPr lang="en-US" sz="1300">
                <a:solidFill>
                  <a:srgbClr val="F0EDE8"/>
                </a:solidFill>
                <a:latin typeface="JetBrains Mono"/>
                <a:ea typeface="Calibri"/>
                <a:cs typeface="Calibri"/>
              </a:rPr>
              <a:t>er, UNIX/Linux &amp; FOSS</a:t>
            </a:r>
            <a:endParaRPr lang="en-US" sz="1300" dirty="0">
              <a:solidFill>
                <a:srgbClr val="F0EDE8"/>
              </a:solidFill>
              <a:latin typeface="JetBrains Mono"/>
              <a:ea typeface="Calibri"/>
              <a:cs typeface="Calibri"/>
            </a:endParaRPr>
          </a:p>
          <a:p>
            <a:pPr marL="342900" indent="-342900">
              <a:spcAft>
                <a:spcPts val="1200"/>
              </a:spcAft>
              <a:buSzPct val="100000"/>
              <a:buChar char="•"/>
            </a:pPr>
            <a:r>
              <a:rPr lang="en-US" sz="1300">
                <a:solidFill>
                  <a:srgbClr val="F0EDE8"/>
                </a:solidFill>
                <a:latin typeface="JetBrains Mono"/>
                <a:ea typeface="Calibri"/>
                <a:cs typeface="Calibri"/>
              </a:rPr>
              <a:t>Programming for 46 years, 30+ Years in IT</a:t>
            </a:r>
            <a:endParaRPr lang="en-US" sz="1300" dirty="0">
              <a:solidFill>
                <a:srgbClr val="F0EDE8"/>
              </a:solidFill>
              <a:latin typeface="JetBrains Mono"/>
              <a:ea typeface="Calibri"/>
              <a:cs typeface="Calibri"/>
            </a:endParaRPr>
          </a:p>
          <a:p>
            <a:pPr marL="342900" indent="-342900">
              <a:spcAft>
                <a:spcPts val="1200"/>
              </a:spcAft>
              <a:buSzPct val="100000"/>
              <a:buChar char="•"/>
            </a:pPr>
            <a:r>
              <a:rPr lang="en-US" sz="1300">
                <a:solidFill>
                  <a:srgbClr val="F0EDE8"/>
                </a:solidFill>
                <a:latin typeface="JetBrains Mono"/>
                <a:ea typeface="Calibri"/>
                <a:cs typeface="Calibri"/>
              </a:rPr>
              <a:t>Married father of 4 kiddos and 2 pets</a:t>
            </a:r>
            <a:endParaRPr lang="en-US" sz="1300" dirty="0">
              <a:solidFill>
                <a:srgbClr val="F0EDE8"/>
              </a:solidFill>
              <a:latin typeface="JetBrains Mono"/>
              <a:ea typeface="Calibri"/>
              <a:cs typeface="Calibri"/>
            </a:endParaRPr>
          </a:p>
          <a:p>
            <a:pPr marL="342900" indent="-342900">
              <a:spcAft>
                <a:spcPts val="1200"/>
              </a:spcAft>
              <a:buSzPct val="100000"/>
              <a:buChar char="•"/>
            </a:pPr>
            <a:r>
              <a:rPr lang="en-US" sz="1300" dirty="0">
                <a:solidFill>
                  <a:srgbClr val="F0EDE8"/>
                </a:solidFill>
                <a:latin typeface="JetBrains Mono"/>
                <a:ea typeface="Calibri"/>
                <a:cs typeface="Calibri"/>
              </a:rPr>
              <a:t>CTF </a:t>
            </a:r>
            <a:r>
              <a:rPr lang="en-US" sz="1300">
                <a:solidFill>
                  <a:srgbClr val="F0EDE8"/>
                </a:solidFill>
                <a:latin typeface="JetBrains Mono"/>
                <a:ea typeface="Calibri"/>
                <a:cs typeface="Calibri"/>
              </a:rPr>
              <a:t>Competitor</a:t>
            </a:r>
            <a:r>
              <a:rPr lang="en-US" sz="1300" dirty="0">
                <a:solidFill>
                  <a:srgbClr val="F0EDE8"/>
                </a:solidFill>
                <a:latin typeface="JetBrains Mono"/>
                <a:ea typeface="Calibri"/>
                <a:cs typeface="Calibri"/>
              </a:rPr>
              <a:t> Shifted to Challenge Designer</a:t>
            </a:r>
          </a:p>
          <a:p>
            <a:pPr marL="342900" indent="-342900">
              <a:spcAft>
                <a:spcPts val="1200"/>
              </a:spcAft>
              <a:buSzPct val="100000"/>
              <a:buChar char="•"/>
            </a:pPr>
            <a:r>
              <a:rPr lang="en-US" sz="1300">
                <a:solidFill>
                  <a:srgbClr val="F0EDE8"/>
                </a:solidFill>
                <a:latin typeface="JetBrains Mono"/>
                <a:ea typeface="Calibri"/>
                <a:cs typeface="Calibri"/>
              </a:rPr>
              <a:t>Reading, kayaking, hiking, music, travelling</a:t>
            </a:r>
            <a:endParaRPr lang="en-US" sz="1300" dirty="0">
              <a:solidFill>
                <a:srgbClr val="F0EDE8"/>
              </a:solidFill>
              <a:latin typeface="JetBrains Mono"/>
              <a:ea typeface="Calibri"/>
              <a:cs typeface="Calibri"/>
            </a:endParaRPr>
          </a:p>
          <a:p>
            <a:pPr>
              <a:spcAft>
                <a:spcPts val="1200"/>
              </a:spcAft>
              <a:buSzPct val="100000"/>
            </a:pPr>
            <a:r>
              <a:rPr lang="en-US" sz="1100" b="1" dirty="0">
                <a:solidFill>
                  <a:srgbClr val="FF0000"/>
                </a:solidFill>
                <a:latin typeface="JetBrains Mono"/>
                <a:ea typeface="Calibri"/>
                <a:cs typeface="Calibri"/>
              </a:rPr>
              <a:t>My presentation, comments and opinions are provided in my personal capacity and not as a representative of my employer. They do not reflect the views of my employer and are not </a:t>
            </a:r>
            <a:r>
              <a:rPr lang="en-US" sz="1100" b="1">
                <a:solidFill>
                  <a:srgbClr val="FF0000"/>
                </a:solidFill>
                <a:latin typeface="JetBrains Mono"/>
                <a:ea typeface="Calibri"/>
                <a:cs typeface="Calibri"/>
              </a:rPr>
              <a:t>endorsed</a:t>
            </a:r>
            <a:r>
              <a:rPr lang="en-US" sz="1100" b="1" dirty="0">
                <a:solidFill>
                  <a:srgbClr val="FF0000"/>
                </a:solidFill>
                <a:latin typeface="JetBrains Mono"/>
                <a:ea typeface="Calibri"/>
                <a:cs typeface="Calibri"/>
              </a:rPr>
              <a:t> by my employer.</a:t>
            </a:r>
          </a:p>
          <a:p>
            <a:pPr marL="342900" indent="-342900">
              <a:spcAft>
                <a:spcPts val="1200"/>
              </a:spcAft>
              <a:buSzPct val="100000"/>
              <a:buChar char="•"/>
            </a:pPr>
            <a:endParaRPr lang="en-US" sz="1300" dirty="0">
              <a:solidFill>
                <a:srgbClr val="F0EDE8"/>
              </a:solidFill>
              <a:latin typeface="Calibri"/>
              <a:ea typeface="Calibri"/>
              <a:cs typeface="Calibri"/>
            </a:endParaRPr>
          </a:p>
        </p:txBody>
      </p:sp>
      <p:sp>
        <p:nvSpPr>
          <p:cNvPr id="7" name="Shape 5"/>
          <p:cNvSpPr/>
          <p:nvPr/>
        </p:nvSpPr>
        <p:spPr>
          <a:xfrm>
            <a:off x="5394960" y="822960"/>
            <a:ext cx="3520440" cy="1645920"/>
          </a:xfrm>
          <a:prstGeom prst="rect">
            <a:avLst/>
          </a:prstGeom>
          <a:solidFill>
            <a:srgbClr val="1A1A1A"/>
          </a:solidFill>
          <a:ln w="6350">
            <a:solidFill>
              <a:srgbClr val="3A3A3A"/>
            </a:solidFill>
            <a:prstDash val="solid"/>
          </a:ln>
        </p:spPr>
      </p:sp>
      <p:sp>
        <p:nvSpPr>
          <p:cNvPr id="8" name="Text 6"/>
          <p:cNvSpPr/>
          <p:nvPr/>
        </p:nvSpPr>
        <p:spPr>
          <a:xfrm>
            <a:off x="5394960" y="1417320"/>
            <a:ext cx="352044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JetBrains Mono" pitchFamily="34" charset="0"/>
                <a:ea typeface="JetBrains Mono" pitchFamily="34" charset="-122"/>
                <a:cs typeface="JetBrains Mono" pitchFamily="34" charset="-120"/>
              </a:rPr>
              <a:t>[ STAT / IMAGE ]</a:t>
            </a:r>
            <a:endParaRPr lang="en-US" sz="1000" dirty="0"/>
          </a:p>
        </p:txBody>
      </p:sp>
      <p:sp>
        <p:nvSpPr>
          <p:cNvPr id="9" name="Shape 7"/>
          <p:cNvSpPr/>
          <p:nvPr/>
        </p:nvSpPr>
        <p:spPr>
          <a:xfrm>
            <a:off x="5394960" y="2857874"/>
            <a:ext cx="3520440" cy="1714126"/>
          </a:xfrm>
          <a:prstGeom prst="rect">
            <a:avLst/>
          </a:prstGeom>
          <a:solidFill>
            <a:srgbClr val="7A0000"/>
          </a:solidFill>
          <a:ln w="12700">
            <a:solidFill>
              <a:srgbClr val="CC0000"/>
            </a:solidFill>
            <a:prstDash val="solid"/>
          </a:ln>
        </p:spPr>
      </p:sp>
      <p:sp>
        <p:nvSpPr>
          <p:cNvPr id="11" name="Text 9"/>
          <p:cNvSpPr/>
          <p:nvPr/>
        </p:nvSpPr>
        <p:spPr>
          <a:xfrm>
            <a:off x="5440679" y="3027452"/>
            <a:ext cx="3471160" cy="1074233"/>
          </a:xfrm>
          <a:prstGeom prst="rect">
            <a:avLst/>
          </a:prstGeom>
          <a:noFill/>
          <a:ln/>
        </p:spPr>
        <p:txBody>
          <a:bodyPr wrap="square" lIns="0" tIns="0" rIns="0" bIns="0" rtlCol="0" anchor="ctr"/>
          <a:lstStyle/>
          <a:p>
            <a:pPr algn="ctr"/>
            <a:r>
              <a:rPr lang="en-US" sz="900" dirty="0">
                <a:solidFill>
                  <a:schemeClr val="bg1"/>
                </a:solidFill>
                <a:latin typeface="JetBrains Mono"/>
                <a:ea typeface="+mn-lt"/>
                <a:cs typeface="Courier New"/>
              </a:rPr>
              <a:t>“It's the questions we can't answer that teach us the most. They teach us how to think. If you give a man an answer, all he gains is a little fact.</a:t>
            </a:r>
            <a:endParaRPr lang="en-US">
              <a:solidFill>
                <a:schemeClr val="bg1"/>
              </a:solidFill>
              <a:latin typeface="JetBrains Mono"/>
            </a:endParaRPr>
          </a:p>
          <a:p>
            <a:pPr algn="ctr"/>
            <a:r>
              <a:rPr lang="en-US" sz="900" dirty="0">
                <a:solidFill>
                  <a:schemeClr val="bg1"/>
                </a:solidFill>
                <a:latin typeface="JetBrains Mono"/>
                <a:ea typeface="+mn-lt"/>
                <a:cs typeface="Courier New"/>
              </a:rPr>
              <a:t> But give him a question and he'll look for his own answers.”</a:t>
            </a:r>
            <a:endParaRPr lang="en-US">
              <a:solidFill>
                <a:schemeClr val="bg1"/>
              </a:solidFill>
              <a:latin typeface="JetBrains Mono"/>
            </a:endParaRPr>
          </a:p>
          <a:p>
            <a:pPr algn="ctr"/>
            <a:endParaRPr lang="en-US" sz="1000" dirty="0">
              <a:solidFill>
                <a:schemeClr val="bg1"/>
              </a:solidFill>
              <a:latin typeface="Courier New"/>
              <a:cs typeface="Courier New"/>
            </a:endParaRPr>
          </a:p>
        </p:txBody>
      </p:sp>
      <p:sp>
        <p:nvSpPr>
          <p:cNvPr id="12" name="Text 10"/>
          <p:cNvSpPr/>
          <p:nvPr/>
        </p:nvSpPr>
        <p:spPr>
          <a:xfrm>
            <a:off x="5440680" y="3875707"/>
            <a:ext cx="3429000" cy="228600"/>
          </a:xfrm>
          <a:prstGeom prst="rect">
            <a:avLst/>
          </a:prstGeom>
          <a:noFill/>
          <a:ln/>
        </p:spPr>
        <p:txBody>
          <a:bodyPr wrap="square" lIns="0" tIns="0" rIns="0" bIns="0" rtlCol="0" anchor="ctr"/>
          <a:lstStyle/>
          <a:p>
            <a:pPr algn="ctr"/>
            <a:r>
              <a:rPr lang="en-US" sz="800">
                <a:solidFill>
                  <a:schemeClr val="bg2">
                    <a:lumMod val="90000"/>
                  </a:schemeClr>
                </a:solidFill>
                <a:latin typeface="JetBrains Mono"/>
                <a:ea typeface="+mn-lt"/>
                <a:cs typeface="Courier New"/>
              </a:rPr>
              <a:t>― Patrick Rothfuss, The Wise Man's Fear</a:t>
            </a:r>
            <a:endParaRPr lang="en-US" sz="900">
              <a:solidFill>
                <a:schemeClr val="bg2">
                  <a:lumMod val="90000"/>
                </a:schemeClr>
              </a:solidFill>
              <a:latin typeface="JetBrains Mono"/>
              <a:cs typeface="Courier New" panose="02070309020205020404" pitchFamily="49" charset="0"/>
            </a:endParaRPr>
          </a:p>
        </p:txBody>
      </p:sp>
      <p:sp>
        <p:nvSpPr>
          <p:cNvPr id="13" name="Shape 11"/>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JetBrains Mono"/>
                <a:ea typeface="JetBrains Mono"/>
              </a:rPr>
              <a:t>AI For Ethical Hackers</a:t>
            </a:r>
            <a:endParaRPr lang="en-US" sz="900" dirty="0"/>
          </a:p>
        </p:txBody>
      </p:sp>
      <p:sp>
        <p:nvSpPr>
          <p:cNvPr id="16" name="Text 14"/>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pic>
        <p:nvPicPr>
          <p:cNvPr id="19" name="Picture 18" descr="A person standing in front of a screen&#10;&#10;AI-generated content may be incorrect.">
            <a:extLst>
              <a:ext uri="{FF2B5EF4-FFF2-40B4-BE49-F238E27FC236}">
                <a16:creationId xmlns:a16="http://schemas.microsoft.com/office/drawing/2014/main" id="{B3A2E030-03FC-F75B-406D-800168558B79}"/>
              </a:ext>
            </a:extLst>
          </p:cNvPr>
          <p:cNvPicPr>
            <a:picLocks noChangeAspect="1"/>
          </p:cNvPicPr>
          <p:nvPr/>
        </p:nvPicPr>
        <p:blipFill>
          <a:blip r:embed="rId3"/>
          <a:stretch>
            <a:fillRect/>
          </a:stretch>
        </p:blipFill>
        <p:spPr>
          <a:xfrm>
            <a:off x="5394585" y="826880"/>
            <a:ext cx="3521752" cy="1925143"/>
          </a:xfrm>
          <a:prstGeom prst="rect">
            <a:avLst/>
          </a:prstGeom>
        </p:spPr>
      </p:pic>
      <p:pic>
        <p:nvPicPr>
          <p:cNvPr id="20" name="Picture 19" descr="Cramped scam center room">
            <a:extLst>
              <a:ext uri="{FF2B5EF4-FFF2-40B4-BE49-F238E27FC236}">
                <a16:creationId xmlns:a16="http://schemas.microsoft.com/office/drawing/2014/main" id="{641E02D4-5876-9967-61A9-599D39B7539E}"/>
              </a:ext>
            </a:extLst>
          </p:cNvPr>
          <p:cNvPicPr>
            <a:picLocks noChangeAspect="1"/>
          </p:cNvPicPr>
          <p:nvPr/>
        </p:nvPicPr>
        <p:blipFill>
          <a:blip r:embed="rId4"/>
          <a:stretch>
            <a:fillRect/>
          </a:stretch>
        </p:blipFill>
        <p:spPr>
          <a:xfrm>
            <a:off x="7338622" y="826881"/>
            <a:ext cx="1577715" cy="1925143"/>
          </a:xfrm>
          <a:prstGeom prst="rect">
            <a:avLst/>
          </a:prstGeom>
        </p:spPr>
      </p:pic>
      <p:pic>
        <p:nvPicPr>
          <p:cNvPr id="21" name="Picture 20" descr="A person in a black hoodie and red cloak standing in a server room with wires and wires&#10;&#10;AI-generated content may be incorrect.">
            <a:extLst>
              <a:ext uri="{FF2B5EF4-FFF2-40B4-BE49-F238E27FC236}">
                <a16:creationId xmlns:a16="http://schemas.microsoft.com/office/drawing/2014/main" id="{26C43DB7-248E-ADDA-C7D7-D9BC0795BB7F}"/>
              </a:ext>
            </a:extLst>
          </p:cNvPr>
          <p:cNvPicPr>
            <a:picLocks noChangeAspect="1"/>
          </p:cNvPicPr>
          <p:nvPr/>
        </p:nvPicPr>
        <p:blipFill>
          <a:blip r:embed="rId5"/>
          <a:stretch>
            <a:fillRect/>
          </a:stretch>
        </p:blipFill>
        <p:spPr>
          <a:xfrm>
            <a:off x="5354298" y="829143"/>
            <a:ext cx="1986198" cy="19580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9E980938-FDB2-6BFF-E514-13F76E8320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DA6DF62-E2EB-F710-8897-84887BDF2B91}"/>
              </a:ext>
            </a:extLst>
          </p:cNvPr>
          <p:cNvSpPr/>
          <p:nvPr/>
        </p:nvSpPr>
        <p:spPr>
          <a:xfrm>
            <a:off x="0" y="0"/>
            <a:ext cx="9144000" cy="457200"/>
          </a:xfrm>
          <a:prstGeom prst="rect">
            <a:avLst/>
          </a:prstGeom>
          <a:solidFill>
            <a:srgbClr val="1A1A1A"/>
          </a:solidFill>
          <a:ln w="6350">
            <a:solidFill>
              <a:srgbClr val="3A3A3A"/>
            </a:solidFill>
            <a:prstDash val="solid"/>
          </a:ln>
        </p:spPr>
      </p:sp>
      <p:sp>
        <p:nvSpPr>
          <p:cNvPr id="3" name="Shape 1">
            <a:extLst>
              <a:ext uri="{FF2B5EF4-FFF2-40B4-BE49-F238E27FC236}">
                <a16:creationId xmlns:a16="http://schemas.microsoft.com/office/drawing/2014/main" id="{3A7A98F6-C346-6E32-4491-BCB5065389AD}"/>
              </a:ext>
            </a:extLst>
          </p:cNvPr>
          <p:cNvSpPr/>
          <p:nvPr/>
        </p:nvSpPr>
        <p:spPr>
          <a:xfrm>
            <a:off x="182880" y="128016"/>
            <a:ext cx="164592" cy="164592"/>
          </a:xfrm>
          <a:prstGeom prst="ellipse">
            <a:avLst/>
          </a:prstGeom>
          <a:solidFill>
            <a:srgbClr val="FF5F57"/>
          </a:solidFill>
          <a:ln w="12700">
            <a:solidFill>
              <a:srgbClr val="FF5F57"/>
            </a:solidFill>
            <a:prstDash val="solid"/>
          </a:ln>
        </p:spPr>
      </p:sp>
      <p:sp>
        <p:nvSpPr>
          <p:cNvPr id="4" name="Shape 2">
            <a:extLst>
              <a:ext uri="{FF2B5EF4-FFF2-40B4-BE49-F238E27FC236}">
                <a16:creationId xmlns:a16="http://schemas.microsoft.com/office/drawing/2014/main" id="{04E900E3-0ECC-8656-3BA7-925A5C2C8414}"/>
              </a:ext>
            </a:extLst>
          </p:cNvPr>
          <p:cNvSpPr/>
          <p:nvPr/>
        </p:nvSpPr>
        <p:spPr>
          <a:xfrm>
            <a:off x="438912" y="128016"/>
            <a:ext cx="164592" cy="164592"/>
          </a:xfrm>
          <a:prstGeom prst="ellipse">
            <a:avLst/>
          </a:prstGeom>
          <a:solidFill>
            <a:srgbClr val="FFBD2E"/>
          </a:solidFill>
          <a:ln w="12700">
            <a:solidFill>
              <a:srgbClr val="FFBD2E"/>
            </a:solidFill>
            <a:prstDash val="solid"/>
          </a:ln>
        </p:spPr>
      </p:sp>
      <p:sp>
        <p:nvSpPr>
          <p:cNvPr id="5" name="Shape 3">
            <a:extLst>
              <a:ext uri="{FF2B5EF4-FFF2-40B4-BE49-F238E27FC236}">
                <a16:creationId xmlns:a16="http://schemas.microsoft.com/office/drawing/2014/main" id="{09C36ECE-6A8D-D019-6CE7-E46381D5A54E}"/>
              </a:ext>
            </a:extLst>
          </p:cNvPr>
          <p:cNvSpPr/>
          <p:nvPr/>
        </p:nvSpPr>
        <p:spPr>
          <a:xfrm>
            <a:off x="694944" y="128016"/>
            <a:ext cx="164592" cy="164592"/>
          </a:xfrm>
          <a:prstGeom prst="ellipse">
            <a:avLst/>
          </a:prstGeom>
          <a:solidFill>
            <a:srgbClr val="28C840"/>
          </a:solidFill>
          <a:ln w="12700">
            <a:solidFill>
              <a:srgbClr val="28C840"/>
            </a:solidFill>
            <a:prstDash val="solid"/>
          </a:ln>
        </p:spPr>
      </p:sp>
      <p:sp>
        <p:nvSpPr>
          <p:cNvPr id="6" name="Text 4">
            <a:extLst>
              <a:ext uri="{FF2B5EF4-FFF2-40B4-BE49-F238E27FC236}">
                <a16:creationId xmlns:a16="http://schemas.microsoft.com/office/drawing/2014/main" id="{9FF81F26-E2D8-4E70-10D6-AC03810A0FEC}"/>
              </a:ext>
            </a:extLst>
          </p:cNvPr>
          <p:cNvSpPr/>
          <p:nvPr/>
        </p:nvSpPr>
        <p:spPr>
          <a:xfrm>
            <a:off x="1097280" y="91440"/>
            <a:ext cx="640080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JetBrains Mono" pitchFamily="34" charset="0"/>
                <a:ea typeface="JetBrains Mono" pitchFamily="34" charset="-122"/>
                <a:cs typeface="JetBrains Mono" pitchFamily="34" charset="-120"/>
              </a:rPr>
              <a:t>terminal — bash</a:t>
            </a:r>
            <a:endParaRPr lang="en-US" sz="1000" dirty="0"/>
          </a:p>
        </p:txBody>
      </p:sp>
      <p:sp>
        <p:nvSpPr>
          <p:cNvPr id="7" name="Shape 5">
            <a:extLst>
              <a:ext uri="{FF2B5EF4-FFF2-40B4-BE49-F238E27FC236}">
                <a16:creationId xmlns:a16="http://schemas.microsoft.com/office/drawing/2014/main" id="{A30DF355-FD8C-9676-4031-58F03747D350}"/>
              </a:ext>
            </a:extLst>
          </p:cNvPr>
          <p:cNvSpPr/>
          <p:nvPr/>
        </p:nvSpPr>
        <p:spPr>
          <a:xfrm>
            <a:off x="0" y="457200"/>
            <a:ext cx="9144000" cy="4160520"/>
          </a:xfrm>
          <a:prstGeom prst="rect">
            <a:avLst/>
          </a:prstGeom>
          <a:solidFill>
            <a:srgbClr val="0D0D0D"/>
          </a:solidFill>
          <a:ln w="12700">
            <a:solidFill>
              <a:srgbClr val="0D0D0D"/>
            </a:solidFill>
            <a:prstDash val="solid"/>
          </a:ln>
        </p:spPr>
      </p:sp>
      <p:sp>
        <p:nvSpPr>
          <p:cNvPr id="8" name="Text 6">
            <a:extLst>
              <a:ext uri="{FF2B5EF4-FFF2-40B4-BE49-F238E27FC236}">
                <a16:creationId xmlns:a16="http://schemas.microsoft.com/office/drawing/2014/main" id="{FD495620-E57A-7B25-AAA5-DCA4335FC602}"/>
              </a:ext>
            </a:extLst>
          </p:cNvPr>
          <p:cNvSpPr/>
          <p:nvPr/>
        </p:nvSpPr>
        <p:spPr>
          <a:xfrm>
            <a:off x="347023" y="608413"/>
            <a:ext cx="8431217" cy="3734987"/>
          </a:xfrm>
          <a:prstGeom prst="rect">
            <a:avLst/>
          </a:prstGeom>
          <a:noFill/>
          <a:ln/>
        </p:spPr>
        <p:txBody>
          <a:bodyPr wrap="square" lIns="91440" tIns="45720" rIns="91440" bIns="45720" rtlCol="0" anchor="t"/>
          <a:lstStyle/>
          <a:p>
            <a:r>
              <a:rPr lang="en-US" sz="1400" b="1" dirty="0">
                <a:solidFill>
                  <a:srgbClr val="FF0000"/>
                </a:solidFill>
                <a:latin typeface="JetBrains Mono"/>
                <a:ea typeface="JetBrains Mono"/>
                <a:cs typeface="JetBrains Mono" pitchFamily="34" charset="-120"/>
              </a:rPr>
              <a:t>$ </a:t>
            </a:r>
            <a:r>
              <a:rPr lang="en-US" sz="1400">
                <a:solidFill>
                  <a:srgbClr val="AAAAAA"/>
                </a:solidFill>
                <a:latin typeface="JetBrains Mono"/>
              </a:rPr>
              <a:t>JARGON</a:t>
            </a:r>
            <a:endParaRPr lang="en-US" sz="1400">
              <a:latin typeface="Courier New"/>
              <a:cs typeface="Courier New"/>
            </a:endParaRPr>
          </a:p>
          <a:p>
            <a:r>
              <a:rPr lang="en-US" sz="1400" b="1">
                <a:solidFill>
                  <a:srgbClr val="FF0000"/>
                </a:solidFill>
                <a:latin typeface="JetBrains Mono"/>
                <a:cs typeface="Courier New"/>
              </a:rPr>
              <a:t>[+] </a:t>
            </a:r>
            <a:r>
              <a:rPr lang="en-US" sz="1400">
                <a:solidFill>
                  <a:srgbClr val="FF0000"/>
                </a:solidFill>
                <a:latin typeface="JetBrains Mono"/>
                <a:cs typeface="Courier New"/>
              </a:rPr>
              <a:t>Dataset: a collection of examples used for training or evaluation</a:t>
            </a:r>
            <a:endParaRPr lang="en-US" sz="1400">
              <a:solidFill>
                <a:srgbClr val="FF0000"/>
              </a:solidFill>
              <a:latin typeface="Courier New"/>
              <a:cs typeface="Courier New"/>
            </a:endParaRPr>
          </a:p>
          <a:p>
            <a:r>
              <a:rPr lang="en-US" sz="1400" b="1">
                <a:solidFill>
                  <a:srgbClr val="FF0000"/>
                </a:solidFill>
                <a:latin typeface="Courier New"/>
                <a:cs typeface="Courier New"/>
              </a:rPr>
              <a:t>[+] </a:t>
            </a:r>
            <a:r>
              <a:rPr lang="en-US" sz="1400">
                <a:solidFill>
                  <a:srgbClr val="FF0000"/>
                </a:solidFill>
                <a:latin typeface="JetBrains Mono"/>
                <a:cs typeface="Courier New"/>
              </a:rPr>
              <a:t>Feature: an input used by the model to make a prediction</a:t>
            </a:r>
            <a:endParaRPr lang="en-US">
              <a:solidFill>
                <a:srgbClr val="FF0000"/>
              </a:solidFill>
              <a:latin typeface="JetBrains Mono"/>
              <a:ea typeface="JetBrains Mono"/>
              <a:cs typeface="Courier New"/>
            </a:endParaRPr>
          </a:p>
          <a:p>
            <a:r>
              <a:rPr lang="en-US" sz="1400" b="1">
                <a:solidFill>
                  <a:srgbClr val="FF0000"/>
                </a:solidFill>
                <a:latin typeface="Courier New"/>
                <a:ea typeface="+mn-lt"/>
                <a:cs typeface="Courier New"/>
              </a:rPr>
              <a:t>[+] </a:t>
            </a:r>
            <a:r>
              <a:rPr lang="en-US" sz="1400">
                <a:solidFill>
                  <a:srgbClr val="FF0000"/>
                </a:solidFill>
                <a:latin typeface="JetBrains Mono"/>
                <a:ea typeface="+mn-lt"/>
                <a:cs typeface="Courier New"/>
              </a:rPr>
              <a:t>Label: the correct class or category for an example</a:t>
            </a:r>
            <a:endParaRPr lang="en-US">
              <a:solidFill>
                <a:srgbClr val="FF0000"/>
              </a:solidFill>
              <a:latin typeface="Courier New"/>
              <a:ea typeface="JetBrains Mono"/>
              <a:cs typeface="Courier New"/>
            </a:endParaRPr>
          </a:p>
          <a:p>
            <a:r>
              <a:rPr lang="en-US" sz="1400" b="1" dirty="0">
                <a:solidFill>
                  <a:srgbClr val="FF0000"/>
                </a:solidFill>
                <a:latin typeface="Courier New"/>
                <a:ea typeface="+mn-lt"/>
                <a:cs typeface="Courier New"/>
              </a:rPr>
              <a:t>[+] </a:t>
            </a:r>
            <a:r>
              <a:rPr lang="en-US" sz="1400" dirty="0">
                <a:solidFill>
                  <a:srgbClr val="FF0000"/>
                </a:solidFill>
                <a:latin typeface="JetBrains Mono"/>
                <a:ea typeface="+mn-lt"/>
                <a:cs typeface="Courier New"/>
              </a:rPr>
              <a:t>Classification: predicting one class from a set of </a:t>
            </a:r>
            <a:r>
              <a:rPr lang="en-US" sz="1400">
                <a:solidFill>
                  <a:srgbClr val="FF0000"/>
                </a:solidFill>
                <a:latin typeface="JetBrains Mono"/>
                <a:ea typeface="+mn-lt"/>
                <a:cs typeface="Courier New"/>
              </a:rPr>
              <a:t>potential classes</a:t>
            </a:r>
            <a:endParaRPr lang="en-US">
              <a:solidFill>
                <a:srgbClr val="FF0000"/>
              </a:solidFill>
              <a:latin typeface="Courier New"/>
              <a:ea typeface="JetBrains Mono"/>
              <a:cs typeface="Courier New"/>
            </a:endParaRPr>
          </a:p>
          <a:p>
            <a:r>
              <a:rPr lang="en-US" sz="1400" b="1" dirty="0">
                <a:solidFill>
                  <a:srgbClr val="FF0000"/>
                </a:solidFill>
                <a:latin typeface="Courier New"/>
                <a:ea typeface="+mn-lt"/>
                <a:cs typeface="Courier New"/>
              </a:rPr>
              <a:t>[+] </a:t>
            </a:r>
            <a:r>
              <a:rPr lang="en-US" sz="1400">
                <a:solidFill>
                  <a:srgbClr val="FF0000"/>
                </a:solidFill>
                <a:latin typeface="JetBrains Mono"/>
                <a:ea typeface="+mn-lt"/>
                <a:cs typeface="Courier New"/>
              </a:rPr>
              <a:t>Supervised learning: training with examples using correct labels</a:t>
            </a:r>
            <a:endParaRPr lang="en-US">
              <a:solidFill>
                <a:srgbClr val="FF0000"/>
              </a:solidFill>
              <a:latin typeface="Courier New"/>
              <a:ea typeface="JetBrains Mono"/>
              <a:cs typeface="Courier New"/>
            </a:endParaRPr>
          </a:p>
          <a:p>
            <a:r>
              <a:rPr lang="en-US" sz="1400" b="1" dirty="0">
                <a:solidFill>
                  <a:srgbClr val="FF0000"/>
                </a:solidFill>
                <a:latin typeface="Courier New"/>
                <a:ea typeface="+mn-lt"/>
                <a:cs typeface="Courier New"/>
              </a:rPr>
              <a:t>[+] </a:t>
            </a:r>
            <a:r>
              <a:rPr lang="en-US" sz="1400" dirty="0">
                <a:solidFill>
                  <a:srgbClr val="FF0000"/>
                </a:solidFill>
                <a:latin typeface="JetBrains Mono"/>
                <a:ea typeface="+mn-lt"/>
                <a:cs typeface="Courier New"/>
              </a:rPr>
              <a:t>Unsupervised Learning: using pattern recognition and predictive modelling on </a:t>
            </a:r>
            <a:r>
              <a:rPr lang="en-US" sz="1400">
                <a:solidFill>
                  <a:srgbClr val="FF0000"/>
                </a:solidFill>
                <a:latin typeface="JetBrains Mono"/>
                <a:ea typeface="+mn-lt"/>
                <a:cs typeface="Courier New"/>
              </a:rPr>
              <a:t>unlabeled</a:t>
            </a:r>
            <a:r>
              <a:rPr lang="en-US" sz="1400" dirty="0">
                <a:solidFill>
                  <a:srgbClr val="FF0000"/>
                </a:solidFill>
                <a:latin typeface="JetBrains Mono"/>
                <a:ea typeface="+mn-lt"/>
                <a:cs typeface="Courier New"/>
              </a:rPr>
              <a:t> data</a:t>
            </a:r>
            <a:endParaRPr lang="en-US">
              <a:solidFill>
                <a:srgbClr val="FF0000"/>
              </a:solidFill>
              <a:latin typeface="Courier New"/>
              <a:ea typeface="JetBrains Mono"/>
              <a:cs typeface="Courier New"/>
            </a:endParaRPr>
          </a:p>
          <a:p>
            <a:r>
              <a:rPr lang="en-US" sz="1400" b="1">
                <a:solidFill>
                  <a:srgbClr val="FF0000"/>
                </a:solidFill>
                <a:latin typeface="Courier New"/>
                <a:ea typeface="+mn-lt"/>
                <a:cs typeface="Courier New"/>
              </a:rPr>
              <a:t>[+] </a:t>
            </a:r>
            <a:r>
              <a:rPr lang="en-US" sz="1400">
                <a:solidFill>
                  <a:srgbClr val="FF0000"/>
                </a:solidFill>
                <a:latin typeface="JetBrains Mono"/>
                <a:ea typeface="+mn-lt"/>
                <a:cs typeface="Courier New"/>
              </a:rPr>
              <a:t>Self-supervised learning: the model uses algorithms to predict what labels should be</a:t>
            </a:r>
            <a:endParaRPr lang="en-US">
              <a:solidFill>
                <a:srgbClr val="FF0000"/>
              </a:solidFill>
              <a:latin typeface="Courier New"/>
              <a:ea typeface="JetBrains Mono"/>
              <a:cs typeface="Courier New"/>
            </a:endParaRPr>
          </a:p>
          <a:p>
            <a:r>
              <a:rPr lang="en-US" sz="1400" b="1">
                <a:solidFill>
                  <a:srgbClr val="FF0000"/>
                </a:solidFill>
                <a:latin typeface="Courier New"/>
                <a:ea typeface="+mn-lt"/>
                <a:cs typeface="Courier New"/>
              </a:rPr>
              <a:t>[+] </a:t>
            </a:r>
            <a:r>
              <a:rPr lang="en-US" sz="1400">
                <a:solidFill>
                  <a:srgbClr val="FF0000"/>
                </a:solidFill>
                <a:latin typeface="JetBrains Mono"/>
                <a:ea typeface="+mn-lt"/>
                <a:cs typeface="Courier New"/>
              </a:rPr>
              <a:t>Reinforcement Learning: the model receives positive or negative feedback on decisions</a:t>
            </a:r>
            <a:endParaRPr lang="en-US">
              <a:solidFill>
                <a:srgbClr val="FF0000"/>
              </a:solidFill>
              <a:latin typeface="Courier New"/>
              <a:ea typeface="JetBrains Mono"/>
              <a:cs typeface="Courier New"/>
            </a:endParaRPr>
          </a:p>
          <a:p>
            <a:r>
              <a:rPr lang="en-US" sz="1400" b="1" dirty="0">
                <a:solidFill>
                  <a:srgbClr val="FF0000"/>
                </a:solidFill>
                <a:latin typeface="Courier New"/>
                <a:ea typeface="+mn-lt"/>
                <a:cs typeface="Courier New"/>
              </a:rPr>
              <a:t>[+] </a:t>
            </a:r>
            <a:r>
              <a:rPr lang="en-US" sz="1400" dirty="0">
                <a:solidFill>
                  <a:srgbClr val="FF0000"/>
                </a:solidFill>
                <a:latin typeface="JetBrains Mono"/>
                <a:ea typeface="+mn-lt"/>
                <a:cs typeface="Courier New"/>
              </a:rPr>
              <a:t>Semi-supervised Learning: the model applies labels to a large </a:t>
            </a:r>
            <a:r>
              <a:rPr lang="en-US" sz="1400">
                <a:solidFill>
                  <a:srgbClr val="FF0000"/>
                </a:solidFill>
                <a:latin typeface="JetBrains Mono"/>
                <a:ea typeface="+mn-lt"/>
                <a:cs typeface="Courier New"/>
              </a:rPr>
              <a:t>unlabeled</a:t>
            </a:r>
            <a:r>
              <a:rPr lang="en-US" sz="1400" dirty="0">
                <a:solidFill>
                  <a:srgbClr val="FF0000"/>
                </a:solidFill>
                <a:latin typeface="JetBrains Mono"/>
                <a:ea typeface="+mn-lt"/>
                <a:cs typeface="Courier New"/>
              </a:rPr>
              <a:t> dataset based on a smaller labelled dataset</a:t>
            </a:r>
            <a:endParaRPr lang="en-US">
              <a:solidFill>
                <a:srgbClr val="FF0000"/>
              </a:solidFill>
              <a:latin typeface="Courier New"/>
              <a:ea typeface="JetBrains Mono"/>
              <a:cs typeface="Courier New"/>
            </a:endParaRPr>
          </a:p>
          <a:p>
            <a:r>
              <a:rPr lang="en-US" sz="1400" b="1" dirty="0">
                <a:solidFill>
                  <a:srgbClr val="FF0000"/>
                </a:solidFill>
                <a:latin typeface="Courier New"/>
                <a:ea typeface="+mn-lt"/>
                <a:cs typeface="Courier New"/>
              </a:rPr>
              <a:t>[+] </a:t>
            </a:r>
            <a:r>
              <a:rPr lang="en-US" sz="1400">
                <a:solidFill>
                  <a:srgbClr val="FF0000"/>
                </a:solidFill>
                <a:latin typeface="JetBrains Mono"/>
                <a:ea typeface="+mn-lt"/>
                <a:cs typeface="Courier New"/>
              </a:rPr>
              <a:t>Hybrid</a:t>
            </a:r>
            <a:r>
              <a:rPr lang="en-US" sz="1400" dirty="0">
                <a:solidFill>
                  <a:srgbClr val="FF0000"/>
                </a:solidFill>
                <a:latin typeface="JetBrains Mono"/>
                <a:ea typeface="+mn-lt"/>
                <a:cs typeface="Courier New"/>
              </a:rPr>
              <a:t> Learning: this method uses a combination of techniques</a:t>
            </a:r>
            <a:endParaRPr lang="en-US">
              <a:solidFill>
                <a:srgbClr val="FF0000"/>
              </a:solidFill>
              <a:latin typeface="JetBrains Mono"/>
              <a:ea typeface="+mn-lt"/>
              <a:cs typeface="Courier New"/>
            </a:endParaRPr>
          </a:p>
          <a:p>
            <a:r>
              <a:rPr lang="en-US" sz="1400" b="1" dirty="0">
                <a:solidFill>
                  <a:srgbClr val="FF0000"/>
                </a:solidFill>
                <a:latin typeface="JetBrains Mono"/>
                <a:cs typeface="Courier New"/>
              </a:rPr>
              <a:t>$</a:t>
            </a:r>
            <a:r>
              <a:rPr lang="en-US" sz="1400" b="1" dirty="0">
                <a:solidFill>
                  <a:srgbClr val="FF1A1A"/>
                </a:solidFill>
                <a:latin typeface="JetBrains Mono"/>
                <a:cs typeface="Courier New"/>
              </a:rPr>
              <a:t> </a:t>
            </a:r>
            <a:r>
              <a:rPr lang="en-US" sz="1400">
                <a:solidFill>
                  <a:srgbClr val="AAAAAA"/>
                </a:solidFill>
                <a:latin typeface="JetBrains Mono"/>
                <a:cs typeface="Courier New"/>
              </a:rPr>
              <a:t>▌</a:t>
            </a:r>
            <a:endParaRPr lang="en-US" sz="1400">
              <a:solidFill>
                <a:srgbClr val="AAAAAA"/>
              </a:solidFill>
              <a:latin typeface="Courier New"/>
              <a:cs typeface="Courier New"/>
            </a:endParaRPr>
          </a:p>
        </p:txBody>
      </p:sp>
      <p:sp>
        <p:nvSpPr>
          <p:cNvPr id="9" name="Shape 7">
            <a:extLst>
              <a:ext uri="{FF2B5EF4-FFF2-40B4-BE49-F238E27FC236}">
                <a16:creationId xmlns:a16="http://schemas.microsoft.com/office/drawing/2014/main" id="{E9D4B1F1-44E9-6E81-F393-763E3A76FDF3}"/>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0" name="Text 8">
            <a:extLst>
              <a:ext uri="{FF2B5EF4-FFF2-40B4-BE49-F238E27FC236}">
                <a16:creationId xmlns:a16="http://schemas.microsoft.com/office/drawing/2014/main" id="{2925CE87-A858-FAD2-2255-91D91784E2A0}"/>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1" name="Text 9">
            <a:extLst>
              <a:ext uri="{FF2B5EF4-FFF2-40B4-BE49-F238E27FC236}">
                <a16:creationId xmlns:a16="http://schemas.microsoft.com/office/drawing/2014/main" id="{60430FCD-EB87-2E6E-4467-AA6D677853BF}"/>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ea typeface="+mn-lt"/>
                <a:cs typeface="+mn-lt"/>
              </a:rPr>
              <a:t>AI For Ethical Hackers</a:t>
            </a:r>
            <a:endParaRPr lang="en-US"/>
          </a:p>
        </p:txBody>
      </p:sp>
      <p:sp>
        <p:nvSpPr>
          <p:cNvPr id="12" name="Text 10">
            <a:extLst>
              <a:ext uri="{FF2B5EF4-FFF2-40B4-BE49-F238E27FC236}">
                <a16:creationId xmlns:a16="http://schemas.microsoft.com/office/drawing/2014/main" id="{338E1FCC-806D-4F08-A975-23948A3D77D1}"/>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extLst>
      <p:ext uri="{BB962C8B-B14F-4D97-AF65-F5344CB8AC3E}">
        <p14:creationId xmlns:p14="http://schemas.microsoft.com/office/powerpoint/2010/main" val="930635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BA9988F4-D21E-48A9-C5BD-25064EC0621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A1258F-26D9-C5C7-89E7-D6A3AB06FD4E}"/>
              </a:ext>
            </a:extLst>
          </p:cNvPr>
          <p:cNvSpPr/>
          <p:nvPr/>
        </p:nvSpPr>
        <p:spPr>
          <a:xfrm>
            <a:off x="0" y="0"/>
            <a:ext cx="9144000" cy="457200"/>
          </a:xfrm>
          <a:prstGeom prst="rect">
            <a:avLst/>
          </a:prstGeom>
          <a:solidFill>
            <a:srgbClr val="1A1A1A"/>
          </a:solidFill>
          <a:ln w="6350">
            <a:solidFill>
              <a:srgbClr val="3A3A3A"/>
            </a:solidFill>
            <a:prstDash val="solid"/>
          </a:ln>
        </p:spPr>
      </p:sp>
      <p:sp>
        <p:nvSpPr>
          <p:cNvPr id="3" name="Shape 1">
            <a:extLst>
              <a:ext uri="{FF2B5EF4-FFF2-40B4-BE49-F238E27FC236}">
                <a16:creationId xmlns:a16="http://schemas.microsoft.com/office/drawing/2014/main" id="{57113752-D059-E43A-5962-A6358F770804}"/>
              </a:ext>
            </a:extLst>
          </p:cNvPr>
          <p:cNvSpPr/>
          <p:nvPr/>
        </p:nvSpPr>
        <p:spPr>
          <a:xfrm>
            <a:off x="182880" y="128016"/>
            <a:ext cx="164592" cy="164592"/>
          </a:xfrm>
          <a:prstGeom prst="ellipse">
            <a:avLst/>
          </a:prstGeom>
          <a:solidFill>
            <a:srgbClr val="FF5F57"/>
          </a:solidFill>
          <a:ln w="12700">
            <a:solidFill>
              <a:srgbClr val="FF5F57"/>
            </a:solidFill>
            <a:prstDash val="solid"/>
          </a:ln>
        </p:spPr>
      </p:sp>
      <p:sp>
        <p:nvSpPr>
          <p:cNvPr id="4" name="Shape 2">
            <a:extLst>
              <a:ext uri="{FF2B5EF4-FFF2-40B4-BE49-F238E27FC236}">
                <a16:creationId xmlns:a16="http://schemas.microsoft.com/office/drawing/2014/main" id="{628298BD-6422-1954-FBD3-A33854435785}"/>
              </a:ext>
            </a:extLst>
          </p:cNvPr>
          <p:cNvSpPr/>
          <p:nvPr/>
        </p:nvSpPr>
        <p:spPr>
          <a:xfrm>
            <a:off x="438912" y="128016"/>
            <a:ext cx="164592" cy="164592"/>
          </a:xfrm>
          <a:prstGeom prst="ellipse">
            <a:avLst/>
          </a:prstGeom>
          <a:solidFill>
            <a:srgbClr val="FFBD2E"/>
          </a:solidFill>
          <a:ln w="12700">
            <a:solidFill>
              <a:srgbClr val="FFBD2E"/>
            </a:solidFill>
            <a:prstDash val="solid"/>
          </a:ln>
        </p:spPr>
      </p:sp>
      <p:sp>
        <p:nvSpPr>
          <p:cNvPr id="5" name="Shape 3">
            <a:extLst>
              <a:ext uri="{FF2B5EF4-FFF2-40B4-BE49-F238E27FC236}">
                <a16:creationId xmlns:a16="http://schemas.microsoft.com/office/drawing/2014/main" id="{E9237D17-EAB9-02D3-74E8-25C7156868A2}"/>
              </a:ext>
            </a:extLst>
          </p:cNvPr>
          <p:cNvSpPr/>
          <p:nvPr/>
        </p:nvSpPr>
        <p:spPr>
          <a:xfrm>
            <a:off x="694944" y="128016"/>
            <a:ext cx="164592" cy="164592"/>
          </a:xfrm>
          <a:prstGeom prst="ellipse">
            <a:avLst/>
          </a:prstGeom>
          <a:solidFill>
            <a:srgbClr val="28C840"/>
          </a:solidFill>
          <a:ln w="12700">
            <a:solidFill>
              <a:srgbClr val="28C840"/>
            </a:solidFill>
            <a:prstDash val="solid"/>
          </a:ln>
        </p:spPr>
      </p:sp>
      <p:sp>
        <p:nvSpPr>
          <p:cNvPr id="6" name="Text 4">
            <a:extLst>
              <a:ext uri="{FF2B5EF4-FFF2-40B4-BE49-F238E27FC236}">
                <a16:creationId xmlns:a16="http://schemas.microsoft.com/office/drawing/2014/main" id="{4D9805AE-7975-4DF0-CF06-0BCDA5D66FD5}"/>
              </a:ext>
            </a:extLst>
          </p:cNvPr>
          <p:cNvSpPr/>
          <p:nvPr/>
        </p:nvSpPr>
        <p:spPr>
          <a:xfrm>
            <a:off x="1097280" y="91440"/>
            <a:ext cx="640080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JetBrains Mono" pitchFamily="34" charset="0"/>
                <a:ea typeface="JetBrains Mono" pitchFamily="34" charset="-122"/>
                <a:cs typeface="JetBrains Mono" pitchFamily="34" charset="-120"/>
              </a:rPr>
              <a:t>terminal — bash</a:t>
            </a:r>
            <a:endParaRPr lang="en-US" sz="1000" dirty="0"/>
          </a:p>
        </p:txBody>
      </p:sp>
      <p:sp>
        <p:nvSpPr>
          <p:cNvPr id="7" name="Shape 5">
            <a:extLst>
              <a:ext uri="{FF2B5EF4-FFF2-40B4-BE49-F238E27FC236}">
                <a16:creationId xmlns:a16="http://schemas.microsoft.com/office/drawing/2014/main" id="{B3C30C20-CF39-15DF-7D04-4E1F1322F2F2}"/>
              </a:ext>
            </a:extLst>
          </p:cNvPr>
          <p:cNvSpPr/>
          <p:nvPr/>
        </p:nvSpPr>
        <p:spPr>
          <a:xfrm>
            <a:off x="0" y="457200"/>
            <a:ext cx="9144000" cy="4160520"/>
          </a:xfrm>
          <a:prstGeom prst="rect">
            <a:avLst/>
          </a:prstGeom>
          <a:solidFill>
            <a:srgbClr val="0D0D0D"/>
          </a:solidFill>
          <a:ln w="12700">
            <a:solidFill>
              <a:srgbClr val="0D0D0D"/>
            </a:solidFill>
            <a:prstDash val="solid"/>
          </a:ln>
        </p:spPr>
      </p:sp>
      <p:sp>
        <p:nvSpPr>
          <p:cNvPr id="8" name="Text 6">
            <a:extLst>
              <a:ext uri="{FF2B5EF4-FFF2-40B4-BE49-F238E27FC236}">
                <a16:creationId xmlns:a16="http://schemas.microsoft.com/office/drawing/2014/main" id="{83C34F43-5EE2-A0EF-A9D3-D76F5135267B}"/>
              </a:ext>
            </a:extLst>
          </p:cNvPr>
          <p:cNvSpPr/>
          <p:nvPr/>
        </p:nvSpPr>
        <p:spPr>
          <a:xfrm>
            <a:off x="347023" y="617782"/>
            <a:ext cx="8431217" cy="3842728"/>
          </a:xfrm>
          <a:prstGeom prst="rect">
            <a:avLst/>
          </a:prstGeom>
          <a:noFill/>
          <a:ln/>
        </p:spPr>
        <p:txBody>
          <a:bodyPr wrap="square" lIns="91440" tIns="45720" rIns="91440" bIns="45720" rtlCol="0" anchor="t"/>
          <a:lstStyle/>
          <a:p>
            <a:r>
              <a:rPr lang="en-US" sz="1400" b="1" dirty="0">
                <a:solidFill>
                  <a:srgbClr val="FF1A1A"/>
                </a:solidFill>
                <a:latin typeface="JetBrains Mono"/>
                <a:ea typeface="JetBrains Mono"/>
                <a:cs typeface="JetBrains Mono" pitchFamily="34" charset="-120"/>
              </a:rPr>
              <a:t>$ </a:t>
            </a:r>
            <a:r>
              <a:rPr lang="en-US" sz="1400">
                <a:solidFill>
                  <a:srgbClr val="AAAAAA"/>
                </a:solidFill>
                <a:latin typeface="JetBrains Mono"/>
              </a:rPr>
              <a:t>JARGON [2]</a:t>
            </a:r>
            <a:endParaRPr lang="en-US" sz="1400">
              <a:latin typeface="Courier New"/>
              <a:cs typeface="Courier New"/>
            </a:endParaRPr>
          </a:p>
          <a:p>
            <a:r>
              <a:rPr lang="en-US" sz="1400" b="1" dirty="0">
                <a:solidFill>
                  <a:srgbClr val="FF0000"/>
                </a:solidFill>
                <a:latin typeface="JetBrains Mono"/>
                <a:ea typeface="+mn-lt"/>
                <a:cs typeface="Courier New"/>
              </a:rPr>
              <a:t>[+] </a:t>
            </a:r>
            <a:r>
              <a:rPr lang="en-US" sz="1400">
                <a:solidFill>
                  <a:srgbClr val="FF0000"/>
                </a:solidFill>
                <a:latin typeface="JetBrains Mono"/>
                <a:ea typeface="+mn-lt"/>
                <a:cs typeface="Courier New"/>
              </a:rPr>
              <a:t>Descriptive Analysis: to help understand what happened in the past</a:t>
            </a:r>
            <a:endParaRPr lang="en-US" sz="1400" dirty="0">
              <a:solidFill>
                <a:srgbClr val="FF0000"/>
              </a:solidFill>
              <a:latin typeface="JetBrains Mono"/>
              <a:ea typeface="+mn-lt"/>
              <a:cs typeface="Courier New"/>
            </a:endParaRPr>
          </a:p>
          <a:p>
            <a:r>
              <a:rPr lang="en-US" sz="1400" b="1" dirty="0">
                <a:solidFill>
                  <a:srgbClr val="FF0000"/>
                </a:solidFill>
                <a:latin typeface="JetBrains Mono"/>
                <a:ea typeface="+mn-lt"/>
                <a:cs typeface="Courier New"/>
              </a:rPr>
              <a:t>[+] </a:t>
            </a:r>
            <a:r>
              <a:rPr lang="en-US" sz="1400" dirty="0">
                <a:solidFill>
                  <a:srgbClr val="FF0000"/>
                </a:solidFill>
                <a:latin typeface="JetBrains Mono"/>
                <a:ea typeface="+mn-lt"/>
                <a:cs typeface="Courier New"/>
              </a:rPr>
              <a:t>Prescriptive Analysis: to automate business decisions and processes based </a:t>
            </a:r>
            <a:r>
              <a:rPr lang="en-US" sz="1400">
                <a:solidFill>
                  <a:srgbClr val="FF0000"/>
                </a:solidFill>
                <a:latin typeface="JetBrains Mono"/>
                <a:ea typeface="+mn-lt"/>
                <a:cs typeface="Courier New"/>
              </a:rPr>
              <a:t>on data</a:t>
            </a:r>
            <a:endParaRPr lang="en-US">
              <a:solidFill>
                <a:srgbClr val="FF0000"/>
              </a:solidFill>
              <a:latin typeface="JetBrains Mono"/>
              <a:ea typeface="+mn-lt"/>
              <a:cs typeface="Courier New"/>
            </a:endParaRPr>
          </a:p>
          <a:p>
            <a:r>
              <a:rPr lang="en-US" sz="1400" b="1" dirty="0">
                <a:solidFill>
                  <a:srgbClr val="FF0000"/>
                </a:solidFill>
                <a:latin typeface="JetBrains Mono"/>
                <a:ea typeface="+mn-lt"/>
                <a:cs typeface="Courier New"/>
              </a:rPr>
              <a:t>[+] </a:t>
            </a:r>
            <a:r>
              <a:rPr lang="en-US" sz="1400">
                <a:solidFill>
                  <a:srgbClr val="FF0000"/>
                </a:solidFill>
                <a:latin typeface="JetBrains Mono"/>
                <a:ea typeface="+mn-lt"/>
                <a:cs typeface="Courier New"/>
              </a:rPr>
              <a:t>Predictive Analysis: to predict future business scenarios</a:t>
            </a:r>
            <a:endParaRPr lang="en-US">
              <a:solidFill>
                <a:srgbClr val="FF0000"/>
              </a:solidFill>
              <a:latin typeface="JetBrains Mono"/>
              <a:ea typeface="+mn-lt"/>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Training set: the data used to teach the model</a:t>
            </a:r>
            <a:endParaRPr lang="en-US">
              <a:solidFill>
                <a:srgbClr val="FF0000"/>
              </a:solidFill>
              <a:latin typeface="JetBrains Mono"/>
              <a:ea typeface="+mn-lt"/>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Test set: held-out data used to measure final performance</a:t>
            </a:r>
            <a:endParaRPr lang="en-US">
              <a:solidFill>
                <a:srgbClr val="FF0000"/>
              </a:solidFill>
              <a:latin typeface="JetBrains Mono"/>
              <a:ea typeface="+mn-lt"/>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Model: a system that learns patterns from data</a:t>
            </a:r>
            <a:endParaRPr lang="en-US">
              <a:solidFill>
                <a:srgbClr val="FF0000"/>
              </a:solidFill>
              <a:latin typeface="JetBrains Mono"/>
              <a:ea typeface="+mn-lt"/>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Epoch: one full pass through the training data</a:t>
            </a:r>
            <a:endParaRPr lang="en-US">
              <a:solidFill>
                <a:srgbClr val="FF0000"/>
              </a:solidFill>
              <a:latin typeface="JetBrains Mono"/>
              <a:ea typeface="+mn-lt"/>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Batch: a small group of examples processed together</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Loss: a value showing how wrong the model is during training</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Optimizer: the algorithm that updates model weights</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Class: a pre-defined category that a value may be assigned to during classification</a:t>
            </a:r>
            <a:endParaRPr lang="en-US">
              <a:solidFill>
                <a:srgbClr val="FF0000"/>
              </a:solidFill>
              <a:latin typeface="JetBrains Mono"/>
              <a:cs typeface="Courier New"/>
            </a:endParaRPr>
          </a:p>
          <a:p>
            <a:r>
              <a:rPr lang="en-US" sz="1400" b="1" dirty="0">
                <a:solidFill>
                  <a:srgbClr val="FF0000"/>
                </a:solidFill>
                <a:latin typeface="JetBrains Mono"/>
                <a:cs typeface="Courier New"/>
              </a:rPr>
              <a:t>$</a:t>
            </a:r>
            <a:r>
              <a:rPr lang="en-US" sz="1400" b="1" dirty="0">
                <a:solidFill>
                  <a:srgbClr val="FF1A1A"/>
                </a:solidFill>
                <a:latin typeface="JetBrains Mono"/>
                <a:cs typeface="Courier New"/>
              </a:rPr>
              <a:t> </a:t>
            </a:r>
            <a:r>
              <a:rPr lang="en-US" sz="1400">
                <a:solidFill>
                  <a:srgbClr val="AAAAAA"/>
                </a:solidFill>
                <a:latin typeface="JetBrains Mono"/>
                <a:cs typeface="Courier New"/>
              </a:rPr>
              <a:t>▌</a:t>
            </a:r>
            <a:endParaRPr lang="en-US" sz="1400" dirty="0">
              <a:latin typeface="Courier New"/>
              <a:cs typeface="Courier New"/>
            </a:endParaRPr>
          </a:p>
        </p:txBody>
      </p:sp>
      <p:sp>
        <p:nvSpPr>
          <p:cNvPr id="9" name="Shape 7">
            <a:extLst>
              <a:ext uri="{FF2B5EF4-FFF2-40B4-BE49-F238E27FC236}">
                <a16:creationId xmlns:a16="http://schemas.microsoft.com/office/drawing/2014/main" id="{B51BC47B-4985-1333-C5E7-3F26EBBDFD02}"/>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0" name="Text 8">
            <a:extLst>
              <a:ext uri="{FF2B5EF4-FFF2-40B4-BE49-F238E27FC236}">
                <a16:creationId xmlns:a16="http://schemas.microsoft.com/office/drawing/2014/main" id="{D0F1A81C-49D7-D6C5-A1DA-59E908DC406A}"/>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1" name="Text 9">
            <a:extLst>
              <a:ext uri="{FF2B5EF4-FFF2-40B4-BE49-F238E27FC236}">
                <a16:creationId xmlns:a16="http://schemas.microsoft.com/office/drawing/2014/main" id="{DC1487B2-44C1-607E-B9BD-21354B8E4184}"/>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ea typeface="+mn-lt"/>
                <a:cs typeface="+mn-lt"/>
              </a:rPr>
              <a:t>AI For Ethical Hackers</a:t>
            </a:r>
            <a:endParaRPr lang="en-US"/>
          </a:p>
        </p:txBody>
      </p:sp>
      <p:sp>
        <p:nvSpPr>
          <p:cNvPr id="12" name="Text 10">
            <a:extLst>
              <a:ext uri="{FF2B5EF4-FFF2-40B4-BE49-F238E27FC236}">
                <a16:creationId xmlns:a16="http://schemas.microsoft.com/office/drawing/2014/main" id="{686A9B6C-B1E9-2122-84FE-73E926B6545C}"/>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extLst>
      <p:ext uri="{BB962C8B-B14F-4D97-AF65-F5344CB8AC3E}">
        <p14:creationId xmlns:p14="http://schemas.microsoft.com/office/powerpoint/2010/main" val="186629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C728326F-0EF3-F025-ECD2-9A143A58BB9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67880C-2135-8C8C-DEB5-022857FFC627}"/>
              </a:ext>
            </a:extLst>
          </p:cNvPr>
          <p:cNvSpPr/>
          <p:nvPr/>
        </p:nvSpPr>
        <p:spPr>
          <a:xfrm>
            <a:off x="0" y="0"/>
            <a:ext cx="9144000" cy="457200"/>
          </a:xfrm>
          <a:prstGeom prst="rect">
            <a:avLst/>
          </a:prstGeom>
          <a:solidFill>
            <a:srgbClr val="1A1A1A"/>
          </a:solidFill>
          <a:ln w="6350">
            <a:solidFill>
              <a:srgbClr val="3A3A3A"/>
            </a:solidFill>
            <a:prstDash val="solid"/>
          </a:ln>
        </p:spPr>
      </p:sp>
      <p:sp>
        <p:nvSpPr>
          <p:cNvPr id="3" name="Shape 1">
            <a:extLst>
              <a:ext uri="{FF2B5EF4-FFF2-40B4-BE49-F238E27FC236}">
                <a16:creationId xmlns:a16="http://schemas.microsoft.com/office/drawing/2014/main" id="{3EEB9873-C523-6C2B-FFA2-EAE9DDD2058C}"/>
              </a:ext>
            </a:extLst>
          </p:cNvPr>
          <p:cNvSpPr/>
          <p:nvPr/>
        </p:nvSpPr>
        <p:spPr>
          <a:xfrm>
            <a:off x="182880" y="128016"/>
            <a:ext cx="164592" cy="164592"/>
          </a:xfrm>
          <a:prstGeom prst="ellipse">
            <a:avLst/>
          </a:prstGeom>
          <a:solidFill>
            <a:srgbClr val="FF5F57"/>
          </a:solidFill>
          <a:ln w="12700">
            <a:solidFill>
              <a:srgbClr val="FF5F57"/>
            </a:solidFill>
            <a:prstDash val="solid"/>
          </a:ln>
        </p:spPr>
      </p:sp>
      <p:sp>
        <p:nvSpPr>
          <p:cNvPr id="4" name="Shape 2">
            <a:extLst>
              <a:ext uri="{FF2B5EF4-FFF2-40B4-BE49-F238E27FC236}">
                <a16:creationId xmlns:a16="http://schemas.microsoft.com/office/drawing/2014/main" id="{6911CACB-19AB-2840-44CD-3337EBDF6443}"/>
              </a:ext>
            </a:extLst>
          </p:cNvPr>
          <p:cNvSpPr/>
          <p:nvPr/>
        </p:nvSpPr>
        <p:spPr>
          <a:xfrm>
            <a:off x="438912" y="128016"/>
            <a:ext cx="164592" cy="164592"/>
          </a:xfrm>
          <a:prstGeom prst="ellipse">
            <a:avLst/>
          </a:prstGeom>
          <a:solidFill>
            <a:srgbClr val="FFBD2E"/>
          </a:solidFill>
          <a:ln w="12700">
            <a:solidFill>
              <a:srgbClr val="FFBD2E"/>
            </a:solidFill>
            <a:prstDash val="solid"/>
          </a:ln>
        </p:spPr>
      </p:sp>
      <p:sp>
        <p:nvSpPr>
          <p:cNvPr id="5" name="Shape 3">
            <a:extLst>
              <a:ext uri="{FF2B5EF4-FFF2-40B4-BE49-F238E27FC236}">
                <a16:creationId xmlns:a16="http://schemas.microsoft.com/office/drawing/2014/main" id="{F9713FD3-C562-8BFF-5B11-B637B8F83C06}"/>
              </a:ext>
            </a:extLst>
          </p:cNvPr>
          <p:cNvSpPr/>
          <p:nvPr/>
        </p:nvSpPr>
        <p:spPr>
          <a:xfrm>
            <a:off x="694944" y="128016"/>
            <a:ext cx="164592" cy="164592"/>
          </a:xfrm>
          <a:prstGeom prst="ellipse">
            <a:avLst/>
          </a:prstGeom>
          <a:solidFill>
            <a:srgbClr val="28C840"/>
          </a:solidFill>
          <a:ln w="12700">
            <a:solidFill>
              <a:srgbClr val="28C840"/>
            </a:solidFill>
            <a:prstDash val="solid"/>
          </a:ln>
        </p:spPr>
      </p:sp>
      <p:sp>
        <p:nvSpPr>
          <p:cNvPr id="6" name="Text 4">
            <a:extLst>
              <a:ext uri="{FF2B5EF4-FFF2-40B4-BE49-F238E27FC236}">
                <a16:creationId xmlns:a16="http://schemas.microsoft.com/office/drawing/2014/main" id="{20BF00E0-A428-099E-7225-B345D436E361}"/>
              </a:ext>
            </a:extLst>
          </p:cNvPr>
          <p:cNvSpPr/>
          <p:nvPr/>
        </p:nvSpPr>
        <p:spPr>
          <a:xfrm>
            <a:off x="1097280" y="91440"/>
            <a:ext cx="640080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JetBrains Mono" pitchFamily="34" charset="0"/>
                <a:ea typeface="JetBrains Mono" pitchFamily="34" charset="-122"/>
                <a:cs typeface="JetBrains Mono" pitchFamily="34" charset="-120"/>
              </a:rPr>
              <a:t>terminal — bash</a:t>
            </a:r>
            <a:endParaRPr lang="en-US" sz="1000" dirty="0"/>
          </a:p>
        </p:txBody>
      </p:sp>
      <p:sp>
        <p:nvSpPr>
          <p:cNvPr id="7" name="Shape 5">
            <a:extLst>
              <a:ext uri="{FF2B5EF4-FFF2-40B4-BE49-F238E27FC236}">
                <a16:creationId xmlns:a16="http://schemas.microsoft.com/office/drawing/2014/main" id="{42AC5617-4C5D-8A2F-CE2F-2EFF7DF097B2}"/>
              </a:ext>
            </a:extLst>
          </p:cNvPr>
          <p:cNvSpPr/>
          <p:nvPr/>
        </p:nvSpPr>
        <p:spPr>
          <a:xfrm>
            <a:off x="0" y="457200"/>
            <a:ext cx="9144000" cy="4160520"/>
          </a:xfrm>
          <a:prstGeom prst="rect">
            <a:avLst/>
          </a:prstGeom>
          <a:solidFill>
            <a:srgbClr val="0D0D0D"/>
          </a:solidFill>
          <a:ln w="12700">
            <a:solidFill>
              <a:srgbClr val="0D0D0D"/>
            </a:solidFill>
            <a:prstDash val="solid"/>
          </a:ln>
        </p:spPr>
      </p:sp>
      <p:sp>
        <p:nvSpPr>
          <p:cNvPr id="8" name="Text 6">
            <a:extLst>
              <a:ext uri="{FF2B5EF4-FFF2-40B4-BE49-F238E27FC236}">
                <a16:creationId xmlns:a16="http://schemas.microsoft.com/office/drawing/2014/main" id="{51214152-8F82-E154-84D8-FF1C03001E5A}"/>
              </a:ext>
            </a:extLst>
          </p:cNvPr>
          <p:cNvSpPr/>
          <p:nvPr/>
        </p:nvSpPr>
        <p:spPr>
          <a:xfrm>
            <a:off x="365760" y="594360"/>
            <a:ext cx="8412480" cy="3749040"/>
          </a:xfrm>
          <a:prstGeom prst="rect">
            <a:avLst/>
          </a:prstGeom>
          <a:noFill/>
          <a:ln/>
        </p:spPr>
        <p:txBody>
          <a:bodyPr wrap="square" lIns="91440" tIns="45720" rIns="91440" bIns="45720" rtlCol="0" anchor="t"/>
          <a:lstStyle/>
          <a:p>
            <a:r>
              <a:rPr lang="en-US" sz="1400" b="1" dirty="0">
                <a:solidFill>
                  <a:srgbClr val="FF1A1A"/>
                </a:solidFill>
                <a:latin typeface="JetBrains Mono"/>
                <a:ea typeface="JetBrains Mono"/>
                <a:cs typeface="JetBrains Mono" pitchFamily="34" charset="-120"/>
              </a:rPr>
              <a:t>$ </a:t>
            </a:r>
            <a:r>
              <a:rPr lang="en-US" sz="1400">
                <a:solidFill>
                  <a:srgbClr val="AAAAAA"/>
                </a:solidFill>
                <a:latin typeface="JetBrains Mono"/>
              </a:rPr>
              <a:t>JARGON [3]</a:t>
            </a:r>
            <a:endParaRPr lang="en-US" sz="1400">
              <a:latin typeface="Courier New"/>
              <a:cs typeface="Courier New"/>
            </a:endParaRPr>
          </a:p>
          <a:p>
            <a:r>
              <a:rPr lang="en-US" sz="1400" b="1" dirty="0">
                <a:solidFill>
                  <a:srgbClr val="FF0000"/>
                </a:solidFill>
                <a:latin typeface="JetBrains Mono"/>
                <a:ea typeface="+mn-lt"/>
                <a:cs typeface="Segoe UI"/>
              </a:rPr>
              <a:t>[+] </a:t>
            </a:r>
            <a:r>
              <a:rPr lang="en-US" sz="1400">
                <a:solidFill>
                  <a:srgbClr val="FF0000"/>
                </a:solidFill>
                <a:latin typeface="JetBrains Mono"/>
                <a:ea typeface="+mn-lt"/>
                <a:cs typeface="Segoe UI"/>
              </a:rPr>
              <a:t>Hyperparameter: a config variable set before training to tune the process</a:t>
            </a:r>
          </a:p>
          <a:p>
            <a:r>
              <a:rPr lang="en-US" sz="1400" b="1">
                <a:solidFill>
                  <a:srgbClr val="FF0000"/>
                </a:solidFill>
                <a:latin typeface="JetBrains Mono"/>
                <a:ea typeface="+mn-lt"/>
                <a:cs typeface="Segoe UI"/>
              </a:rPr>
              <a:t>[+] </a:t>
            </a:r>
            <a:r>
              <a:rPr lang="en-US" sz="1400">
                <a:solidFill>
                  <a:srgbClr val="FF0000"/>
                </a:solidFill>
                <a:latin typeface="JetBrains Mono"/>
                <a:ea typeface="+mn-lt"/>
                <a:cs typeface="Segoe UI"/>
              </a:rPr>
              <a:t>Inference: using a trained model to make predictions</a:t>
            </a:r>
            <a:endParaRPr lang="en-US" sz="1400">
              <a:solidFill>
                <a:srgbClr val="FF0000"/>
              </a:solidFill>
              <a:latin typeface="JetBrains Mono"/>
            </a:endParaRPr>
          </a:p>
          <a:p>
            <a:r>
              <a:rPr lang="en-US" sz="1400" b="1" dirty="0">
                <a:solidFill>
                  <a:srgbClr val="FF0000"/>
                </a:solidFill>
                <a:latin typeface="JetBrains Mono"/>
                <a:ea typeface="+mn-lt"/>
                <a:cs typeface="Segoe UI"/>
              </a:rPr>
              <a:t>[+] </a:t>
            </a:r>
            <a:r>
              <a:rPr lang="en-US" sz="1400">
                <a:solidFill>
                  <a:srgbClr val="FF0000"/>
                </a:solidFill>
                <a:latin typeface="JetBrains Mono"/>
                <a:ea typeface="+mn-lt"/>
                <a:cs typeface="Courier New"/>
              </a:rPr>
              <a:t>Parameters: numeric adjustable variables used internally during training</a:t>
            </a:r>
            <a:endParaRPr lang="en-US">
              <a:solidFill>
                <a:srgbClr val="FF0000"/>
              </a:solidFill>
              <a:latin typeface="JetBrains Mono"/>
              <a:cs typeface="Courier New"/>
            </a:endParaRPr>
          </a:p>
          <a:p>
            <a:r>
              <a:rPr lang="en-US" sz="1400" b="1" dirty="0">
                <a:solidFill>
                  <a:srgbClr val="FF0000"/>
                </a:solidFill>
                <a:latin typeface="JetBrains Mono"/>
                <a:ea typeface="+mn-lt"/>
                <a:cs typeface="Segoe UI"/>
              </a:rPr>
              <a:t>[+] </a:t>
            </a:r>
            <a:r>
              <a:rPr lang="en-US" sz="1400">
                <a:solidFill>
                  <a:srgbClr val="FF0000"/>
                </a:solidFill>
                <a:latin typeface="JetBrains Mono"/>
                <a:ea typeface="+mn-lt"/>
                <a:cs typeface="Courier New"/>
              </a:rPr>
              <a:t>Weights: tunable numeric variables used internally during training to control the </a:t>
            </a:r>
            <a:r>
              <a:rPr lang="en-US" sz="1400" dirty="0">
                <a:solidFill>
                  <a:srgbClr val="FF0000"/>
                </a:solidFill>
                <a:latin typeface="JetBrains Mono"/>
                <a:ea typeface="+mn-lt"/>
                <a:cs typeface="Courier New"/>
              </a:rPr>
              <a:t>strength of the connection between neural nodes</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NLP: Natural Language Processing</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Token: a word or word-piece used as model input</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Tokenization: splitting text into tokens</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Embedding: a numeric representation of meaning</a:t>
            </a:r>
            <a:endParaRPr lang="en-US">
              <a:solidFill>
                <a:srgbClr val="FF0000"/>
              </a:solidFill>
              <a:latin typeface="JetBrains Mono"/>
              <a:cs typeface="Courier New"/>
            </a:endParaRPr>
          </a:p>
          <a:p>
            <a:r>
              <a:rPr lang="en-US" sz="1400" b="1">
                <a:solidFill>
                  <a:srgbClr val="FF0000"/>
                </a:solidFill>
                <a:latin typeface="JetBrains Mono"/>
                <a:ea typeface="+mn-lt"/>
                <a:cs typeface="Courier New"/>
              </a:rPr>
              <a:t>[+] </a:t>
            </a:r>
            <a:r>
              <a:rPr lang="en-US" sz="1400">
                <a:solidFill>
                  <a:srgbClr val="FF0000"/>
                </a:solidFill>
                <a:latin typeface="JetBrains Mono"/>
                <a:ea typeface="+mn-lt"/>
                <a:cs typeface="Courier New"/>
              </a:rPr>
              <a:t>Transformer: a neural network architecture built around attention</a:t>
            </a:r>
            <a:endParaRPr lang="en-US">
              <a:solidFill>
                <a:srgbClr val="FF0000"/>
              </a:solidFill>
              <a:latin typeface="JetBrains Mono"/>
              <a:cs typeface="Courier New"/>
            </a:endParaRPr>
          </a:p>
          <a:p>
            <a:r>
              <a:rPr lang="en-US" sz="1400" b="1">
                <a:solidFill>
                  <a:srgbClr val="FF0000"/>
                </a:solidFill>
                <a:latin typeface="Courier New"/>
                <a:ea typeface="+mn-lt"/>
                <a:cs typeface="Courier New"/>
              </a:rPr>
              <a:t>[+] </a:t>
            </a:r>
            <a:r>
              <a:rPr lang="en-US" sz="1400">
                <a:solidFill>
                  <a:srgbClr val="FF0000"/>
                </a:solidFill>
                <a:latin typeface="JetBrains Mono"/>
                <a:ea typeface="+mn-lt"/>
                <a:cs typeface="Courier New"/>
              </a:rPr>
              <a:t>Baseline model: a simple model used to evaluate the performance of more complex algorithms</a:t>
            </a:r>
            <a:endParaRPr lang="en-US">
              <a:solidFill>
                <a:srgbClr val="FF0000"/>
              </a:solidFill>
              <a:latin typeface="JetBrains Mono"/>
              <a:cs typeface="Courier New"/>
            </a:endParaRPr>
          </a:p>
          <a:p>
            <a:r>
              <a:rPr lang="en-US" sz="1400" b="1">
                <a:solidFill>
                  <a:srgbClr val="FF0000"/>
                </a:solidFill>
                <a:latin typeface="Courier New"/>
                <a:ea typeface="+mn-lt"/>
                <a:cs typeface="Courier New"/>
              </a:rPr>
              <a:t>[+] </a:t>
            </a:r>
            <a:r>
              <a:rPr lang="en-US" sz="1400">
                <a:solidFill>
                  <a:srgbClr val="FF0000"/>
                </a:solidFill>
                <a:latin typeface="JetBrains Mono"/>
                <a:ea typeface="+mn-lt"/>
                <a:cs typeface="Courier New"/>
              </a:rPr>
              <a:t>Pretrained model: a model trained earlier on a large set of general text</a:t>
            </a:r>
            <a:endParaRPr lang="en-US">
              <a:solidFill>
                <a:srgbClr val="FF0000"/>
              </a:solidFill>
              <a:latin typeface="JetBrains Mono"/>
              <a:cs typeface="Courier New"/>
            </a:endParaRPr>
          </a:p>
          <a:p>
            <a:r>
              <a:rPr lang="en-US" sz="1400" b="1">
                <a:solidFill>
                  <a:srgbClr val="FF0000"/>
                </a:solidFill>
                <a:latin typeface="Courier New"/>
                <a:ea typeface="+mn-lt"/>
                <a:cs typeface="Courier New"/>
              </a:rPr>
              <a:t>[+] </a:t>
            </a:r>
            <a:r>
              <a:rPr lang="en-US" sz="1400">
                <a:solidFill>
                  <a:srgbClr val="FF0000"/>
                </a:solidFill>
                <a:latin typeface="JetBrains Mono"/>
                <a:ea typeface="+mn-lt"/>
                <a:cs typeface="Courier New"/>
              </a:rPr>
              <a:t>Fine-tuning: adapting a pretrained model to a specific task</a:t>
            </a:r>
            <a:endParaRPr lang="en-US">
              <a:solidFill>
                <a:srgbClr val="FF0000"/>
              </a:solidFill>
              <a:latin typeface="JetBrains Mono"/>
              <a:cs typeface="Courier New"/>
            </a:endParaRPr>
          </a:p>
          <a:p>
            <a:r>
              <a:rPr lang="en-US" sz="1400" b="1" dirty="0">
                <a:solidFill>
                  <a:srgbClr val="FF0000"/>
                </a:solidFill>
                <a:latin typeface="JetBrains Mono"/>
                <a:cs typeface="Courier New"/>
              </a:rPr>
              <a:t>$</a:t>
            </a:r>
            <a:r>
              <a:rPr lang="en-US" sz="1400" b="1" dirty="0">
                <a:solidFill>
                  <a:srgbClr val="FF1A1A"/>
                </a:solidFill>
                <a:latin typeface="JetBrains Mono"/>
                <a:cs typeface="Courier New"/>
              </a:rPr>
              <a:t> </a:t>
            </a:r>
            <a:r>
              <a:rPr lang="en-US" sz="1400">
                <a:solidFill>
                  <a:srgbClr val="AAAAAA"/>
                </a:solidFill>
                <a:latin typeface="JetBrains Mono"/>
                <a:cs typeface="Courier New"/>
              </a:rPr>
              <a:t>▌</a:t>
            </a:r>
            <a:endParaRPr lang="en-US" sz="1400" dirty="0">
              <a:latin typeface="Courier New"/>
              <a:cs typeface="Courier New"/>
            </a:endParaRPr>
          </a:p>
        </p:txBody>
      </p:sp>
      <p:sp>
        <p:nvSpPr>
          <p:cNvPr id="9" name="Shape 7">
            <a:extLst>
              <a:ext uri="{FF2B5EF4-FFF2-40B4-BE49-F238E27FC236}">
                <a16:creationId xmlns:a16="http://schemas.microsoft.com/office/drawing/2014/main" id="{F45C9A40-FD4A-F06D-26B3-6479CADA16E4}"/>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0" name="Text 8">
            <a:extLst>
              <a:ext uri="{FF2B5EF4-FFF2-40B4-BE49-F238E27FC236}">
                <a16:creationId xmlns:a16="http://schemas.microsoft.com/office/drawing/2014/main" id="{B8B5C176-9D15-F7FB-6216-33D50A9A91A1}"/>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1" name="Text 9">
            <a:extLst>
              <a:ext uri="{FF2B5EF4-FFF2-40B4-BE49-F238E27FC236}">
                <a16:creationId xmlns:a16="http://schemas.microsoft.com/office/drawing/2014/main" id="{603CEA93-2CF6-93A5-D9C1-9B3475C64D0F}"/>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ea typeface="+mn-lt"/>
                <a:cs typeface="+mn-lt"/>
              </a:rPr>
              <a:t>AI For Ethical Hackers</a:t>
            </a:r>
            <a:endParaRPr lang="en-US"/>
          </a:p>
        </p:txBody>
      </p:sp>
      <p:sp>
        <p:nvSpPr>
          <p:cNvPr id="12" name="Text 10">
            <a:extLst>
              <a:ext uri="{FF2B5EF4-FFF2-40B4-BE49-F238E27FC236}">
                <a16:creationId xmlns:a16="http://schemas.microsoft.com/office/drawing/2014/main" id="{268EA890-2AB2-6610-CA27-509B265711BD}"/>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extLst>
      <p:ext uri="{BB962C8B-B14F-4D97-AF65-F5344CB8AC3E}">
        <p14:creationId xmlns:p14="http://schemas.microsoft.com/office/powerpoint/2010/main" val="3441331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C0000"/>
          </a:solidFill>
          <a:ln w="12700">
            <a:solidFill>
              <a:srgbClr val="CC0000"/>
            </a:solidFill>
            <a:prstDash val="solid"/>
          </a:ln>
        </p:spPr>
      </p:sp>
      <p:sp>
        <p:nvSpPr>
          <p:cNvPr id="3" name="Text 1"/>
          <p:cNvSpPr/>
          <p:nvPr/>
        </p:nvSpPr>
        <p:spPr>
          <a:xfrm>
            <a:off x="137160" y="164592"/>
            <a:ext cx="8869680" cy="502920"/>
          </a:xfrm>
          <a:prstGeom prst="rect">
            <a:avLst/>
          </a:prstGeom>
          <a:noFill/>
          <a:ln/>
        </p:spPr>
        <p:txBody>
          <a:bodyPr wrap="square" lIns="0" tIns="0" rIns="0" bIns="0" rtlCol="0" anchor="ctr"/>
          <a:lstStyle/>
          <a:p>
            <a:r>
              <a:rPr lang="en-US" sz="2600" b="1">
                <a:solidFill>
                  <a:srgbClr val="F0EDE8"/>
                </a:solidFill>
                <a:latin typeface="Arial Black"/>
              </a:rPr>
              <a:t>Machine Learning</a:t>
            </a:r>
            <a:endParaRPr lang="en-US" sz="2600" dirty="0"/>
          </a:p>
        </p:txBody>
      </p:sp>
      <p:sp>
        <p:nvSpPr>
          <p:cNvPr id="4" name="Shape 2"/>
          <p:cNvSpPr/>
          <p:nvPr/>
        </p:nvSpPr>
        <p:spPr>
          <a:xfrm>
            <a:off x="182880" y="822960"/>
            <a:ext cx="2834640" cy="3749040"/>
          </a:xfrm>
          <a:prstGeom prst="rect">
            <a:avLst/>
          </a:prstGeom>
          <a:solidFill>
            <a:srgbClr val="1E1E1E"/>
          </a:solidFill>
          <a:ln w="6350">
            <a:solidFill>
              <a:srgbClr val="3A3A3A"/>
            </a:solidFill>
            <a:prstDash val="solid"/>
          </a:ln>
        </p:spPr>
      </p:sp>
      <p:sp>
        <p:nvSpPr>
          <p:cNvPr id="5" name="Shape 3"/>
          <p:cNvSpPr/>
          <p:nvPr/>
        </p:nvSpPr>
        <p:spPr>
          <a:xfrm>
            <a:off x="182880" y="822960"/>
            <a:ext cx="2834640" cy="64008"/>
          </a:xfrm>
          <a:prstGeom prst="rect">
            <a:avLst/>
          </a:prstGeom>
          <a:solidFill>
            <a:srgbClr val="CC0000"/>
          </a:solidFill>
          <a:ln w="12700">
            <a:solidFill>
              <a:srgbClr val="CC0000"/>
            </a:solidFill>
            <a:prstDash val="solid"/>
          </a:ln>
        </p:spPr>
      </p:sp>
      <p:sp>
        <p:nvSpPr>
          <p:cNvPr id="6" name="Text 4"/>
          <p:cNvSpPr/>
          <p:nvPr/>
        </p:nvSpPr>
        <p:spPr>
          <a:xfrm>
            <a:off x="320040" y="960120"/>
            <a:ext cx="2560320" cy="594360"/>
          </a:xfrm>
          <a:prstGeom prst="rect">
            <a:avLst/>
          </a:prstGeom>
          <a:noFill/>
          <a:ln/>
        </p:spPr>
        <p:txBody>
          <a:bodyPr wrap="square" lIns="0" tIns="0" rIns="0" bIns="0" rtlCol="0" anchor="ctr"/>
          <a:lstStyle/>
          <a:p>
            <a:pPr marL="0" indent="0" algn="l">
              <a:buNone/>
            </a:pPr>
            <a:r>
              <a:rPr lang="en-US" sz="3600" b="1">
                <a:solidFill>
                  <a:srgbClr val="7A0000"/>
                </a:solidFill>
                <a:latin typeface="Arial Black"/>
              </a:rPr>
              <a:t>01</a:t>
            </a:r>
            <a:endParaRPr lang="en-US" sz="3600" b="1" dirty="0">
              <a:solidFill>
                <a:srgbClr val="7A0000"/>
              </a:solidFill>
              <a:latin typeface="Arial Black"/>
            </a:endParaRPr>
          </a:p>
        </p:txBody>
      </p:sp>
      <p:sp>
        <p:nvSpPr>
          <p:cNvPr id="7" name="Text 5"/>
          <p:cNvSpPr/>
          <p:nvPr/>
        </p:nvSpPr>
        <p:spPr>
          <a:xfrm>
            <a:off x="320040" y="1554480"/>
            <a:ext cx="2560320" cy="457200"/>
          </a:xfrm>
          <a:prstGeom prst="rect">
            <a:avLst/>
          </a:prstGeom>
          <a:noFill/>
          <a:ln/>
        </p:spPr>
        <p:txBody>
          <a:bodyPr wrap="square" lIns="0" tIns="0" rIns="0" bIns="0" rtlCol="0" anchor="ctr"/>
          <a:lstStyle/>
          <a:p>
            <a:pPr marL="0" indent="0" algn="l">
              <a:buNone/>
            </a:pPr>
            <a:r>
              <a:rPr lang="en-US" sz="1300" b="1">
                <a:solidFill>
                  <a:srgbClr val="FF1A1A"/>
                </a:solidFill>
                <a:latin typeface="JetBrains Mono"/>
              </a:rPr>
              <a:t>Supervised</a:t>
            </a:r>
            <a:endParaRPr lang="en-US" sz="1300" dirty="0"/>
          </a:p>
        </p:txBody>
      </p:sp>
      <p:sp>
        <p:nvSpPr>
          <p:cNvPr id="8" name="Shape 6"/>
          <p:cNvSpPr/>
          <p:nvPr/>
        </p:nvSpPr>
        <p:spPr>
          <a:xfrm>
            <a:off x="320040" y="2084832"/>
            <a:ext cx="2560320" cy="36576"/>
          </a:xfrm>
          <a:prstGeom prst="rect">
            <a:avLst/>
          </a:prstGeom>
          <a:solidFill>
            <a:srgbClr val="3A3A3A"/>
          </a:solidFill>
          <a:ln w="12700">
            <a:solidFill>
              <a:srgbClr val="3A3A3A"/>
            </a:solidFill>
            <a:prstDash val="solid"/>
          </a:ln>
        </p:spPr>
      </p:sp>
      <p:sp>
        <p:nvSpPr>
          <p:cNvPr id="9" name="Text 7"/>
          <p:cNvSpPr/>
          <p:nvPr/>
        </p:nvSpPr>
        <p:spPr>
          <a:xfrm>
            <a:off x="320040" y="2194560"/>
            <a:ext cx="2560320" cy="2103120"/>
          </a:xfrm>
          <a:prstGeom prst="rect">
            <a:avLst/>
          </a:prstGeom>
          <a:noFill/>
          <a:ln/>
        </p:spPr>
        <p:txBody>
          <a:bodyPr wrap="square" lIns="91440" tIns="45720" rIns="91440" bIns="45720" rtlCol="0" anchor="t"/>
          <a:lstStyle/>
          <a:p>
            <a:r>
              <a:rPr lang="en-US" sz="1200">
                <a:solidFill>
                  <a:srgbClr val="AAAAAA"/>
                </a:solidFill>
                <a:latin typeface="JetBrains Mono"/>
                <a:ea typeface="Calibri"/>
                <a:cs typeface="Calibri"/>
              </a:rPr>
              <a:t>Trained using properly </a:t>
            </a:r>
            <a:r>
              <a:rPr lang="en-US" sz="1200" dirty="0">
                <a:solidFill>
                  <a:srgbClr val="AAAAAA"/>
                </a:solidFill>
                <a:latin typeface="JetBrains Mono"/>
                <a:ea typeface="Calibri"/>
                <a:cs typeface="Calibri"/>
              </a:rPr>
              <a:t>labeled data</a:t>
            </a:r>
          </a:p>
          <a:p>
            <a:endParaRPr lang="en-US" sz="1200" dirty="0">
              <a:solidFill>
                <a:srgbClr val="AAAAAA"/>
              </a:solidFill>
              <a:latin typeface="JetBrains Mono"/>
              <a:ea typeface="Calibri"/>
              <a:cs typeface="Calibri"/>
            </a:endParaRPr>
          </a:p>
          <a:p>
            <a:r>
              <a:rPr lang="en-US" sz="1200">
                <a:solidFill>
                  <a:srgbClr val="AAAAAA"/>
                </a:solidFill>
                <a:latin typeface="JetBrains Mono"/>
                <a:ea typeface="Calibri"/>
                <a:cs typeface="Calibri"/>
              </a:rPr>
              <a:t>A human has applied labels</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The model learns the patterns and tries</a:t>
            </a:r>
            <a:r>
              <a:rPr lang="en-US" sz="1200">
                <a:solidFill>
                  <a:srgbClr val="AAAAAA"/>
                </a:solidFill>
                <a:latin typeface="JetBrains Mono"/>
                <a:ea typeface="Calibri"/>
                <a:cs typeface="Calibri"/>
              </a:rPr>
              <a:t> to apply them</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Example: credit risk </a:t>
            </a:r>
            <a:r>
              <a:rPr lang="en-US" sz="1200">
                <a:solidFill>
                  <a:srgbClr val="AAAAAA"/>
                </a:solidFill>
                <a:latin typeface="JetBrains Mono"/>
                <a:ea typeface="Calibri"/>
                <a:cs typeface="Calibri"/>
              </a:rPr>
              <a:t>scoring</a:t>
            </a:r>
            <a:endParaRPr lang="en-US" sz="1200" dirty="0">
              <a:solidFill>
                <a:srgbClr val="AAAAAA"/>
              </a:solidFill>
              <a:latin typeface="JetBrains Mono"/>
              <a:ea typeface="Calibri"/>
              <a:cs typeface="Calibri"/>
            </a:endParaRPr>
          </a:p>
        </p:txBody>
      </p:sp>
      <p:sp>
        <p:nvSpPr>
          <p:cNvPr id="12" name="Shape 10"/>
          <p:cNvSpPr/>
          <p:nvPr/>
        </p:nvSpPr>
        <p:spPr>
          <a:xfrm>
            <a:off x="3172968" y="822960"/>
            <a:ext cx="2834640" cy="3749040"/>
          </a:xfrm>
          <a:prstGeom prst="rect">
            <a:avLst/>
          </a:prstGeom>
          <a:solidFill>
            <a:srgbClr val="1E1E1E"/>
          </a:solidFill>
          <a:ln w="6350">
            <a:solidFill>
              <a:srgbClr val="3A3A3A"/>
            </a:solidFill>
            <a:prstDash val="solid"/>
          </a:ln>
        </p:spPr>
      </p:sp>
      <p:sp>
        <p:nvSpPr>
          <p:cNvPr id="13" name="Shape 11"/>
          <p:cNvSpPr/>
          <p:nvPr/>
        </p:nvSpPr>
        <p:spPr>
          <a:xfrm>
            <a:off x="3172968" y="822960"/>
            <a:ext cx="2834640" cy="64008"/>
          </a:xfrm>
          <a:prstGeom prst="rect">
            <a:avLst/>
          </a:prstGeom>
          <a:solidFill>
            <a:srgbClr val="CC0000"/>
          </a:solidFill>
          <a:ln w="12700">
            <a:solidFill>
              <a:srgbClr val="CC0000"/>
            </a:solidFill>
            <a:prstDash val="solid"/>
          </a:ln>
        </p:spPr>
      </p:sp>
      <p:sp>
        <p:nvSpPr>
          <p:cNvPr id="14" name="Text 12"/>
          <p:cNvSpPr/>
          <p:nvPr/>
        </p:nvSpPr>
        <p:spPr>
          <a:xfrm>
            <a:off x="3310128" y="960120"/>
            <a:ext cx="2560320" cy="594360"/>
          </a:xfrm>
          <a:prstGeom prst="rect">
            <a:avLst/>
          </a:prstGeom>
          <a:noFill/>
          <a:ln/>
        </p:spPr>
        <p:txBody>
          <a:bodyPr wrap="square" lIns="0" tIns="0" rIns="0" bIns="0" rtlCol="0" anchor="ctr"/>
          <a:lstStyle/>
          <a:p>
            <a:pPr marL="0" indent="0" algn="l">
              <a:buNone/>
            </a:pPr>
            <a:r>
              <a:rPr lang="en-US" sz="3600" b="1" dirty="0">
                <a:solidFill>
                  <a:srgbClr val="7A0000"/>
                </a:solidFill>
                <a:latin typeface="Arial Black" pitchFamily="34" charset="0"/>
                <a:ea typeface="Arial Black" pitchFamily="34" charset="-122"/>
                <a:cs typeface="Arial Black" pitchFamily="34" charset="-120"/>
              </a:rPr>
              <a:t>02</a:t>
            </a:r>
            <a:endParaRPr lang="en-US" sz="3600" dirty="0"/>
          </a:p>
        </p:txBody>
      </p:sp>
      <p:sp>
        <p:nvSpPr>
          <p:cNvPr id="15" name="Text 13"/>
          <p:cNvSpPr/>
          <p:nvPr/>
        </p:nvSpPr>
        <p:spPr>
          <a:xfrm>
            <a:off x="3310128" y="1554480"/>
            <a:ext cx="2560320" cy="457200"/>
          </a:xfrm>
          <a:prstGeom prst="rect">
            <a:avLst/>
          </a:prstGeom>
          <a:noFill/>
          <a:ln/>
        </p:spPr>
        <p:txBody>
          <a:bodyPr wrap="square" lIns="0" tIns="0" rIns="0" bIns="0" rtlCol="0" anchor="ctr"/>
          <a:lstStyle/>
          <a:p>
            <a:pPr marL="0" indent="0" algn="l">
              <a:buNone/>
            </a:pPr>
            <a:r>
              <a:rPr lang="en-US" sz="1300" b="1">
                <a:solidFill>
                  <a:srgbClr val="FF1A1A"/>
                </a:solidFill>
                <a:latin typeface="JetBrains Mono"/>
              </a:rPr>
              <a:t>Unsupervised</a:t>
            </a:r>
            <a:endParaRPr lang="en-US" sz="1300" dirty="0"/>
          </a:p>
        </p:txBody>
      </p:sp>
      <p:sp>
        <p:nvSpPr>
          <p:cNvPr id="16" name="Shape 14"/>
          <p:cNvSpPr/>
          <p:nvPr/>
        </p:nvSpPr>
        <p:spPr>
          <a:xfrm>
            <a:off x="3310128" y="2084832"/>
            <a:ext cx="2560320" cy="36576"/>
          </a:xfrm>
          <a:prstGeom prst="rect">
            <a:avLst/>
          </a:prstGeom>
          <a:solidFill>
            <a:srgbClr val="3A3A3A"/>
          </a:solidFill>
          <a:ln w="12700">
            <a:solidFill>
              <a:srgbClr val="3A3A3A"/>
            </a:solidFill>
            <a:prstDash val="solid"/>
          </a:ln>
        </p:spPr>
      </p:sp>
      <p:sp>
        <p:nvSpPr>
          <p:cNvPr id="17" name="Text 15"/>
          <p:cNvSpPr/>
          <p:nvPr/>
        </p:nvSpPr>
        <p:spPr>
          <a:xfrm>
            <a:off x="3310128" y="2194560"/>
            <a:ext cx="2560320" cy="2103120"/>
          </a:xfrm>
          <a:prstGeom prst="rect">
            <a:avLst/>
          </a:prstGeom>
          <a:noFill/>
          <a:ln/>
        </p:spPr>
        <p:txBody>
          <a:bodyPr wrap="square" lIns="91440" tIns="45720" rIns="91440" bIns="45720" rtlCol="0" anchor="t"/>
          <a:lstStyle/>
          <a:p>
            <a:r>
              <a:rPr lang="en-US" sz="1200" dirty="0">
                <a:solidFill>
                  <a:srgbClr val="AAAAAA"/>
                </a:solidFill>
                <a:latin typeface="JetBrains Mono"/>
                <a:ea typeface="Calibri"/>
                <a:cs typeface="Calibri"/>
              </a:rPr>
              <a:t>Trained with unlabeled</a:t>
            </a:r>
            <a:r>
              <a:rPr lang="en-US" sz="1200">
                <a:solidFill>
                  <a:srgbClr val="AAAAAA"/>
                </a:solidFill>
                <a:latin typeface="JetBrains Mono"/>
                <a:ea typeface="Calibri"/>
                <a:cs typeface="Calibri"/>
              </a:rPr>
              <a:t> data</a:t>
            </a:r>
            <a:endParaRPr lang="en-US">
              <a:latin typeface="JetBrains Mono"/>
            </a:endParaRP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Applies pattern recognition to discover </a:t>
            </a:r>
            <a:r>
              <a:rPr lang="en-US" sz="1200">
                <a:solidFill>
                  <a:srgbClr val="AAAAAA"/>
                </a:solidFill>
                <a:latin typeface="JetBrains Mono"/>
                <a:ea typeface="Calibri"/>
                <a:cs typeface="Calibri"/>
              </a:rPr>
              <a:t>new relationships</a:t>
            </a: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Example: market segmentation </a:t>
            </a:r>
            <a:r>
              <a:rPr lang="en-US" sz="1200">
                <a:solidFill>
                  <a:srgbClr val="AAAAAA"/>
                </a:solidFill>
                <a:latin typeface="JetBrains Mono"/>
                <a:ea typeface="Calibri"/>
                <a:cs typeface="Calibri"/>
              </a:rPr>
              <a:t>clustering</a:t>
            </a:r>
            <a:endParaRPr lang="en-US" sz="1200" dirty="0">
              <a:solidFill>
                <a:srgbClr val="AAAAAA"/>
              </a:solidFill>
              <a:latin typeface="JetBrains Mono"/>
              <a:ea typeface="Calibri"/>
              <a:cs typeface="Calibri"/>
            </a:endParaRPr>
          </a:p>
          <a:p>
            <a:endParaRPr lang="en-US" sz="1200" dirty="0">
              <a:solidFill>
                <a:srgbClr val="AAAAAA"/>
              </a:solidFill>
              <a:latin typeface="Calibri"/>
              <a:ea typeface="Calibri"/>
              <a:cs typeface="Calibri"/>
            </a:endParaRPr>
          </a:p>
          <a:p>
            <a:endParaRPr lang="en-US" sz="1200" dirty="0">
              <a:solidFill>
                <a:srgbClr val="AAAAAA"/>
              </a:solidFill>
              <a:latin typeface="Calibri"/>
              <a:ea typeface="Calibri"/>
              <a:cs typeface="Calibri"/>
            </a:endParaRPr>
          </a:p>
          <a:p>
            <a:endParaRPr lang="en-US" sz="1200" dirty="0">
              <a:solidFill>
                <a:srgbClr val="AAAAAA"/>
              </a:solidFill>
              <a:latin typeface="Calibri"/>
              <a:ea typeface="Calibri"/>
              <a:cs typeface="Calibri"/>
            </a:endParaRPr>
          </a:p>
          <a:p>
            <a:endParaRPr lang="en-US" sz="1200" dirty="0">
              <a:solidFill>
                <a:srgbClr val="AAAAAA"/>
              </a:solidFill>
              <a:latin typeface="Calibri"/>
              <a:ea typeface="Calibri"/>
              <a:cs typeface="Calibri"/>
            </a:endParaRPr>
          </a:p>
        </p:txBody>
      </p:sp>
      <p:sp>
        <p:nvSpPr>
          <p:cNvPr id="20" name="Shape 18"/>
          <p:cNvSpPr/>
          <p:nvPr/>
        </p:nvSpPr>
        <p:spPr>
          <a:xfrm>
            <a:off x="6163056" y="822960"/>
            <a:ext cx="2834640" cy="3749040"/>
          </a:xfrm>
          <a:prstGeom prst="rect">
            <a:avLst/>
          </a:prstGeom>
          <a:solidFill>
            <a:srgbClr val="1E1E1E"/>
          </a:solidFill>
          <a:ln w="6350">
            <a:solidFill>
              <a:srgbClr val="3A3A3A"/>
            </a:solidFill>
            <a:prstDash val="solid"/>
          </a:ln>
        </p:spPr>
      </p:sp>
      <p:sp>
        <p:nvSpPr>
          <p:cNvPr id="21" name="Shape 19"/>
          <p:cNvSpPr/>
          <p:nvPr/>
        </p:nvSpPr>
        <p:spPr>
          <a:xfrm>
            <a:off x="6163056" y="822960"/>
            <a:ext cx="2834640" cy="64008"/>
          </a:xfrm>
          <a:prstGeom prst="rect">
            <a:avLst/>
          </a:prstGeom>
          <a:solidFill>
            <a:srgbClr val="CC0000"/>
          </a:solidFill>
          <a:ln w="12700">
            <a:solidFill>
              <a:srgbClr val="CC0000"/>
            </a:solidFill>
            <a:prstDash val="solid"/>
          </a:ln>
        </p:spPr>
      </p:sp>
      <p:sp>
        <p:nvSpPr>
          <p:cNvPr id="22" name="Text 20"/>
          <p:cNvSpPr/>
          <p:nvPr/>
        </p:nvSpPr>
        <p:spPr>
          <a:xfrm>
            <a:off x="6300216" y="960120"/>
            <a:ext cx="2560320" cy="594360"/>
          </a:xfrm>
          <a:prstGeom prst="rect">
            <a:avLst/>
          </a:prstGeom>
          <a:noFill/>
          <a:ln/>
        </p:spPr>
        <p:txBody>
          <a:bodyPr wrap="square" lIns="0" tIns="0" rIns="0" bIns="0" rtlCol="0" anchor="ctr"/>
          <a:lstStyle/>
          <a:p>
            <a:pPr marL="0" indent="0" algn="l">
              <a:buNone/>
            </a:pPr>
            <a:r>
              <a:rPr lang="en-US" sz="3600" b="1" dirty="0">
                <a:solidFill>
                  <a:srgbClr val="7A0000"/>
                </a:solidFill>
                <a:latin typeface="Arial Black" pitchFamily="34" charset="0"/>
                <a:ea typeface="Arial Black" pitchFamily="34" charset="-122"/>
                <a:cs typeface="Arial Black" pitchFamily="34" charset="-120"/>
              </a:rPr>
              <a:t>03</a:t>
            </a:r>
            <a:endParaRPr lang="en-US" sz="3600" dirty="0"/>
          </a:p>
        </p:txBody>
      </p:sp>
      <p:sp>
        <p:nvSpPr>
          <p:cNvPr id="23" name="Text 21"/>
          <p:cNvSpPr/>
          <p:nvPr/>
        </p:nvSpPr>
        <p:spPr>
          <a:xfrm>
            <a:off x="6300216" y="1554480"/>
            <a:ext cx="2560320" cy="457200"/>
          </a:xfrm>
          <a:prstGeom prst="rect">
            <a:avLst/>
          </a:prstGeom>
          <a:noFill/>
          <a:ln/>
        </p:spPr>
        <p:txBody>
          <a:bodyPr wrap="square" lIns="0" tIns="0" rIns="0" bIns="0" rtlCol="0" anchor="ctr"/>
          <a:lstStyle/>
          <a:p>
            <a:pPr marL="0" indent="0" algn="l">
              <a:buNone/>
            </a:pPr>
            <a:r>
              <a:rPr lang="en-US" sz="1300" b="1">
                <a:solidFill>
                  <a:srgbClr val="FF1A1A"/>
                </a:solidFill>
                <a:latin typeface="JetBrains Mono"/>
              </a:rPr>
              <a:t>Reinforcement</a:t>
            </a:r>
            <a:endParaRPr lang="en-US" sz="1300" b="1" dirty="0">
              <a:solidFill>
                <a:srgbClr val="FF1A1A"/>
              </a:solidFill>
              <a:latin typeface="JetBrains Mono"/>
            </a:endParaRPr>
          </a:p>
        </p:txBody>
      </p:sp>
      <p:sp>
        <p:nvSpPr>
          <p:cNvPr id="24" name="Shape 22"/>
          <p:cNvSpPr/>
          <p:nvPr/>
        </p:nvSpPr>
        <p:spPr>
          <a:xfrm>
            <a:off x="6300216" y="2084832"/>
            <a:ext cx="2560320" cy="36576"/>
          </a:xfrm>
          <a:prstGeom prst="rect">
            <a:avLst/>
          </a:prstGeom>
          <a:solidFill>
            <a:srgbClr val="3A3A3A"/>
          </a:solidFill>
          <a:ln w="12700">
            <a:solidFill>
              <a:srgbClr val="3A3A3A"/>
            </a:solidFill>
            <a:prstDash val="solid"/>
          </a:ln>
        </p:spPr>
      </p:sp>
      <p:sp>
        <p:nvSpPr>
          <p:cNvPr id="25" name="Text 23"/>
          <p:cNvSpPr/>
          <p:nvPr/>
        </p:nvSpPr>
        <p:spPr>
          <a:xfrm>
            <a:off x="6300216" y="2194560"/>
            <a:ext cx="2560320" cy="2103120"/>
          </a:xfrm>
          <a:prstGeom prst="rect">
            <a:avLst/>
          </a:prstGeom>
          <a:noFill/>
          <a:ln/>
        </p:spPr>
        <p:txBody>
          <a:bodyPr wrap="square" lIns="91440" tIns="45720" rIns="91440" bIns="45720" rtlCol="0" anchor="t"/>
          <a:lstStyle/>
          <a:p>
            <a:r>
              <a:rPr lang="en-US" sz="1200">
                <a:solidFill>
                  <a:srgbClr val="AAAAAA"/>
                </a:solidFill>
                <a:latin typeface="JetBrains Mono"/>
                <a:ea typeface="Calibri"/>
                <a:cs typeface="Calibri"/>
              </a:rPr>
              <a:t>Reward signals are used</a:t>
            </a:r>
          </a:p>
          <a:p>
            <a:endParaRPr lang="en-US" sz="1200" dirty="0">
              <a:solidFill>
                <a:srgbClr val="AAAAAA"/>
              </a:solidFill>
              <a:latin typeface="JetBrains Mono"/>
              <a:ea typeface="Calibri"/>
              <a:cs typeface="Calibri"/>
            </a:endParaRPr>
          </a:p>
          <a:p>
            <a:r>
              <a:rPr lang="en-US" sz="1200">
                <a:solidFill>
                  <a:srgbClr val="AAAAAA"/>
                </a:solidFill>
                <a:latin typeface="JetBrains Mono"/>
                <a:ea typeface="Calibri"/>
                <a:cs typeface="Calibri"/>
              </a:rPr>
              <a:t>Classic: Training through playing games with humans or other models</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a:solidFill>
                  <a:srgbClr val="AAAAAA"/>
                </a:solidFill>
                <a:latin typeface="JetBrains Mono"/>
                <a:ea typeface="Calibri"/>
                <a:cs typeface="Calibri"/>
              </a:rPr>
              <a:t>Example: Adaptive navigation systems find efficient routes and monitor progress</a:t>
            </a:r>
            <a:endParaRPr lang="en-US" sz="1200" dirty="0">
              <a:solidFill>
                <a:srgbClr val="AAAAAA"/>
              </a:solidFill>
              <a:latin typeface="JetBrains Mono"/>
              <a:ea typeface="Calibri"/>
              <a:cs typeface="Calibri"/>
            </a:endParaRPr>
          </a:p>
        </p:txBody>
      </p:sp>
      <p:sp>
        <p:nvSpPr>
          <p:cNvPr id="28" name="Shape 26"/>
          <p:cNvSpPr/>
          <p:nvPr/>
        </p:nvSpPr>
        <p:spPr>
          <a:xfrm>
            <a:off x="0" y="4800600"/>
            <a:ext cx="9144000" cy="342900"/>
          </a:xfrm>
          <a:prstGeom prst="rect">
            <a:avLst/>
          </a:prstGeom>
          <a:solidFill>
            <a:srgbClr val="7A0000"/>
          </a:solidFill>
          <a:ln w="12700">
            <a:solidFill>
              <a:srgbClr val="7A0000"/>
            </a:solidFill>
            <a:prstDash val="solid"/>
          </a:ln>
        </p:spPr>
      </p:sp>
      <p:sp>
        <p:nvSpPr>
          <p:cNvPr id="29" name="Text 27"/>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30" name="Text 28"/>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a:cs typeface="Courier New"/>
              </a:rPr>
              <a:t>AI For Ethical Hackers</a:t>
            </a:r>
            <a:endParaRPr lang="en-US">
              <a:latin typeface="Courier New"/>
              <a:cs typeface="Courier New"/>
            </a:endParaRPr>
          </a:p>
        </p:txBody>
      </p:sp>
      <p:sp>
        <p:nvSpPr>
          <p:cNvPr id="31" name="Text 29"/>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7D7E16BC-085D-6D76-A4DD-63089C585D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5146FB-D6BD-0193-0D8A-AB134C3E4FB1}"/>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B64424E8-6F83-4174-78F4-BE6B72E9B285}"/>
              </a:ext>
            </a:extLst>
          </p:cNvPr>
          <p:cNvSpPr/>
          <p:nvPr/>
        </p:nvSpPr>
        <p:spPr>
          <a:xfrm>
            <a:off x="137160" y="164592"/>
            <a:ext cx="8869680" cy="502920"/>
          </a:xfrm>
          <a:prstGeom prst="rect">
            <a:avLst/>
          </a:prstGeom>
          <a:noFill/>
          <a:ln/>
        </p:spPr>
        <p:txBody>
          <a:bodyPr wrap="square" lIns="0" tIns="0" rIns="0" bIns="0" rtlCol="0" anchor="ctr"/>
          <a:lstStyle/>
          <a:p>
            <a:r>
              <a:rPr lang="en-US" sz="2600" b="1">
                <a:solidFill>
                  <a:srgbClr val="F0EDE8"/>
                </a:solidFill>
                <a:latin typeface="Arial Black"/>
              </a:rPr>
              <a:t>Machine Learning</a:t>
            </a:r>
            <a:endParaRPr lang="en-US" sz="2600" dirty="0"/>
          </a:p>
        </p:txBody>
      </p:sp>
      <p:sp>
        <p:nvSpPr>
          <p:cNvPr id="4" name="Shape 2">
            <a:extLst>
              <a:ext uri="{FF2B5EF4-FFF2-40B4-BE49-F238E27FC236}">
                <a16:creationId xmlns:a16="http://schemas.microsoft.com/office/drawing/2014/main" id="{0728BE16-942E-1ACA-02CD-284AAF7FE7E8}"/>
              </a:ext>
            </a:extLst>
          </p:cNvPr>
          <p:cNvSpPr/>
          <p:nvPr/>
        </p:nvSpPr>
        <p:spPr>
          <a:xfrm>
            <a:off x="182880" y="822960"/>
            <a:ext cx="2834640" cy="3749040"/>
          </a:xfrm>
          <a:prstGeom prst="rect">
            <a:avLst/>
          </a:prstGeom>
          <a:solidFill>
            <a:srgbClr val="1E1E1E"/>
          </a:solidFill>
          <a:ln w="6350">
            <a:solidFill>
              <a:srgbClr val="3A3A3A"/>
            </a:solidFill>
            <a:prstDash val="solid"/>
          </a:ln>
        </p:spPr>
      </p:sp>
      <p:sp>
        <p:nvSpPr>
          <p:cNvPr id="5" name="Shape 3">
            <a:extLst>
              <a:ext uri="{FF2B5EF4-FFF2-40B4-BE49-F238E27FC236}">
                <a16:creationId xmlns:a16="http://schemas.microsoft.com/office/drawing/2014/main" id="{39F80A49-B689-B8D3-50A2-EB1FE2706BC9}"/>
              </a:ext>
            </a:extLst>
          </p:cNvPr>
          <p:cNvSpPr/>
          <p:nvPr/>
        </p:nvSpPr>
        <p:spPr>
          <a:xfrm>
            <a:off x="182880" y="822960"/>
            <a:ext cx="2834640" cy="64008"/>
          </a:xfrm>
          <a:prstGeom prst="rect">
            <a:avLst/>
          </a:prstGeom>
          <a:solidFill>
            <a:srgbClr val="CC0000"/>
          </a:solidFill>
          <a:ln w="12700">
            <a:solidFill>
              <a:srgbClr val="CC0000"/>
            </a:solidFill>
            <a:prstDash val="solid"/>
          </a:ln>
        </p:spPr>
      </p:sp>
      <p:sp>
        <p:nvSpPr>
          <p:cNvPr id="6" name="Text 4">
            <a:extLst>
              <a:ext uri="{FF2B5EF4-FFF2-40B4-BE49-F238E27FC236}">
                <a16:creationId xmlns:a16="http://schemas.microsoft.com/office/drawing/2014/main" id="{B0464162-49DF-6A9C-E9D9-05D48261678B}"/>
              </a:ext>
            </a:extLst>
          </p:cNvPr>
          <p:cNvSpPr/>
          <p:nvPr/>
        </p:nvSpPr>
        <p:spPr>
          <a:xfrm>
            <a:off x="320040" y="960120"/>
            <a:ext cx="2560320" cy="594360"/>
          </a:xfrm>
          <a:prstGeom prst="rect">
            <a:avLst/>
          </a:prstGeom>
          <a:noFill/>
          <a:ln/>
        </p:spPr>
        <p:txBody>
          <a:bodyPr wrap="square" lIns="0" tIns="0" rIns="0" bIns="0" rtlCol="0" anchor="ctr"/>
          <a:lstStyle/>
          <a:p>
            <a:pPr marL="0" indent="0" algn="l">
              <a:buNone/>
            </a:pPr>
            <a:r>
              <a:rPr lang="en-US" sz="3600" b="1">
                <a:solidFill>
                  <a:srgbClr val="7A0000"/>
                </a:solidFill>
                <a:latin typeface="Arial Black"/>
              </a:rPr>
              <a:t>04</a:t>
            </a:r>
            <a:endParaRPr lang="en-US" sz="3600" b="1" dirty="0">
              <a:solidFill>
                <a:srgbClr val="7A0000"/>
              </a:solidFill>
              <a:latin typeface="Arial Black"/>
            </a:endParaRPr>
          </a:p>
        </p:txBody>
      </p:sp>
      <p:sp>
        <p:nvSpPr>
          <p:cNvPr id="7" name="Text 5">
            <a:extLst>
              <a:ext uri="{FF2B5EF4-FFF2-40B4-BE49-F238E27FC236}">
                <a16:creationId xmlns:a16="http://schemas.microsoft.com/office/drawing/2014/main" id="{DE95955A-3D61-F80E-87C8-C3337CD8A917}"/>
              </a:ext>
            </a:extLst>
          </p:cNvPr>
          <p:cNvSpPr/>
          <p:nvPr/>
        </p:nvSpPr>
        <p:spPr>
          <a:xfrm>
            <a:off x="320040" y="1554480"/>
            <a:ext cx="2560320" cy="457200"/>
          </a:xfrm>
          <a:prstGeom prst="rect">
            <a:avLst/>
          </a:prstGeom>
          <a:noFill/>
          <a:ln/>
        </p:spPr>
        <p:txBody>
          <a:bodyPr wrap="square" lIns="0" tIns="0" rIns="0" bIns="0" rtlCol="0" anchor="ctr"/>
          <a:lstStyle/>
          <a:p>
            <a:pPr marL="0" indent="0" algn="l">
              <a:buNone/>
            </a:pPr>
            <a:r>
              <a:rPr lang="en-US" sz="1300" b="1">
                <a:solidFill>
                  <a:srgbClr val="FF1A1A"/>
                </a:solidFill>
                <a:latin typeface="JetBrains Mono"/>
              </a:rPr>
              <a:t>Semi-Supervised</a:t>
            </a:r>
            <a:endParaRPr lang="en-US" sz="1300">
              <a:latin typeface="Courier New"/>
              <a:cs typeface="Courier New"/>
            </a:endParaRPr>
          </a:p>
        </p:txBody>
      </p:sp>
      <p:sp>
        <p:nvSpPr>
          <p:cNvPr id="8" name="Shape 6">
            <a:extLst>
              <a:ext uri="{FF2B5EF4-FFF2-40B4-BE49-F238E27FC236}">
                <a16:creationId xmlns:a16="http://schemas.microsoft.com/office/drawing/2014/main" id="{458FE6FE-B337-6638-09BA-10962CE95E4D}"/>
              </a:ext>
            </a:extLst>
          </p:cNvPr>
          <p:cNvSpPr/>
          <p:nvPr/>
        </p:nvSpPr>
        <p:spPr>
          <a:xfrm>
            <a:off x="320040" y="2084832"/>
            <a:ext cx="2560320" cy="36576"/>
          </a:xfrm>
          <a:prstGeom prst="rect">
            <a:avLst/>
          </a:prstGeom>
          <a:solidFill>
            <a:srgbClr val="3A3A3A"/>
          </a:solidFill>
          <a:ln w="12700">
            <a:solidFill>
              <a:srgbClr val="3A3A3A"/>
            </a:solidFill>
            <a:prstDash val="solid"/>
          </a:ln>
        </p:spPr>
      </p:sp>
      <p:sp>
        <p:nvSpPr>
          <p:cNvPr id="9" name="Text 7">
            <a:extLst>
              <a:ext uri="{FF2B5EF4-FFF2-40B4-BE49-F238E27FC236}">
                <a16:creationId xmlns:a16="http://schemas.microsoft.com/office/drawing/2014/main" id="{B0D428D1-311F-37DA-7BDD-4879F651C02E}"/>
              </a:ext>
            </a:extLst>
          </p:cNvPr>
          <p:cNvSpPr/>
          <p:nvPr/>
        </p:nvSpPr>
        <p:spPr>
          <a:xfrm>
            <a:off x="320040" y="2194560"/>
            <a:ext cx="2560320" cy="2103120"/>
          </a:xfrm>
          <a:prstGeom prst="rect">
            <a:avLst/>
          </a:prstGeom>
          <a:noFill/>
          <a:ln/>
        </p:spPr>
        <p:txBody>
          <a:bodyPr wrap="square" lIns="91440" tIns="45720" rIns="91440" bIns="45720" rtlCol="0" anchor="t"/>
          <a:lstStyle/>
          <a:p>
            <a:r>
              <a:rPr lang="en-US" sz="1200" dirty="0">
                <a:solidFill>
                  <a:srgbClr val="AAAAAA"/>
                </a:solidFill>
                <a:latin typeface="JetBrains Mono"/>
                <a:ea typeface="Calibri"/>
                <a:cs typeface="Calibri"/>
              </a:rPr>
              <a:t>Uses a small representative data set </a:t>
            </a:r>
            <a:r>
              <a:rPr lang="en-US" sz="1200">
                <a:solidFill>
                  <a:srgbClr val="AAAAAA"/>
                </a:solidFill>
                <a:latin typeface="JetBrains Mono"/>
                <a:ea typeface="Calibri"/>
                <a:cs typeface="Calibri"/>
              </a:rPr>
              <a:t>to pre-train</a:t>
            </a:r>
          </a:p>
          <a:p>
            <a:endParaRPr lang="en-US" sz="1200" dirty="0">
              <a:solidFill>
                <a:srgbClr val="AAAAAA"/>
              </a:solidFill>
              <a:latin typeface="JetBrains Mono"/>
              <a:ea typeface="Calibri"/>
              <a:cs typeface="Calibri"/>
            </a:endParaRPr>
          </a:p>
          <a:p>
            <a:r>
              <a:rPr lang="en-US" sz="1200">
                <a:solidFill>
                  <a:srgbClr val="AAAAAA"/>
                </a:solidFill>
                <a:latin typeface="JetBrains Mono"/>
                <a:ea typeface="Calibri"/>
                <a:cs typeface="Calibri"/>
              </a:rPr>
              <a:t>Applies the labels to a much larger dataset</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a:solidFill>
                  <a:srgbClr val="AAAAAA"/>
                </a:solidFill>
                <a:latin typeface="JetBrains Mono"/>
                <a:ea typeface="Calibri"/>
                <a:cs typeface="Calibri"/>
              </a:rPr>
              <a:t>Example: Radiology model trained on a small sample applied to a large dataset</a:t>
            </a:r>
            <a:endParaRPr lang="en-US" sz="1200" dirty="0">
              <a:solidFill>
                <a:srgbClr val="AAAAAA"/>
              </a:solidFill>
              <a:latin typeface="JetBrains Mono"/>
              <a:ea typeface="Calibri"/>
              <a:cs typeface="Calibri"/>
            </a:endParaRPr>
          </a:p>
        </p:txBody>
      </p:sp>
      <p:sp>
        <p:nvSpPr>
          <p:cNvPr id="12" name="Shape 10">
            <a:extLst>
              <a:ext uri="{FF2B5EF4-FFF2-40B4-BE49-F238E27FC236}">
                <a16:creationId xmlns:a16="http://schemas.microsoft.com/office/drawing/2014/main" id="{DDFD5B1F-444A-9045-4DA8-A2640A56F947}"/>
              </a:ext>
            </a:extLst>
          </p:cNvPr>
          <p:cNvSpPr/>
          <p:nvPr/>
        </p:nvSpPr>
        <p:spPr>
          <a:xfrm>
            <a:off x="3172968" y="822960"/>
            <a:ext cx="2834640" cy="3749040"/>
          </a:xfrm>
          <a:prstGeom prst="rect">
            <a:avLst/>
          </a:prstGeom>
          <a:solidFill>
            <a:srgbClr val="1E1E1E"/>
          </a:solidFill>
          <a:ln w="6350">
            <a:solidFill>
              <a:srgbClr val="3A3A3A"/>
            </a:solidFill>
            <a:prstDash val="solid"/>
          </a:ln>
        </p:spPr>
      </p:sp>
      <p:sp>
        <p:nvSpPr>
          <p:cNvPr id="13" name="Shape 11">
            <a:extLst>
              <a:ext uri="{FF2B5EF4-FFF2-40B4-BE49-F238E27FC236}">
                <a16:creationId xmlns:a16="http://schemas.microsoft.com/office/drawing/2014/main" id="{6EBD1511-DEE9-B292-E290-F38044425711}"/>
              </a:ext>
            </a:extLst>
          </p:cNvPr>
          <p:cNvSpPr/>
          <p:nvPr/>
        </p:nvSpPr>
        <p:spPr>
          <a:xfrm>
            <a:off x="3172968" y="822960"/>
            <a:ext cx="2834640" cy="64008"/>
          </a:xfrm>
          <a:prstGeom prst="rect">
            <a:avLst/>
          </a:prstGeom>
          <a:solidFill>
            <a:srgbClr val="CC0000"/>
          </a:solidFill>
          <a:ln w="12700">
            <a:solidFill>
              <a:srgbClr val="CC0000"/>
            </a:solidFill>
            <a:prstDash val="solid"/>
          </a:ln>
        </p:spPr>
      </p:sp>
      <p:sp>
        <p:nvSpPr>
          <p:cNvPr id="14" name="Text 12">
            <a:extLst>
              <a:ext uri="{FF2B5EF4-FFF2-40B4-BE49-F238E27FC236}">
                <a16:creationId xmlns:a16="http://schemas.microsoft.com/office/drawing/2014/main" id="{FC9091D1-36FE-CE3F-0BFE-51E45E4392DD}"/>
              </a:ext>
            </a:extLst>
          </p:cNvPr>
          <p:cNvSpPr/>
          <p:nvPr/>
        </p:nvSpPr>
        <p:spPr>
          <a:xfrm>
            <a:off x="3310128" y="960120"/>
            <a:ext cx="2560320" cy="594360"/>
          </a:xfrm>
          <a:prstGeom prst="rect">
            <a:avLst/>
          </a:prstGeom>
          <a:noFill/>
          <a:ln/>
        </p:spPr>
        <p:txBody>
          <a:bodyPr wrap="square" lIns="0" tIns="0" rIns="0" bIns="0" rtlCol="0" anchor="ctr"/>
          <a:lstStyle/>
          <a:p>
            <a:pPr marL="0" indent="0" algn="l">
              <a:buNone/>
            </a:pPr>
            <a:r>
              <a:rPr lang="en-US" sz="3600" b="1">
                <a:solidFill>
                  <a:srgbClr val="7A0000"/>
                </a:solidFill>
                <a:latin typeface="Arial Black"/>
              </a:rPr>
              <a:t>05</a:t>
            </a:r>
            <a:endParaRPr lang="en-US" sz="3600" dirty="0"/>
          </a:p>
        </p:txBody>
      </p:sp>
      <p:sp>
        <p:nvSpPr>
          <p:cNvPr id="15" name="Text 13">
            <a:extLst>
              <a:ext uri="{FF2B5EF4-FFF2-40B4-BE49-F238E27FC236}">
                <a16:creationId xmlns:a16="http://schemas.microsoft.com/office/drawing/2014/main" id="{ECBF682A-469D-6C7A-75CF-AFBC743E6908}"/>
              </a:ext>
            </a:extLst>
          </p:cNvPr>
          <p:cNvSpPr/>
          <p:nvPr/>
        </p:nvSpPr>
        <p:spPr>
          <a:xfrm>
            <a:off x="3310128" y="1554480"/>
            <a:ext cx="2560320" cy="457200"/>
          </a:xfrm>
          <a:prstGeom prst="rect">
            <a:avLst/>
          </a:prstGeom>
          <a:noFill/>
          <a:ln/>
        </p:spPr>
        <p:txBody>
          <a:bodyPr wrap="square" lIns="0" tIns="0" rIns="0" bIns="0" rtlCol="0" anchor="ctr"/>
          <a:lstStyle/>
          <a:p>
            <a:pPr marL="0" indent="0" algn="l">
              <a:buNone/>
            </a:pPr>
            <a:r>
              <a:rPr lang="en-US" sz="1300" b="1">
                <a:solidFill>
                  <a:srgbClr val="FF1A1A"/>
                </a:solidFill>
                <a:latin typeface="JetBrains Mono"/>
              </a:rPr>
              <a:t>Self-Supervised</a:t>
            </a:r>
            <a:endParaRPr lang="en-US" sz="1300" b="1" dirty="0">
              <a:solidFill>
                <a:srgbClr val="FF1A1A"/>
              </a:solidFill>
              <a:latin typeface="JetBrains Mono"/>
            </a:endParaRPr>
          </a:p>
        </p:txBody>
      </p:sp>
      <p:sp>
        <p:nvSpPr>
          <p:cNvPr id="16" name="Shape 14">
            <a:extLst>
              <a:ext uri="{FF2B5EF4-FFF2-40B4-BE49-F238E27FC236}">
                <a16:creationId xmlns:a16="http://schemas.microsoft.com/office/drawing/2014/main" id="{853FC8B8-F96F-F702-0B44-14795B50E8A8}"/>
              </a:ext>
            </a:extLst>
          </p:cNvPr>
          <p:cNvSpPr/>
          <p:nvPr/>
        </p:nvSpPr>
        <p:spPr>
          <a:xfrm>
            <a:off x="3310128" y="2084832"/>
            <a:ext cx="2560320" cy="36576"/>
          </a:xfrm>
          <a:prstGeom prst="rect">
            <a:avLst/>
          </a:prstGeom>
          <a:solidFill>
            <a:srgbClr val="3A3A3A"/>
          </a:solidFill>
          <a:ln w="12700">
            <a:solidFill>
              <a:srgbClr val="3A3A3A"/>
            </a:solidFill>
            <a:prstDash val="solid"/>
          </a:ln>
        </p:spPr>
      </p:sp>
      <p:sp>
        <p:nvSpPr>
          <p:cNvPr id="17" name="Text 15">
            <a:extLst>
              <a:ext uri="{FF2B5EF4-FFF2-40B4-BE49-F238E27FC236}">
                <a16:creationId xmlns:a16="http://schemas.microsoft.com/office/drawing/2014/main" id="{80213642-FBC1-11CC-C3C7-E793713F6FFD}"/>
              </a:ext>
            </a:extLst>
          </p:cNvPr>
          <p:cNvSpPr/>
          <p:nvPr/>
        </p:nvSpPr>
        <p:spPr>
          <a:xfrm>
            <a:off x="3310128" y="2194560"/>
            <a:ext cx="2560320" cy="2103120"/>
          </a:xfrm>
          <a:prstGeom prst="rect">
            <a:avLst/>
          </a:prstGeom>
          <a:noFill/>
          <a:ln/>
        </p:spPr>
        <p:txBody>
          <a:bodyPr wrap="square" lIns="91440" tIns="45720" rIns="91440" bIns="45720" rtlCol="0" anchor="t"/>
          <a:lstStyle/>
          <a:p>
            <a:r>
              <a:rPr lang="en-US" sz="1200" dirty="0">
                <a:solidFill>
                  <a:srgbClr val="AAAAAA"/>
                </a:solidFill>
                <a:latin typeface="JetBrains Mono"/>
                <a:ea typeface="Calibri"/>
                <a:cs typeface="Calibri"/>
              </a:rPr>
              <a:t>Relies on </a:t>
            </a:r>
            <a:r>
              <a:rPr lang="en-US" sz="1200">
                <a:solidFill>
                  <a:srgbClr val="AAAAAA"/>
                </a:solidFill>
                <a:latin typeface="JetBrains Mono"/>
                <a:ea typeface="Calibri"/>
                <a:cs typeface="Calibri"/>
              </a:rPr>
              <a:t>predictive algorithms</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Applies the algorithms to new data to predict future, </a:t>
            </a:r>
            <a:r>
              <a:rPr lang="en-US" sz="1200">
                <a:solidFill>
                  <a:srgbClr val="AAAAAA"/>
                </a:solidFill>
                <a:latin typeface="JetBrains Mono"/>
                <a:ea typeface="Calibri"/>
                <a:cs typeface="Calibri"/>
              </a:rPr>
              <a:t>missing, or masked values</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a:solidFill>
                  <a:srgbClr val="AAAAAA"/>
                </a:solidFill>
                <a:latin typeface="JetBrains Mono"/>
                <a:ea typeface="Calibri"/>
                <a:cs typeface="Calibri"/>
              </a:rPr>
              <a:t>The patterns are applied in downstream tasks</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Example: models trained on token prediction used for code </a:t>
            </a:r>
            <a:r>
              <a:rPr lang="en-US" sz="1200">
                <a:solidFill>
                  <a:srgbClr val="AAAAAA"/>
                </a:solidFill>
                <a:latin typeface="JetBrains Mono"/>
                <a:ea typeface="Calibri"/>
                <a:cs typeface="Calibri"/>
              </a:rPr>
              <a:t>generation</a:t>
            </a:r>
            <a:endParaRPr lang="en-US" sz="1200" dirty="0">
              <a:solidFill>
                <a:srgbClr val="AAAAAA"/>
              </a:solidFill>
              <a:latin typeface="JetBrains Mono"/>
              <a:ea typeface="Calibri"/>
              <a:cs typeface="Calibri"/>
            </a:endParaRPr>
          </a:p>
        </p:txBody>
      </p:sp>
      <p:sp>
        <p:nvSpPr>
          <p:cNvPr id="20" name="Shape 18">
            <a:extLst>
              <a:ext uri="{FF2B5EF4-FFF2-40B4-BE49-F238E27FC236}">
                <a16:creationId xmlns:a16="http://schemas.microsoft.com/office/drawing/2014/main" id="{FF9773E5-DE0E-E352-9011-40BEA43B5FE6}"/>
              </a:ext>
            </a:extLst>
          </p:cNvPr>
          <p:cNvSpPr/>
          <p:nvPr/>
        </p:nvSpPr>
        <p:spPr>
          <a:xfrm>
            <a:off x="6163056" y="822960"/>
            <a:ext cx="2834640" cy="3749040"/>
          </a:xfrm>
          <a:prstGeom prst="rect">
            <a:avLst/>
          </a:prstGeom>
          <a:solidFill>
            <a:srgbClr val="1E1E1E"/>
          </a:solidFill>
          <a:ln w="6350">
            <a:solidFill>
              <a:srgbClr val="3A3A3A"/>
            </a:solidFill>
            <a:prstDash val="solid"/>
          </a:ln>
        </p:spPr>
      </p:sp>
      <p:sp>
        <p:nvSpPr>
          <p:cNvPr id="21" name="Shape 19">
            <a:extLst>
              <a:ext uri="{FF2B5EF4-FFF2-40B4-BE49-F238E27FC236}">
                <a16:creationId xmlns:a16="http://schemas.microsoft.com/office/drawing/2014/main" id="{0BAC39AF-03BA-9B5D-56D8-BF11AE365C96}"/>
              </a:ext>
            </a:extLst>
          </p:cNvPr>
          <p:cNvSpPr/>
          <p:nvPr/>
        </p:nvSpPr>
        <p:spPr>
          <a:xfrm>
            <a:off x="6163056" y="822960"/>
            <a:ext cx="2834640" cy="64008"/>
          </a:xfrm>
          <a:prstGeom prst="rect">
            <a:avLst/>
          </a:prstGeom>
          <a:solidFill>
            <a:srgbClr val="CC0000"/>
          </a:solidFill>
          <a:ln w="12700">
            <a:solidFill>
              <a:srgbClr val="CC0000"/>
            </a:solidFill>
            <a:prstDash val="solid"/>
          </a:ln>
        </p:spPr>
      </p:sp>
      <p:sp>
        <p:nvSpPr>
          <p:cNvPr id="22" name="Text 20">
            <a:extLst>
              <a:ext uri="{FF2B5EF4-FFF2-40B4-BE49-F238E27FC236}">
                <a16:creationId xmlns:a16="http://schemas.microsoft.com/office/drawing/2014/main" id="{E7B65AA6-E4E4-94B5-666E-8A36A9FEE505}"/>
              </a:ext>
            </a:extLst>
          </p:cNvPr>
          <p:cNvSpPr/>
          <p:nvPr/>
        </p:nvSpPr>
        <p:spPr>
          <a:xfrm>
            <a:off x="6300216" y="960120"/>
            <a:ext cx="2560320" cy="594360"/>
          </a:xfrm>
          <a:prstGeom prst="rect">
            <a:avLst/>
          </a:prstGeom>
          <a:noFill/>
          <a:ln/>
        </p:spPr>
        <p:txBody>
          <a:bodyPr wrap="square" lIns="0" tIns="0" rIns="0" bIns="0" rtlCol="0" anchor="ctr"/>
          <a:lstStyle/>
          <a:p>
            <a:pPr marL="0" indent="0" algn="l">
              <a:buNone/>
            </a:pPr>
            <a:r>
              <a:rPr lang="en-US" sz="3600" b="1">
                <a:solidFill>
                  <a:srgbClr val="7A0000"/>
                </a:solidFill>
                <a:latin typeface="Arial Black"/>
              </a:rPr>
              <a:t>06</a:t>
            </a:r>
            <a:endParaRPr lang="en-US" sz="3600" dirty="0"/>
          </a:p>
        </p:txBody>
      </p:sp>
      <p:sp>
        <p:nvSpPr>
          <p:cNvPr id="23" name="Text 21">
            <a:extLst>
              <a:ext uri="{FF2B5EF4-FFF2-40B4-BE49-F238E27FC236}">
                <a16:creationId xmlns:a16="http://schemas.microsoft.com/office/drawing/2014/main" id="{35434719-CF62-257C-CEF8-9F3E241DFE33}"/>
              </a:ext>
            </a:extLst>
          </p:cNvPr>
          <p:cNvSpPr/>
          <p:nvPr/>
        </p:nvSpPr>
        <p:spPr>
          <a:xfrm>
            <a:off x="6300216" y="1554480"/>
            <a:ext cx="2560320" cy="457200"/>
          </a:xfrm>
          <a:prstGeom prst="rect">
            <a:avLst/>
          </a:prstGeom>
          <a:noFill/>
          <a:ln/>
        </p:spPr>
        <p:txBody>
          <a:bodyPr wrap="square" lIns="0" tIns="0" rIns="0" bIns="0" rtlCol="0" anchor="ctr"/>
          <a:lstStyle/>
          <a:p>
            <a:pPr marL="0" indent="0" algn="l">
              <a:buNone/>
            </a:pPr>
            <a:r>
              <a:rPr lang="en-US" sz="1300" b="1">
                <a:solidFill>
                  <a:srgbClr val="FF1A1A"/>
                </a:solidFill>
                <a:latin typeface="JetBrains Mono"/>
              </a:rPr>
              <a:t>Transfer</a:t>
            </a:r>
            <a:endParaRPr lang="en-US" sz="1300" b="1" dirty="0">
              <a:solidFill>
                <a:srgbClr val="FF1A1A"/>
              </a:solidFill>
              <a:latin typeface="JetBrains Mono"/>
            </a:endParaRPr>
          </a:p>
        </p:txBody>
      </p:sp>
      <p:sp>
        <p:nvSpPr>
          <p:cNvPr id="24" name="Shape 22">
            <a:extLst>
              <a:ext uri="{FF2B5EF4-FFF2-40B4-BE49-F238E27FC236}">
                <a16:creationId xmlns:a16="http://schemas.microsoft.com/office/drawing/2014/main" id="{AC5B0D4E-CFEB-770F-A442-F0A19E4B319A}"/>
              </a:ext>
            </a:extLst>
          </p:cNvPr>
          <p:cNvSpPr/>
          <p:nvPr/>
        </p:nvSpPr>
        <p:spPr>
          <a:xfrm>
            <a:off x="6300216" y="2084832"/>
            <a:ext cx="2560320" cy="36576"/>
          </a:xfrm>
          <a:prstGeom prst="rect">
            <a:avLst/>
          </a:prstGeom>
          <a:solidFill>
            <a:srgbClr val="3A3A3A"/>
          </a:solidFill>
          <a:ln w="12700">
            <a:solidFill>
              <a:srgbClr val="3A3A3A"/>
            </a:solidFill>
            <a:prstDash val="solid"/>
          </a:ln>
        </p:spPr>
      </p:sp>
      <p:sp>
        <p:nvSpPr>
          <p:cNvPr id="25" name="Text 23">
            <a:extLst>
              <a:ext uri="{FF2B5EF4-FFF2-40B4-BE49-F238E27FC236}">
                <a16:creationId xmlns:a16="http://schemas.microsoft.com/office/drawing/2014/main" id="{9A87BBEC-FB7A-A75F-C158-056667BC4B6F}"/>
              </a:ext>
            </a:extLst>
          </p:cNvPr>
          <p:cNvSpPr/>
          <p:nvPr/>
        </p:nvSpPr>
        <p:spPr>
          <a:xfrm>
            <a:off x="6300216" y="2194560"/>
            <a:ext cx="2560320" cy="2103120"/>
          </a:xfrm>
          <a:prstGeom prst="rect">
            <a:avLst/>
          </a:prstGeom>
          <a:noFill/>
          <a:ln/>
        </p:spPr>
        <p:txBody>
          <a:bodyPr wrap="square" lIns="91440" tIns="45720" rIns="91440" bIns="45720" rtlCol="0" anchor="t"/>
          <a:lstStyle/>
          <a:p>
            <a:r>
              <a:rPr lang="en-US" sz="1200" dirty="0">
                <a:solidFill>
                  <a:srgbClr val="AAAAAA"/>
                </a:solidFill>
                <a:latin typeface="JetBrains Mono"/>
                <a:ea typeface="Calibri"/>
                <a:cs typeface="Calibri"/>
              </a:rPr>
              <a:t>A </a:t>
            </a:r>
            <a:r>
              <a:rPr lang="en-US" sz="1200">
                <a:solidFill>
                  <a:srgbClr val="AAAAAA"/>
                </a:solidFill>
                <a:latin typeface="JetBrains Mono"/>
                <a:ea typeface="Calibri"/>
                <a:cs typeface="Calibri"/>
              </a:rPr>
              <a:t>general-purpose</a:t>
            </a:r>
            <a:r>
              <a:rPr lang="en-US" sz="1200" dirty="0">
                <a:solidFill>
                  <a:srgbClr val="AAAAAA"/>
                </a:solidFill>
                <a:latin typeface="JetBrains Mono"/>
                <a:ea typeface="Calibri"/>
                <a:cs typeface="Calibri"/>
              </a:rPr>
              <a:t> model is trained for a specialized task</a:t>
            </a: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Reduces the cost of developing the </a:t>
            </a:r>
            <a:r>
              <a:rPr lang="en-US" sz="1200">
                <a:solidFill>
                  <a:srgbClr val="AAAAAA"/>
                </a:solidFill>
                <a:latin typeface="JetBrains Mono"/>
                <a:ea typeface="Calibri"/>
                <a:cs typeface="Calibri"/>
              </a:rPr>
              <a:t>specialized model</a:t>
            </a:r>
            <a:endParaRPr lang="en-US" sz="1200" dirty="0">
              <a:solidFill>
                <a:srgbClr val="AAAAAA"/>
              </a:solidFill>
              <a:latin typeface="JetBrains Mono"/>
              <a:ea typeface="Calibri"/>
              <a:cs typeface="Calibri"/>
            </a:endParaRPr>
          </a:p>
          <a:p>
            <a:endParaRPr lang="en-US" sz="1200" dirty="0">
              <a:solidFill>
                <a:srgbClr val="AAAAAA"/>
              </a:solidFill>
              <a:latin typeface="JetBrains Mono"/>
              <a:ea typeface="Calibri"/>
              <a:cs typeface="Calibri"/>
            </a:endParaRPr>
          </a:p>
          <a:p>
            <a:r>
              <a:rPr lang="en-US" sz="1200" dirty="0">
                <a:solidFill>
                  <a:srgbClr val="AAAAAA"/>
                </a:solidFill>
                <a:latin typeface="JetBrains Mono"/>
                <a:ea typeface="Calibri"/>
                <a:cs typeface="Calibri"/>
              </a:rPr>
              <a:t>Example: a model trained on image </a:t>
            </a:r>
            <a:r>
              <a:rPr lang="en-US" sz="1200">
                <a:solidFill>
                  <a:srgbClr val="AAAAAA"/>
                </a:solidFill>
                <a:latin typeface="JetBrains Mono"/>
                <a:ea typeface="Calibri"/>
                <a:cs typeface="Calibri"/>
              </a:rPr>
              <a:t>recognition is fine-tuned to detect assembly line defects</a:t>
            </a:r>
          </a:p>
        </p:txBody>
      </p:sp>
      <p:sp>
        <p:nvSpPr>
          <p:cNvPr id="28" name="Shape 26">
            <a:extLst>
              <a:ext uri="{FF2B5EF4-FFF2-40B4-BE49-F238E27FC236}">
                <a16:creationId xmlns:a16="http://schemas.microsoft.com/office/drawing/2014/main" id="{0FA59E04-23C8-897A-0D58-E7179A4C3740}"/>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29" name="Text 27">
            <a:extLst>
              <a:ext uri="{FF2B5EF4-FFF2-40B4-BE49-F238E27FC236}">
                <a16:creationId xmlns:a16="http://schemas.microsoft.com/office/drawing/2014/main" id="{085F1BA8-2D32-555E-D004-D775E844CEA0}"/>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30" name="Text 28">
            <a:extLst>
              <a:ext uri="{FF2B5EF4-FFF2-40B4-BE49-F238E27FC236}">
                <a16:creationId xmlns:a16="http://schemas.microsoft.com/office/drawing/2014/main" id="{4F173847-7A44-B41D-7671-E85BC7484A97}"/>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a:cs typeface="Courier New"/>
              </a:rPr>
              <a:t>AI For Ethical Hackers</a:t>
            </a:r>
            <a:endParaRPr lang="en-US">
              <a:latin typeface="Courier New"/>
              <a:cs typeface="Courier New"/>
            </a:endParaRPr>
          </a:p>
        </p:txBody>
      </p:sp>
      <p:sp>
        <p:nvSpPr>
          <p:cNvPr id="31" name="Text 29">
            <a:extLst>
              <a:ext uri="{FF2B5EF4-FFF2-40B4-BE49-F238E27FC236}">
                <a16:creationId xmlns:a16="http://schemas.microsoft.com/office/drawing/2014/main" id="{C63786B7-D8FA-9392-6382-C706F3E01935}"/>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extLst>
      <p:ext uri="{BB962C8B-B14F-4D97-AF65-F5344CB8AC3E}">
        <p14:creationId xmlns:p14="http://schemas.microsoft.com/office/powerpoint/2010/main" val="3154502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D9D37916-E97F-13F2-A775-6D798E0C04F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BE30A2-07FC-C8CA-0A05-CA3A2DECA599}"/>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11E71AD2-5E6A-8037-4053-A9CAD69FFF10}"/>
              </a:ext>
            </a:extLst>
          </p:cNvPr>
          <p:cNvSpPr/>
          <p:nvPr/>
        </p:nvSpPr>
        <p:spPr>
          <a:xfrm>
            <a:off x="137160" y="164592"/>
            <a:ext cx="6400800" cy="502920"/>
          </a:xfrm>
          <a:prstGeom prst="rect">
            <a:avLst/>
          </a:prstGeom>
          <a:noFill/>
          <a:ln/>
        </p:spPr>
        <p:txBody>
          <a:bodyPr wrap="square" lIns="0" tIns="0" rIns="0" bIns="0" rtlCol="0" anchor="ctr"/>
          <a:lstStyle/>
          <a:p>
            <a:r>
              <a:rPr lang="en-US" sz="2800" b="1" dirty="0">
                <a:solidFill>
                  <a:srgbClr val="F0EDE8"/>
                </a:solidFill>
                <a:latin typeface="Arial Black"/>
              </a:rPr>
              <a:t>LLMs, GPTs and </a:t>
            </a:r>
            <a:r>
              <a:rPr lang="en-US" sz="2800" b="1" dirty="0" err="1">
                <a:solidFill>
                  <a:srgbClr val="F0EDE8"/>
                </a:solidFill>
                <a:latin typeface="Arial Black"/>
              </a:rPr>
              <a:t>MoE's</a:t>
            </a:r>
            <a:endParaRPr lang="en-US" sz="2800" dirty="0" err="1"/>
          </a:p>
        </p:txBody>
      </p:sp>
      <p:sp>
        <p:nvSpPr>
          <p:cNvPr id="4" name="Shape 2">
            <a:extLst>
              <a:ext uri="{FF2B5EF4-FFF2-40B4-BE49-F238E27FC236}">
                <a16:creationId xmlns:a16="http://schemas.microsoft.com/office/drawing/2014/main" id="{AB382673-7571-3A16-03B2-78C49F88922E}"/>
              </a:ext>
            </a:extLst>
          </p:cNvPr>
          <p:cNvSpPr/>
          <p:nvPr/>
        </p:nvSpPr>
        <p:spPr>
          <a:xfrm>
            <a:off x="137160" y="822960"/>
            <a:ext cx="5029200" cy="3749040"/>
          </a:xfrm>
          <a:prstGeom prst="rect">
            <a:avLst/>
          </a:prstGeom>
          <a:solidFill>
            <a:srgbClr val="1E1E1E"/>
          </a:solidFill>
          <a:ln w="6350">
            <a:solidFill>
              <a:srgbClr val="3A3A3A"/>
            </a:solidFill>
            <a:prstDash val="solid"/>
          </a:ln>
        </p:spPr>
      </p:sp>
      <p:sp>
        <p:nvSpPr>
          <p:cNvPr id="5" name="Shape 3">
            <a:extLst>
              <a:ext uri="{FF2B5EF4-FFF2-40B4-BE49-F238E27FC236}">
                <a16:creationId xmlns:a16="http://schemas.microsoft.com/office/drawing/2014/main" id="{FE15E15B-7DE9-483E-241F-85C1FDE6729B}"/>
              </a:ext>
            </a:extLst>
          </p:cNvPr>
          <p:cNvSpPr/>
          <p:nvPr/>
        </p:nvSpPr>
        <p:spPr>
          <a:xfrm>
            <a:off x="137160" y="822960"/>
            <a:ext cx="64008" cy="3749040"/>
          </a:xfrm>
          <a:prstGeom prst="rect">
            <a:avLst/>
          </a:prstGeom>
          <a:solidFill>
            <a:srgbClr val="7A0000"/>
          </a:solidFill>
          <a:ln w="12700">
            <a:solidFill>
              <a:srgbClr val="7A0000"/>
            </a:solidFill>
            <a:prstDash val="solid"/>
          </a:ln>
        </p:spPr>
      </p:sp>
      <p:sp>
        <p:nvSpPr>
          <p:cNvPr id="6" name="Text 4">
            <a:extLst>
              <a:ext uri="{FF2B5EF4-FFF2-40B4-BE49-F238E27FC236}">
                <a16:creationId xmlns:a16="http://schemas.microsoft.com/office/drawing/2014/main" id="{54BC164B-CC51-EEA4-79FA-8FA0F6E0E468}"/>
              </a:ext>
            </a:extLst>
          </p:cNvPr>
          <p:cNvSpPr/>
          <p:nvPr/>
        </p:nvSpPr>
        <p:spPr>
          <a:xfrm>
            <a:off x="320040" y="914400"/>
            <a:ext cx="4663440" cy="3474720"/>
          </a:xfrm>
          <a:prstGeom prst="rect">
            <a:avLst/>
          </a:prstGeom>
          <a:noFill/>
          <a:ln/>
        </p:spPr>
        <p:txBody>
          <a:bodyPr wrap="square" lIns="91440" tIns="45720" rIns="91440" bIns="45720" rtlCol="0" anchor="t"/>
          <a:lstStyle/>
          <a:p>
            <a:pPr>
              <a:buSzPct val="100000"/>
              <a:buFont typeface="Arial"/>
              <a:buChar char="•"/>
            </a:pPr>
            <a:r>
              <a:rPr lang="en-US" sz="1200">
                <a:solidFill>
                  <a:srgbClr val="F0EDE8"/>
                </a:solidFill>
                <a:latin typeface="JetBrains Mono"/>
                <a:ea typeface="+mn-lt"/>
                <a:cs typeface="Courier New"/>
              </a:rPr>
              <a:t>Manual features and shallow algorithms</a:t>
            </a:r>
            <a:endParaRPr lang="en-US" sz="1200">
              <a:solidFill>
                <a:srgbClr val="F0EDE8"/>
              </a:solidFill>
              <a:latin typeface="JetBrains Mono"/>
              <a:ea typeface="Calibri"/>
              <a:cs typeface="Courier New"/>
            </a:endParaRPr>
          </a:p>
          <a:p>
            <a:pPr>
              <a:buSzPct val="100000"/>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Neural networks with greater compute and storage</a:t>
            </a:r>
            <a:endParaRPr lang="en-US" sz="1200">
              <a:latin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Deep learning with automated hierarchical layer representations</a:t>
            </a:r>
            <a:endParaRPr lang="en-US" sz="1200">
              <a:latin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Transformers with attention and parallelism</a:t>
            </a:r>
            <a:endParaRPr lang="en-US" sz="1200">
              <a:latin typeface="JetBrains Mono"/>
              <a:cs typeface="Courier New"/>
            </a:endParaRPr>
          </a:p>
          <a:p>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Increased scale and self-supervision</a:t>
            </a:r>
            <a:endParaRPr lang="en-US" sz="1200">
              <a:solidFill>
                <a:srgbClr val="F0EDE8"/>
              </a:solidFill>
              <a:latin typeface="Courier New"/>
              <a:ea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dirty="0">
                <a:solidFill>
                  <a:srgbClr val="F0EDE8"/>
                </a:solidFill>
                <a:latin typeface="JetBrains Mono"/>
                <a:ea typeface="+mn-lt"/>
                <a:cs typeface="Courier New"/>
              </a:rPr>
              <a:t>Generative Pre-Trained </a:t>
            </a:r>
            <a:r>
              <a:rPr lang="en-US" sz="1200">
                <a:solidFill>
                  <a:srgbClr val="F0EDE8"/>
                </a:solidFill>
                <a:latin typeface="JetBrains Mono"/>
                <a:ea typeface="+mn-lt"/>
                <a:cs typeface="Courier New"/>
              </a:rPr>
              <a:t>Transformers</a:t>
            </a:r>
            <a:endParaRPr lang="en-US" sz="1200" dirty="0">
              <a:solidFill>
                <a:srgbClr val="F0EDE8"/>
              </a:solidFill>
              <a:latin typeface="Courier New"/>
              <a:ea typeface="JetBrains Mono"/>
              <a:cs typeface="Courier New"/>
            </a:endParaRPr>
          </a:p>
          <a:p>
            <a:pPr>
              <a:buFont typeface="Arial"/>
              <a:buChar char="•"/>
            </a:pPr>
            <a:endParaRPr lang="en-US" sz="1200">
              <a:solidFill>
                <a:srgbClr val="F0EDE8"/>
              </a:solidFill>
              <a:latin typeface="Courier New"/>
              <a:ea typeface="JetBrains Mono"/>
              <a:cs typeface="Courier New"/>
            </a:endParaRPr>
          </a:p>
          <a:p>
            <a:pPr>
              <a:buFont typeface="Arial"/>
              <a:buChar char="•"/>
            </a:pPr>
            <a:r>
              <a:rPr lang="en-US" sz="1200" dirty="0">
                <a:solidFill>
                  <a:srgbClr val="F0EDE8"/>
                </a:solidFill>
                <a:latin typeface="Courier New"/>
                <a:ea typeface="JetBrains Mono"/>
                <a:cs typeface="Courier New"/>
              </a:rPr>
              <a:t>Mixture of Experts activates multiple Feed Forw</a:t>
            </a:r>
            <a:r>
              <a:rPr lang="en-US" sz="1200">
                <a:solidFill>
                  <a:srgbClr val="F0EDE8"/>
                </a:solidFill>
                <a:latin typeface="Courier New"/>
                <a:ea typeface="JetBrains Mono"/>
                <a:cs typeface="Courier New"/>
              </a:rPr>
              <a:t>ard Networks</a:t>
            </a:r>
            <a:endParaRPr lang="en-US" sz="1200" dirty="0">
              <a:solidFill>
                <a:srgbClr val="F0EDE8"/>
              </a:solidFill>
              <a:latin typeface="Courier New"/>
              <a:ea typeface="JetBrains Mono"/>
              <a:cs typeface="Courier New"/>
            </a:endParaRPr>
          </a:p>
          <a:p>
            <a:pPr marL="342900" indent="-342900" algn="l">
              <a:spcAft>
                <a:spcPts val="1200"/>
              </a:spcAft>
              <a:buSzPct val="100000"/>
              <a:buChar char="•"/>
            </a:pPr>
            <a:endParaRPr lang="en-US" sz="1300" dirty="0">
              <a:solidFill>
                <a:srgbClr val="F0EDE8"/>
              </a:solidFill>
              <a:latin typeface="Calibri"/>
              <a:ea typeface="Calibri"/>
              <a:cs typeface="Calibri"/>
            </a:endParaRPr>
          </a:p>
        </p:txBody>
      </p:sp>
      <p:sp>
        <p:nvSpPr>
          <p:cNvPr id="13" name="Shape 11">
            <a:extLst>
              <a:ext uri="{FF2B5EF4-FFF2-40B4-BE49-F238E27FC236}">
                <a16:creationId xmlns:a16="http://schemas.microsoft.com/office/drawing/2014/main" id="{2EB0A5DB-CF27-45C7-EC44-5562113BFA40}"/>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5B85E5B8-4A7A-EA9E-1B0A-4D81231D3514}"/>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835C1235-D3B5-2017-180D-9FE0276E6099}"/>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B289D510-1137-0398-41CD-6D3923CBE394}"/>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pic>
        <p:nvPicPr>
          <p:cNvPr id="7" name="Picture 6" descr="algorithms evolve from manual algorithms to neural networks to large language models represented with fractal math on a ...">
            <a:extLst>
              <a:ext uri="{FF2B5EF4-FFF2-40B4-BE49-F238E27FC236}">
                <a16:creationId xmlns:a16="http://schemas.microsoft.com/office/drawing/2014/main" id="{AA8169F6-017A-8D3D-F463-ACD26D7B890D}"/>
              </a:ext>
            </a:extLst>
          </p:cNvPr>
          <p:cNvPicPr>
            <a:picLocks noChangeAspect="1"/>
          </p:cNvPicPr>
          <p:nvPr/>
        </p:nvPicPr>
        <p:blipFill>
          <a:blip r:embed="rId3"/>
          <a:stretch>
            <a:fillRect/>
          </a:stretch>
        </p:blipFill>
        <p:spPr>
          <a:xfrm>
            <a:off x="5214124" y="823332"/>
            <a:ext cx="3789557" cy="3747740"/>
          </a:xfrm>
          <a:prstGeom prst="rect">
            <a:avLst/>
          </a:prstGeom>
        </p:spPr>
      </p:pic>
    </p:spTree>
    <p:extLst>
      <p:ext uri="{BB962C8B-B14F-4D97-AF65-F5344CB8AC3E}">
        <p14:creationId xmlns:p14="http://schemas.microsoft.com/office/powerpoint/2010/main" val="296802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544B03D2-8507-2CEC-3621-8667FDE06A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BA3333-8E97-AC45-4EF5-5ACC42BDF668}"/>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C4AFA84B-E474-DCE9-3506-E2BFA7176E7A}"/>
              </a:ext>
            </a:extLst>
          </p:cNvPr>
          <p:cNvSpPr/>
          <p:nvPr/>
        </p:nvSpPr>
        <p:spPr>
          <a:xfrm>
            <a:off x="137160" y="164592"/>
            <a:ext cx="6400800" cy="502920"/>
          </a:xfrm>
          <a:prstGeom prst="rect">
            <a:avLst/>
          </a:prstGeom>
          <a:noFill/>
          <a:ln/>
        </p:spPr>
        <p:txBody>
          <a:bodyPr wrap="square" lIns="0" tIns="0" rIns="0" bIns="0" rtlCol="0" anchor="ctr"/>
          <a:lstStyle/>
          <a:p>
            <a:r>
              <a:rPr lang="en-US" sz="2800" b="1">
                <a:solidFill>
                  <a:srgbClr val="F0EDE8"/>
                </a:solidFill>
                <a:latin typeface="Arial Black"/>
              </a:rPr>
              <a:t>GPT Workflow</a:t>
            </a:r>
            <a:endParaRPr lang="en-US" sz="2800" b="1" dirty="0">
              <a:solidFill>
                <a:srgbClr val="F0EDE8"/>
              </a:solidFill>
              <a:latin typeface="Arial Black"/>
            </a:endParaRPr>
          </a:p>
        </p:txBody>
      </p:sp>
      <p:sp>
        <p:nvSpPr>
          <p:cNvPr id="13" name="Shape 11">
            <a:extLst>
              <a:ext uri="{FF2B5EF4-FFF2-40B4-BE49-F238E27FC236}">
                <a16:creationId xmlns:a16="http://schemas.microsoft.com/office/drawing/2014/main" id="{70226AF1-939B-DD41-65E3-36B41DC85140}"/>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F4A17A19-5847-2D4E-A33C-04FC85E918C1}"/>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864D7BF2-4D47-7C4C-3B5A-12DA704FF6B4}"/>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94FEBEF8-9EDA-94E4-A9B0-5046BC728CDC}"/>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pic>
        <p:nvPicPr>
          <p:cNvPr id="7" name="Picture 6" descr="A screenshot of a computer&#10;&#10;AI-generated content may be incorrect.">
            <a:extLst>
              <a:ext uri="{FF2B5EF4-FFF2-40B4-BE49-F238E27FC236}">
                <a16:creationId xmlns:a16="http://schemas.microsoft.com/office/drawing/2014/main" id="{83F3DDA1-4A02-E8BB-67C9-BC849291080B}"/>
              </a:ext>
            </a:extLst>
          </p:cNvPr>
          <p:cNvPicPr>
            <a:picLocks noChangeAspect="1"/>
          </p:cNvPicPr>
          <p:nvPr/>
        </p:nvPicPr>
        <p:blipFill>
          <a:blip r:embed="rId3"/>
          <a:stretch>
            <a:fillRect/>
          </a:stretch>
        </p:blipFill>
        <p:spPr>
          <a:xfrm>
            <a:off x="3091391" y="299688"/>
            <a:ext cx="4292397" cy="4258373"/>
          </a:xfrm>
          <a:prstGeom prst="rect">
            <a:avLst/>
          </a:prstGeom>
        </p:spPr>
      </p:pic>
    </p:spTree>
    <p:extLst>
      <p:ext uri="{BB962C8B-B14F-4D97-AF65-F5344CB8AC3E}">
        <p14:creationId xmlns:p14="http://schemas.microsoft.com/office/powerpoint/2010/main" val="1984446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2E6DAD1B-015E-DCD8-0630-D50F6B66C9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B793DFC-E070-2D5D-2DAE-8ABE148CAB43}"/>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DC48C81A-7A65-BC34-9044-1E53C9389A37}"/>
              </a:ext>
            </a:extLst>
          </p:cNvPr>
          <p:cNvSpPr/>
          <p:nvPr/>
        </p:nvSpPr>
        <p:spPr>
          <a:xfrm>
            <a:off x="137160" y="164592"/>
            <a:ext cx="6400800" cy="502920"/>
          </a:xfrm>
          <a:prstGeom prst="rect">
            <a:avLst/>
          </a:prstGeom>
          <a:noFill/>
          <a:ln/>
        </p:spPr>
        <p:txBody>
          <a:bodyPr wrap="square" lIns="0" tIns="0" rIns="0" bIns="0" rtlCol="0" anchor="ctr"/>
          <a:lstStyle/>
          <a:p>
            <a:r>
              <a:rPr lang="en-US" sz="2800" b="1" dirty="0" err="1">
                <a:solidFill>
                  <a:srgbClr val="F0EDE8"/>
                </a:solidFill>
                <a:latin typeface="Arial Black"/>
              </a:rPr>
              <a:t>MoE</a:t>
            </a:r>
            <a:r>
              <a:rPr lang="en-US" sz="2800" b="1" dirty="0">
                <a:solidFill>
                  <a:srgbClr val="F0EDE8"/>
                </a:solidFill>
                <a:latin typeface="Arial Black"/>
              </a:rPr>
              <a:t> Workflow</a:t>
            </a:r>
          </a:p>
        </p:txBody>
      </p:sp>
      <p:sp>
        <p:nvSpPr>
          <p:cNvPr id="13" name="Shape 11">
            <a:extLst>
              <a:ext uri="{FF2B5EF4-FFF2-40B4-BE49-F238E27FC236}">
                <a16:creationId xmlns:a16="http://schemas.microsoft.com/office/drawing/2014/main" id="{D4C56495-3003-A9FF-B990-B003449EFAAD}"/>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F91CCE13-A596-39FE-C280-B40C200E1343}"/>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C99F36B8-3372-0E7C-96E3-883A1F945C56}"/>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4ABBF4B9-F1E8-55F5-119F-119FC7CB0C3A}"/>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pic>
        <p:nvPicPr>
          <p:cNvPr id="4" name="Picture 3" descr="A screenshot of a diagram&#10;&#10;AI-generated content may be incorrect.">
            <a:extLst>
              <a:ext uri="{FF2B5EF4-FFF2-40B4-BE49-F238E27FC236}">
                <a16:creationId xmlns:a16="http://schemas.microsoft.com/office/drawing/2014/main" id="{57397C0C-7FE7-0E4D-0AD6-6091E4651B12}"/>
              </a:ext>
            </a:extLst>
          </p:cNvPr>
          <p:cNvPicPr>
            <a:picLocks noChangeAspect="1"/>
          </p:cNvPicPr>
          <p:nvPr/>
        </p:nvPicPr>
        <p:blipFill>
          <a:blip r:embed="rId3"/>
          <a:stretch>
            <a:fillRect/>
          </a:stretch>
        </p:blipFill>
        <p:spPr>
          <a:xfrm>
            <a:off x="3084151" y="334537"/>
            <a:ext cx="4209300" cy="4181708"/>
          </a:xfrm>
          <a:prstGeom prst="rect">
            <a:avLst/>
          </a:prstGeom>
        </p:spPr>
      </p:pic>
    </p:spTree>
    <p:extLst>
      <p:ext uri="{BB962C8B-B14F-4D97-AF65-F5344CB8AC3E}">
        <p14:creationId xmlns:p14="http://schemas.microsoft.com/office/powerpoint/2010/main" val="2280372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323525A6-D5A9-E12C-18A3-E6B2B7CEE7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8797E0D-17C5-E6D4-3847-CBE5AB475366}"/>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44603E90-5762-0E2F-D96C-96982A31A861}"/>
              </a:ext>
            </a:extLst>
          </p:cNvPr>
          <p:cNvSpPr/>
          <p:nvPr/>
        </p:nvSpPr>
        <p:spPr>
          <a:xfrm>
            <a:off x="137160" y="164592"/>
            <a:ext cx="6400800" cy="502920"/>
          </a:xfrm>
          <a:prstGeom prst="rect">
            <a:avLst/>
          </a:prstGeom>
          <a:noFill/>
          <a:ln/>
        </p:spPr>
        <p:txBody>
          <a:bodyPr wrap="square" lIns="0" tIns="0" rIns="0" bIns="0" rtlCol="0" anchor="ctr"/>
          <a:lstStyle/>
          <a:p>
            <a:r>
              <a:rPr lang="en-US" sz="2800" b="1" dirty="0">
                <a:solidFill>
                  <a:srgbClr val="F0EDE8"/>
                </a:solidFill>
                <a:latin typeface="Arial Black"/>
              </a:rPr>
              <a:t>Agents and </a:t>
            </a:r>
            <a:r>
              <a:rPr lang="en-US" sz="2800" b="1">
                <a:solidFill>
                  <a:srgbClr val="F0EDE8"/>
                </a:solidFill>
                <a:latin typeface="Arial Black"/>
              </a:rPr>
              <a:t>Super-Agents</a:t>
            </a:r>
            <a:endParaRPr lang="en-US" sz="2800" b="1" dirty="0">
              <a:solidFill>
                <a:srgbClr val="F0EDE8"/>
              </a:solidFill>
              <a:latin typeface="Arial Black"/>
            </a:endParaRPr>
          </a:p>
        </p:txBody>
      </p:sp>
      <p:sp>
        <p:nvSpPr>
          <p:cNvPr id="6" name="Text 4">
            <a:extLst>
              <a:ext uri="{FF2B5EF4-FFF2-40B4-BE49-F238E27FC236}">
                <a16:creationId xmlns:a16="http://schemas.microsoft.com/office/drawing/2014/main" id="{DC9FAB51-F2FF-E896-135F-98C81F15ED10}"/>
              </a:ext>
            </a:extLst>
          </p:cNvPr>
          <p:cNvSpPr/>
          <p:nvPr/>
        </p:nvSpPr>
        <p:spPr>
          <a:xfrm>
            <a:off x="320040" y="914400"/>
            <a:ext cx="4663440" cy="3474720"/>
          </a:xfrm>
          <a:prstGeom prst="rect">
            <a:avLst/>
          </a:prstGeom>
          <a:noFill/>
          <a:ln/>
        </p:spPr>
        <p:txBody>
          <a:bodyPr wrap="square" lIns="91440" tIns="45720" rIns="91440" bIns="45720" rtlCol="0" anchor="t"/>
          <a:lstStyle/>
          <a:p>
            <a:pPr>
              <a:buSzPct val="100000"/>
              <a:buFont typeface="Arial"/>
              <a:buChar char="•"/>
            </a:pPr>
            <a:endParaRPr lang="en-US" sz="1200" dirty="0">
              <a:solidFill>
                <a:srgbClr val="F0EDE8"/>
              </a:solidFill>
              <a:latin typeface="JetBrains Mono"/>
              <a:ea typeface="JetBrains Mono"/>
              <a:cs typeface="Courier New"/>
            </a:endParaRPr>
          </a:p>
          <a:p>
            <a:pPr marL="342900" indent="-342900" algn="l">
              <a:spcAft>
                <a:spcPts val="1200"/>
              </a:spcAft>
              <a:buSzPct val="100000"/>
              <a:buChar char="•"/>
            </a:pPr>
            <a:endParaRPr lang="en-US" sz="1300" dirty="0">
              <a:solidFill>
                <a:srgbClr val="F0EDE8"/>
              </a:solidFill>
              <a:latin typeface="Calibri"/>
              <a:ea typeface="Calibri"/>
              <a:cs typeface="Calibri"/>
            </a:endParaRPr>
          </a:p>
        </p:txBody>
      </p:sp>
      <p:sp>
        <p:nvSpPr>
          <p:cNvPr id="13" name="Shape 11">
            <a:extLst>
              <a:ext uri="{FF2B5EF4-FFF2-40B4-BE49-F238E27FC236}">
                <a16:creationId xmlns:a16="http://schemas.microsoft.com/office/drawing/2014/main" id="{6D644EC4-F226-2CB2-D545-DD0A2F6B5D55}"/>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A520B068-8E28-4086-E4AF-22A99107BB8C}"/>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135880AB-D636-468A-CC08-692333BE3056}"/>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ACBDFBD6-1E6D-F855-0D3A-1846B7FD3837}"/>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pic>
        <p:nvPicPr>
          <p:cNvPr id="9" name="Picture 8" descr="a impressionist glitchcore rendering of an AI agent synthetic humanoid, being stalked by a dark crimson and black clad h...">
            <a:extLst>
              <a:ext uri="{FF2B5EF4-FFF2-40B4-BE49-F238E27FC236}">
                <a16:creationId xmlns:a16="http://schemas.microsoft.com/office/drawing/2014/main" id="{FEE15D26-68B5-A50A-34BC-8F7591A08CC9}"/>
              </a:ext>
            </a:extLst>
          </p:cNvPr>
          <p:cNvPicPr>
            <a:picLocks noChangeAspect="1"/>
          </p:cNvPicPr>
          <p:nvPr/>
        </p:nvPicPr>
        <p:blipFill>
          <a:blip r:embed="rId3"/>
          <a:stretch>
            <a:fillRect/>
          </a:stretch>
        </p:blipFill>
        <p:spPr>
          <a:xfrm>
            <a:off x="5220164" y="822402"/>
            <a:ext cx="3847171" cy="3749598"/>
          </a:xfrm>
          <a:prstGeom prst="rect">
            <a:avLst/>
          </a:prstGeom>
        </p:spPr>
      </p:pic>
      <p:sp>
        <p:nvSpPr>
          <p:cNvPr id="19" name="Shape 2">
            <a:extLst>
              <a:ext uri="{FF2B5EF4-FFF2-40B4-BE49-F238E27FC236}">
                <a16:creationId xmlns:a16="http://schemas.microsoft.com/office/drawing/2014/main" id="{C4546A5D-4FCD-714E-E376-AB46E10DD43A}"/>
              </a:ext>
            </a:extLst>
          </p:cNvPr>
          <p:cNvSpPr/>
          <p:nvPr/>
        </p:nvSpPr>
        <p:spPr>
          <a:xfrm>
            <a:off x="137160" y="822960"/>
            <a:ext cx="5029200" cy="3749040"/>
          </a:xfrm>
          <a:prstGeom prst="rect">
            <a:avLst/>
          </a:prstGeom>
          <a:solidFill>
            <a:srgbClr val="1E1E1E"/>
          </a:solidFill>
          <a:ln w="6350">
            <a:solidFill>
              <a:srgbClr val="3A3A3A"/>
            </a:solidFill>
            <a:prstDash val="solid"/>
          </a:ln>
        </p:spPr>
      </p:sp>
      <p:sp>
        <p:nvSpPr>
          <p:cNvPr id="21" name="Shape 3">
            <a:extLst>
              <a:ext uri="{FF2B5EF4-FFF2-40B4-BE49-F238E27FC236}">
                <a16:creationId xmlns:a16="http://schemas.microsoft.com/office/drawing/2014/main" id="{FADFBBE4-37A1-11C6-37AC-323FCF40FBBF}"/>
              </a:ext>
            </a:extLst>
          </p:cNvPr>
          <p:cNvSpPr/>
          <p:nvPr/>
        </p:nvSpPr>
        <p:spPr>
          <a:xfrm>
            <a:off x="137160" y="822960"/>
            <a:ext cx="64008" cy="3749040"/>
          </a:xfrm>
          <a:prstGeom prst="rect">
            <a:avLst/>
          </a:prstGeom>
          <a:solidFill>
            <a:srgbClr val="7A0000"/>
          </a:solidFill>
          <a:ln w="12700">
            <a:solidFill>
              <a:srgbClr val="7A0000"/>
            </a:solidFill>
            <a:prstDash val="solid"/>
          </a:ln>
        </p:spPr>
      </p:sp>
      <p:sp>
        <p:nvSpPr>
          <p:cNvPr id="23" name="Text 4">
            <a:extLst>
              <a:ext uri="{FF2B5EF4-FFF2-40B4-BE49-F238E27FC236}">
                <a16:creationId xmlns:a16="http://schemas.microsoft.com/office/drawing/2014/main" id="{6C22822C-F938-8C44-BECC-50A7DDE68552}"/>
              </a:ext>
            </a:extLst>
          </p:cNvPr>
          <p:cNvSpPr/>
          <p:nvPr/>
        </p:nvSpPr>
        <p:spPr>
          <a:xfrm>
            <a:off x="472440" y="1066800"/>
            <a:ext cx="4663440" cy="3474720"/>
          </a:xfrm>
          <a:prstGeom prst="rect">
            <a:avLst/>
          </a:prstGeom>
          <a:noFill/>
          <a:ln/>
        </p:spPr>
        <p:txBody>
          <a:bodyPr wrap="square" lIns="91440" tIns="45720" rIns="91440" bIns="45720" rtlCol="0" anchor="t"/>
          <a:lstStyle/>
          <a:p>
            <a:pPr>
              <a:buSzPct val="100000"/>
              <a:buFont typeface="Arial"/>
              <a:buChar char="•"/>
            </a:pPr>
            <a:r>
              <a:rPr lang="en-US" sz="1200" b="1" dirty="0">
                <a:solidFill>
                  <a:srgbClr val="F0EDE8"/>
                </a:solidFill>
                <a:latin typeface="JetBrains Mono"/>
                <a:ea typeface="JetBrains Mono"/>
                <a:cs typeface="Courier New"/>
              </a:rPr>
              <a:t>AI agents</a:t>
            </a:r>
            <a:r>
              <a:rPr lang="en-US" sz="1200" dirty="0">
                <a:solidFill>
                  <a:srgbClr val="F0EDE8"/>
                </a:solidFill>
                <a:latin typeface="JetBrains Mono"/>
                <a:ea typeface="JetBrains Mono"/>
                <a:cs typeface="Courier New"/>
              </a:rPr>
              <a:t> use LLMs to perform specific tasks using tools often exposed </a:t>
            </a:r>
            <a:r>
              <a:rPr lang="en-US" sz="1200">
                <a:solidFill>
                  <a:srgbClr val="F0EDE8"/>
                </a:solidFill>
                <a:latin typeface="JetBrains Mono"/>
                <a:ea typeface="JetBrains Mono"/>
                <a:cs typeface="Courier New"/>
              </a:rPr>
              <a:t>using Model Context Protocol in multi-step reasoning loops</a:t>
            </a:r>
            <a:endParaRPr lang="en-US" sz="1200"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JetBrains Mono"/>
              <a:ea typeface="JetBrains Mono"/>
              <a:cs typeface="Courier New"/>
            </a:endParaRPr>
          </a:p>
          <a:p>
            <a:pPr>
              <a:buFont typeface="Arial"/>
              <a:buChar char="•"/>
            </a:pPr>
            <a:r>
              <a:rPr lang="en-US" sz="1200" b="1">
                <a:solidFill>
                  <a:srgbClr val="F0EDE8"/>
                </a:solidFill>
                <a:latin typeface="JetBrains Mono"/>
                <a:ea typeface="JetBrains Mono"/>
                <a:cs typeface="Courier New"/>
              </a:rPr>
              <a:t>Super agents</a:t>
            </a:r>
            <a:r>
              <a:rPr lang="en-US" sz="1200">
                <a:solidFill>
                  <a:srgbClr val="F0EDE8"/>
                </a:solidFill>
                <a:latin typeface="JetBrains Mono"/>
                <a:ea typeface="JetBrains Mono"/>
                <a:cs typeface="Courier New"/>
              </a:rPr>
              <a:t> orchestrate multiple agents, chain workflows, and are often granted greater autonomy </a:t>
            </a:r>
            <a:endParaRPr lang="en-US" sz="1200">
              <a:solidFill>
                <a:srgbClr val="F0EDE8"/>
              </a:solidFill>
              <a:latin typeface="JetBrains Mono"/>
              <a:ea typeface="JetBrains Mono"/>
              <a:cs typeface="Courier New" panose="02070309020205020404" pitchFamily="49" charset="0"/>
            </a:endParaRPr>
          </a:p>
          <a:p>
            <a:pPr>
              <a:buFont typeface="Arial"/>
              <a:buChar char="•"/>
            </a:pPr>
            <a:endParaRPr lang="en-US" sz="1200" dirty="0">
              <a:solidFill>
                <a:srgbClr val="F0EDE8"/>
              </a:solidFill>
              <a:latin typeface="JetBrains Mono"/>
              <a:ea typeface="JetBrains Mono"/>
              <a:cs typeface="Courier New"/>
            </a:endParaRPr>
          </a:p>
          <a:p>
            <a:pPr>
              <a:buFont typeface="Arial"/>
              <a:buChar char="•"/>
            </a:pPr>
            <a:r>
              <a:rPr lang="en-US" sz="1200" b="1">
                <a:solidFill>
                  <a:srgbClr val="F0EDE8"/>
                </a:solidFill>
                <a:latin typeface="JetBrains Mono"/>
                <a:ea typeface="JetBrains Mono"/>
                <a:cs typeface="Courier New"/>
              </a:rPr>
              <a:t>Key risks</a:t>
            </a:r>
            <a:endParaRPr lang="en-US" sz="1200">
              <a:solidFill>
                <a:srgbClr val="F0EDE8"/>
              </a:solidFill>
              <a:latin typeface="JetBrains Mono"/>
              <a:ea typeface="JetBrains Mono"/>
              <a:cs typeface="Courier New"/>
            </a:endParaRPr>
          </a:p>
          <a:p>
            <a:pPr lvl="1">
              <a:buFont typeface="Courier New"/>
              <a:buChar char="o"/>
            </a:pPr>
            <a:r>
              <a:rPr lang="en-US" sz="1200" dirty="0">
                <a:solidFill>
                  <a:srgbClr val="F0EDE8"/>
                </a:solidFill>
                <a:latin typeface="JetBrains Mono"/>
                <a:ea typeface="JetBrains Mono"/>
                <a:cs typeface="Courier New"/>
              </a:rPr>
              <a:t> Over-</a:t>
            </a:r>
            <a:r>
              <a:rPr lang="en-US" sz="1200">
                <a:solidFill>
                  <a:srgbClr val="F0EDE8"/>
                </a:solidFill>
                <a:latin typeface="JetBrains Mono"/>
                <a:ea typeface="JetBrains Mono"/>
                <a:cs typeface="Courier New"/>
              </a:rPr>
              <a:t>privileged</a:t>
            </a:r>
            <a:r>
              <a:rPr lang="en-US" sz="1200" dirty="0">
                <a:solidFill>
                  <a:srgbClr val="F0EDE8"/>
                </a:solidFill>
                <a:latin typeface="JetBrains Mono"/>
                <a:ea typeface="JetBrains Mono"/>
                <a:cs typeface="Courier New"/>
              </a:rPr>
              <a:t> agents</a:t>
            </a:r>
          </a:p>
          <a:p>
            <a:pPr lvl="1">
              <a:buFont typeface="Courier New"/>
              <a:buChar char="o"/>
            </a:pPr>
            <a:r>
              <a:rPr lang="en-US" sz="1200">
                <a:solidFill>
                  <a:srgbClr val="F0EDE8"/>
                </a:solidFill>
                <a:latin typeface="JetBrains Mono"/>
                <a:ea typeface="JetBrains Mono"/>
                <a:cs typeface="Courier New"/>
              </a:rPr>
              <a:t> Lack of segmentation</a:t>
            </a:r>
            <a:endParaRPr lang="en-US" sz="1200" dirty="0">
              <a:solidFill>
                <a:srgbClr val="F0EDE8"/>
              </a:solidFill>
              <a:latin typeface="JetBrains Mono"/>
              <a:ea typeface="JetBrains Mono"/>
              <a:cs typeface="Courier New"/>
            </a:endParaRPr>
          </a:p>
          <a:p>
            <a:pPr lvl="1">
              <a:buFont typeface="Courier New"/>
              <a:buChar char="o"/>
            </a:pPr>
            <a:r>
              <a:rPr lang="en-US" sz="1200" dirty="0">
                <a:solidFill>
                  <a:srgbClr val="F0EDE8"/>
                </a:solidFill>
                <a:latin typeface="JetBrains Mono"/>
                <a:ea typeface="JetBrains Mono"/>
                <a:cs typeface="Courier New"/>
              </a:rPr>
              <a:t> Vul</a:t>
            </a:r>
            <a:r>
              <a:rPr lang="en-US" sz="1200">
                <a:solidFill>
                  <a:srgbClr val="F0EDE8"/>
                </a:solidFill>
                <a:latin typeface="JetBrains Mono"/>
                <a:ea typeface="JetBrains Mono"/>
                <a:cs typeface="Courier New"/>
              </a:rPr>
              <a:t>nerabilities (Prompt Injections)</a:t>
            </a:r>
            <a:endParaRPr lang="en-US" sz="1200" dirty="0">
              <a:solidFill>
                <a:srgbClr val="F0EDE8"/>
              </a:solidFill>
              <a:latin typeface="JetBrains Mono"/>
              <a:ea typeface="JetBrains Mono"/>
              <a:cs typeface="Courier New"/>
            </a:endParaRPr>
          </a:p>
          <a:p>
            <a:pPr lvl="1">
              <a:buFont typeface="Courier New"/>
              <a:buChar char="o"/>
            </a:pPr>
            <a:r>
              <a:rPr lang="en-US" sz="1200">
                <a:solidFill>
                  <a:srgbClr val="F0EDE8"/>
                </a:solidFill>
                <a:latin typeface="JetBrains Mono"/>
                <a:ea typeface="JetBrains Mono"/>
                <a:cs typeface="Courier New"/>
              </a:rPr>
              <a:t> Governance gaps</a:t>
            </a:r>
            <a:endParaRPr lang="en-US" sz="1200" dirty="0">
              <a:solidFill>
                <a:srgbClr val="F0EDE8"/>
              </a:solidFill>
              <a:latin typeface="JetBrains Mono"/>
              <a:ea typeface="JetBrains Mono"/>
              <a:cs typeface="Courier New"/>
            </a:endParaRPr>
          </a:p>
          <a:p>
            <a:pPr lvl="1">
              <a:buFont typeface="Courier New"/>
              <a:buChar char="o"/>
            </a:pPr>
            <a:r>
              <a:rPr lang="en-US" sz="1200">
                <a:solidFill>
                  <a:srgbClr val="F0EDE8"/>
                </a:solidFill>
                <a:latin typeface="JetBrains Mono"/>
                <a:ea typeface="JetBrains Mono"/>
                <a:cs typeface="Courier New"/>
              </a:rPr>
              <a:t> Lack of auditing/observability</a:t>
            </a:r>
          </a:p>
          <a:p>
            <a:pPr lvl="1">
              <a:buFont typeface="Courier New"/>
              <a:buChar char="o"/>
            </a:pPr>
            <a:r>
              <a:rPr lang="en-US" sz="1200">
                <a:solidFill>
                  <a:srgbClr val="F0EDE8"/>
                </a:solidFill>
                <a:latin typeface="JetBrains Mono"/>
                <a:ea typeface="JetBrains Mono"/>
                <a:cs typeface="Courier New"/>
              </a:rPr>
              <a:t> Errors can propagate rapidly with no HITL</a:t>
            </a:r>
          </a:p>
          <a:p>
            <a:pPr lvl="1">
              <a:buFont typeface="Courier New"/>
              <a:buChar char="o"/>
            </a:pPr>
            <a:endParaRPr lang="en-US" sz="1200" dirty="0">
              <a:solidFill>
                <a:srgbClr val="F0EDE8"/>
              </a:solidFill>
              <a:latin typeface="JetBrains Mono"/>
              <a:ea typeface="JetBrains Mono"/>
              <a:cs typeface="Courier New" panose="02070309020205020404" pitchFamily="49" charset="0"/>
            </a:endParaRPr>
          </a:p>
          <a:p>
            <a:pPr>
              <a:buFont typeface="Arial"/>
              <a:buChar char="•"/>
            </a:pPr>
            <a:r>
              <a:rPr lang="en-US" sz="1200">
                <a:solidFill>
                  <a:srgbClr val="F0EDE8"/>
                </a:solidFill>
                <a:latin typeface="JetBrains Mono"/>
                <a:ea typeface="JetBrains Mono"/>
                <a:cs typeface="Courier New"/>
              </a:rPr>
              <a:t>Examples (Demo #1)</a:t>
            </a:r>
            <a:endParaRPr lang="en-US" sz="1200">
              <a:solidFill>
                <a:srgbClr val="F0EDE8"/>
              </a:solidFill>
              <a:latin typeface="JetBrains Mono"/>
              <a:ea typeface="JetBrains Mono"/>
              <a:cs typeface="Courier New" panose="02070309020205020404" pitchFamily="49" charset="0"/>
            </a:endParaRPr>
          </a:p>
          <a:p>
            <a:pPr lvl="1">
              <a:buFont typeface="Courier New"/>
              <a:buChar char="o"/>
            </a:pPr>
            <a:endParaRPr lang="en-US">
              <a:solidFill>
                <a:srgbClr val="000000"/>
              </a:solidFill>
              <a:latin typeface="Courier New" panose="02070309020205020404" pitchFamily="49" charset="0"/>
              <a:ea typeface="JetBrains Mono"/>
              <a:cs typeface="Courier New" panose="02070309020205020404" pitchFamily="49" charset="0"/>
            </a:endParaRPr>
          </a:p>
          <a:p>
            <a:pPr lvl="1">
              <a:buFont typeface="Courier New"/>
              <a:buChar char="o"/>
            </a:pPr>
            <a:endParaRPr lang="en-US" sz="1200" b="1"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Courier New"/>
              <a:ea typeface="JetBrains Mono"/>
              <a:cs typeface="Courier New"/>
            </a:endParaRPr>
          </a:p>
          <a:p>
            <a:pPr marL="342900" indent="-342900">
              <a:spcAft>
                <a:spcPts val="1200"/>
              </a:spcAft>
              <a:buSzPct val="100000"/>
              <a:buFontTx/>
              <a:buChar char="•"/>
            </a:pPr>
            <a:endParaRPr lang="en-US" sz="1300" dirty="0">
              <a:solidFill>
                <a:srgbClr val="F0EDE8"/>
              </a:solidFill>
              <a:latin typeface="Calibri"/>
              <a:ea typeface="Calibri"/>
              <a:cs typeface="Calibri"/>
            </a:endParaRPr>
          </a:p>
        </p:txBody>
      </p:sp>
    </p:spTree>
    <p:extLst>
      <p:ext uri="{BB962C8B-B14F-4D97-AF65-F5344CB8AC3E}">
        <p14:creationId xmlns:p14="http://schemas.microsoft.com/office/powerpoint/2010/main" val="814761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274320" y="-457200"/>
            <a:ext cx="4572000" cy="3657600"/>
          </a:xfrm>
          <a:prstGeom prst="rect">
            <a:avLst/>
          </a:prstGeom>
          <a:noFill/>
          <a:ln/>
        </p:spPr>
        <p:txBody>
          <a:bodyPr wrap="square" lIns="0" tIns="0" rIns="0" bIns="0" rtlCol="0" anchor="ctr"/>
          <a:lstStyle/>
          <a:p>
            <a:pPr marL="0" indent="0" algn="l">
              <a:buNone/>
            </a:pPr>
            <a:r>
              <a:rPr lang="en-US" sz="28000" dirty="0">
                <a:solidFill>
                  <a:srgbClr val="7A0000">
                    <a:alpha val="70000"/>
                  </a:srgbClr>
                </a:solidFill>
                <a:latin typeface="Georgia" pitchFamily="34" charset="0"/>
                <a:ea typeface="Georgia" pitchFamily="34" charset="-122"/>
                <a:cs typeface="Georgia" pitchFamily="34" charset="-120"/>
              </a:rPr>
              <a:t>“</a:t>
            </a:r>
            <a:endParaRPr lang="en-US" sz="28000" dirty="0"/>
          </a:p>
        </p:txBody>
      </p:sp>
      <p:sp>
        <p:nvSpPr>
          <p:cNvPr id="3" name="Text 1"/>
          <p:cNvSpPr/>
          <p:nvPr/>
        </p:nvSpPr>
        <p:spPr>
          <a:xfrm>
            <a:off x="731520" y="914400"/>
            <a:ext cx="7680960" cy="2011680"/>
          </a:xfrm>
          <a:prstGeom prst="rect">
            <a:avLst/>
          </a:prstGeom>
          <a:noFill/>
          <a:ln/>
        </p:spPr>
        <p:txBody>
          <a:bodyPr wrap="square" lIns="91440" tIns="45720" rIns="91440" bIns="45720" rtlCol="0" anchor="ctr"/>
          <a:lstStyle/>
          <a:p>
            <a:pPr algn="ctr"/>
            <a:r>
              <a:rPr lang="en-US" sz="1200">
                <a:solidFill>
                  <a:schemeClr val="bg2"/>
                </a:solidFill>
                <a:latin typeface="JetBrains Mono"/>
                <a:ea typeface="+mn-lt"/>
                <a:cs typeface="Courier New"/>
              </a:rPr>
              <a:t>The experiences of the atomic scientists clearly show the need to take personal responsibility, the danger that things will move too fast, and the way in which a process can take on a life of its own. We can, as they did, create insurmountable problems in almost no time flat. We must do more thinking up front if we are not to be similarly surprised and shocked by the consequences of our inventions.</a:t>
            </a:r>
            <a:endParaRPr lang="en-US">
              <a:solidFill>
                <a:schemeClr val="bg2"/>
              </a:solidFill>
              <a:latin typeface="JetBrains Mono"/>
              <a:cs typeface="Courier New"/>
            </a:endParaRPr>
          </a:p>
        </p:txBody>
      </p:sp>
      <p:sp>
        <p:nvSpPr>
          <p:cNvPr id="4" name="Shape 2"/>
          <p:cNvSpPr/>
          <p:nvPr/>
        </p:nvSpPr>
        <p:spPr>
          <a:xfrm>
            <a:off x="3474720" y="3063240"/>
            <a:ext cx="2194560" cy="45720"/>
          </a:xfrm>
          <a:prstGeom prst="rect">
            <a:avLst/>
          </a:prstGeom>
          <a:solidFill>
            <a:srgbClr val="CC0000"/>
          </a:solidFill>
          <a:ln w="12700">
            <a:solidFill>
              <a:srgbClr val="CC0000"/>
            </a:solidFill>
            <a:prstDash val="solid"/>
          </a:ln>
        </p:spPr>
      </p:sp>
      <p:sp>
        <p:nvSpPr>
          <p:cNvPr id="5" name="Text 3"/>
          <p:cNvSpPr/>
          <p:nvPr/>
        </p:nvSpPr>
        <p:spPr>
          <a:xfrm>
            <a:off x="0" y="3200400"/>
            <a:ext cx="9144000" cy="365760"/>
          </a:xfrm>
          <a:prstGeom prst="rect">
            <a:avLst/>
          </a:prstGeom>
          <a:noFill/>
          <a:ln/>
        </p:spPr>
        <p:txBody>
          <a:bodyPr wrap="square" lIns="0" tIns="0" rIns="0" bIns="0" rtlCol="0" anchor="ctr"/>
          <a:lstStyle/>
          <a:p>
            <a:pPr algn="ctr"/>
            <a:r>
              <a:rPr lang="en-US" sz="1200" b="1" dirty="0">
                <a:solidFill>
                  <a:srgbClr val="FF1A1A"/>
                </a:solidFill>
                <a:latin typeface="JetBrains Mono"/>
                <a:ea typeface="JetBrains Mono"/>
                <a:cs typeface="JetBrains Mono" pitchFamily="34" charset="-120"/>
              </a:rPr>
              <a:t>— Bill Joy, "Why The Future Doesn't Need Us", </a:t>
            </a:r>
            <a:r>
              <a:rPr lang="en-US" sz="1200" b="1" i="1" dirty="0">
                <a:solidFill>
                  <a:srgbClr val="FF1A1A"/>
                </a:solidFill>
                <a:latin typeface="JetBrains Mono"/>
                <a:ea typeface="JetBrains Mono"/>
                <a:cs typeface="JetBrains Mono" pitchFamily="34" charset="-120"/>
              </a:rPr>
              <a:t>Wired Magazine</a:t>
            </a:r>
            <a:r>
              <a:rPr lang="en-US" sz="1200" b="1">
                <a:solidFill>
                  <a:srgbClr val="FF1A1A"/>
                </a:solidFill>
                <a:latin typeface="JetBrains Mono"/>
                <a:ea typeface="JetBrains Mono"/>
                <a:cs typeface="JetBrains Mono" pitchFamily="34" charset="-120"/>
              </a:rPr>
              <a:t>, 2000</a:t>
            </a:r>
            <a:endParaRPr lang="en-US" sz="1200">
              <a:latin typeface="JetBrains Mono"/>
            </a:endParaRPr>
          </a:p>
        </p:txBody>
      </p:sp>
      <p:sp>
        <p:nvSpPr>
          <p:cNvPr id="6" name="Shape 4"/>
          <p:cNvSpPr/>
          <p:nvPr/>
        </p:nvSpPr>
        <p:spPr>
          <a:xfrm>
            <a:off x="0" y="4800600"/>
            <a:ext cx="9144000" cy="342900"/>
          </a:xfrm>
          <a:prstGeom prst="rect">
            <a:avLst/>
          </a:prstGeom>
          <a:solidFill>
            <a:srgbClr val="7A0000"/>
          </a:solidFill>
          <a:ln w="12700">
            <a:solidFill>
              <a:srgbClr val="7A0000"/>
            </a:solidFill>
            <a:prstDash val="solid"/>
          </a:ln>
        </p:spPr>
      </p:sp>
      <p:sp>
        <p:nvSpPr>
          <p:cNvPr id="7" name="Text 5"/>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8" name="Text 6"/>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1A1A1A"/>
          </a:solidFill>
          <a:ln w="6350">
            <a:solidFill>
              <a:srgbClr val="3A3A3A"/>
            </a:solidFill>
            <a:prstDash val="solid"/>
          </a:ln>
        </p:spPr>
      </p:sp>
      <p:sp>
        <p:nvSpPr>
          <p:cNvPr id="3" name="Shape 1"/>
          <p:cNvSpPr/>
          <p:nvPr/>
        </p:nvSpPr>
        <p:spPr>
          <a:xfrm>
            <a:off x="182880" y="128016"/>
            <a:ext cx="164592" cy="164592"/>
          </a:xfrm>
          <a:prstGeom prst="ellipse">
            <a:avLst/>
          </a:prstGeom>
          <a:solidFill>
            <a:srgbClr val="FF5F57"/>
          </a:solidFill>
          <a:ln w="12700">
            <a:solidFill>
              <a:srgbClr val="FF5F57"/>
            </a:solidFill>
            <a:prstDash val="solid"/>
          </a:ln>
        </p:spPr>
      </p:sp>
      <p:sp>
        <p:nvSpPr>
          <p:cNvPr id="4" name="Shape 2"/>
          <p:cNvSpPr/>
          <p:nvPr/>
        </p:nvSpPr>
        <p:spPr>
          <a:xfrm>
            <a:off x="438912" y="128016"/>
            <a:ext cx="164592" cy="164592"/>
          </a:xfrm>
          <a:prstGeom prst="ellipse">
            <a:avLst/>
          </a:prstGeom>
          <a:solidFill>
            <a:srgbClr val="FFBD2E"/>
          </a:solidFill>
          <a:ln w="12700">
            <a:solidFill>
              <a:srgbClr val="FFBD2E"/>
            </a:solidFill>
            <a:prstDash val="solid"/>
          </a:ln>
        </p:spPr>
      </p:sp>
      <p:sp>
        <p:nvSpPr>
          <p:cNvPr id="5" name="Shape 3"/>
          <p:cNvSpPr/>
          <p:nvPr/>
        </p:nvSpPr>
        <p:spPr>
          <a:xfrm>
            <a:off x="694944" y="128016"/>
            <a:ext cx="164592" cy="164592"/>
          </a:xfrm>
          <a:prstGeom prst="ellipse">
            <a:avLst/>
          </a:prstGeom>
          <a:solidFill>
            <a:srgbClr val="28C840"/>
          </a:solidFill>
          <a:ln w="12700">
            <a:solidFill>
              <a:srgbClr val="28C840"/>
            </a:solidFill>
            <a:prstDash val="solid"/>
          </a:ln>
        </p:spPr>
      </p:sp>
      <p:sp>
        <p:nvSpPr>
          <p:cNvPr id="6" name="Text 4"/>
          <p:cNvSpPr/>
          <p:nvPr/>
        </p:nvSpPr>
        <p:spPr>
          <a:xfrm>
            <a:off x="1097280" y="91440"/>
            <a:ext cx="640080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JetBrains Mono" pitchFamily="34" charset="0"/>
                <a:ea typeface="JetBrains Mono" pitchFamily="34" charset="-122"/>
                <a:cs typeface="JetBrains Mono" pitchFamily="34" charset="-120"/>
              </a:rPr>
              <a:t>terminal — bash</a:t>
            </a:r>
            <a:endParaRPr lang="en-US" sz="1000" dirty="0"/>
          </a:p>
        </p:txBody>
      </p:sp>
      <p:sp>
        <p:nvSpPr>
          <p:cNvPr id="7" name="Shape 5"/>
          <p:cNvSpPr/>
          <p:nvPr/>
        </p:nvSpPr>
        <p:spPr>
          <a:xfrm>
            <a:off x="0" y="457200"/>
            <a:ext cx="9144000" cy="4160520"/>
          </a:xfrm>
          <a:prstGeom prst="rect">
            <a:avLst/>
          </a:prstGeom>
          <a:solidFill>
            <a:srgbClr val="0D0D0D"/>
          </a:solidFill>
          <a:ln w="12700">
            <a:solidFill>
              <a:srgbClr val="0D0D0D"/>
            </a:solidFill>
            <a:prstDash val="solid"/>
          </a:ln>
        </p:spPr>
      </p:sp>
      <p:sp>
        <p:nvSpPr>
          <p:cNvPr id="8" name="Text 6"/>
          <p:cNvSpPr/>
          <p:nvPr/>
        </p:nvSpPr>
        <p:spPr>
          <a:xfrm>
            <a:off x="365760" y="594360"/>
            <a:ext cx="8412480" cy="3749040"/>
          </a:xfrm>
          <a:prstGeom prst="rect">
            <a:avLst/>
          </a:prstGeom>
          <a:noFill/>
          <a:ln/>
        </p:spPr>
        <p:txBody>
          <a:bodyPr wrap="square" lIns="91440" tIns="45720" rIns="91440" bIns="45720" rtlCol="0" anchor="t"/>
          <a:lstStyle/>
          <a:p>
            <a:r>
              <a:rPr lang="en-US" sz="1400" b="1" dirty="0">
                <a:solidFill>
                  <a:srgbClr val="FF1A1A"/>
                </a:solidFill>
                <a:latin typeface="JetBrains Mono"/>
                <a:ea typeface="JetBrains Mono"/>
                <a:cs typeface="JetBrains Mono" pitchFamily="34" charset="-120"/>
              </a:rPr>
              <a:t>$ </a:t>
            </a:r>
            <a:r>
              <a:rPr lang="en-US" sz="1400">
                <a:solidFill>
                  <a:srgbClr val="AAAAAA"/>
                </a:solidFill>
                <a:latin typeface="JetBrains Mono"/>
                <a:ea typeface="JetBrains Mono"/>
                <a:cs typeface="JetBrains Mono" pitchFamily="34" charset="-120"/>
              </a:rPr>
              <a:t># THREAT CATEGORIES</a:t>
            </a:r>
            <a:endParaRPr lang="en-US" sz="1400">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Prompt Injection</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Jailbreaking</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Data Exfiltration</a:t>
            </a:r>
            <a:endParaRPr lang="en-US" sz="1400" dirty="0">
              <a:solidFill>
                <a:srgbClr val="FF0000"/>
              </a:solidFill>
              <a:latin typeface="JetBrains Mono"/>
              <a:ea typeface="JetBrains Mono"/>
              <a:cs typeface="Courier New"/>
            </a:endParaRPr>
          </a:p>
          <a:p>
            <a:r>
              <a:rPr lang="en-US" sz="1400" b="1" dirty="0">
                <a:solidFill>
                  <a:srgbClr val="FF0000"/>
                </a:solidFill>
                <a:latin typeface="JetBrains Mono"/>
                <a:ea typeface="JetBrains Mono"/>
                <a:cs typeface="Courier New"/>
              </a:rPr>
              <a:t>[+] </a:t>
            </a:r>
            <a:r>
              <a:rPr lang="en-US" sz="1400" dirty="0">
                <a:solidFill>
                  <a:srgbClr val="FF0000"/>
                </a:solidFill>
                <a:latin typeface="JetBrains Mono"/>
                <a:ea typeface="JetBrains Mono"/>
                <a:cs typeface="Courier New"/>
              </a:rPr>
              <a:t>Agent </a:t>
            </a:r>
            <a:r>
              <a:rPr lang="en-US" sz="1400">
                <a:solidFill>
                  <a:srgbClr val="FF0000"/>
                </a:solidFill>
                <a:latin typeface="JetBrains Mono"/>
                <a:ea typeface="JetBrains Mono"/>
                <a:cs typeface="Courier New"/>
              </a:rPr>
              <a:t>Exploitation</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Malicious Agents</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Sandbox Escape</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Output Manipulation</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Retrieval Attacks</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Model Poisoning</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Model inversion</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Denial of Service</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Social Engineering by LLM</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Context Window Manipulation</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Multi-Modal Attacks</a:t>
            </a:r>
            <a:endParaRPr lang="en-US" sz="1400" dirty="0">
              <a:solidFill>
                <a:srgbClr val="FF0000"/>
              </a:solidFill>
              <a:latin typeface="JetBrains Mono"/>
              <a:ea typeface="JetBrains Mono"/>
              <a:cs typeface="Courier New"/>
            </a:endParaRPr>
          </a:p>
          <a:p>
            <a:r>
              <a:rPr lang="en-US" sz="1400" b="1">
                <a:solidFill>
                  <a:srgbClr val="FF0000"/>
                </a:solidFill>
                <a:latin typeface="JetBrains Mono"/>
                <a:ea typeface="JetBrains Mono"/>
                <a:cs typeface="Courier New"/>
              </a:rPr>
              <a:t>[+] </a:t>
            </a:r>
            <a:r>
              <a:rPr lang="en-US" sz="1400">
                <a:solidFill>
                  <a:srgbClr val="FF0000"/>
                </a:solidFill>
                <a:latin typeface="JetBrains Mono"/>
                <a:ea typeface="JetBrains Mono"/>
                <a:cs typeface="Courier New"/>
              </a:rPr>
              <a:t>Supply Chain Attacks</a:t>
            </a:r>
            <a:endParaRPr lang="en-US" sz="1400" dirty="0">
              <a:solidFill>
                <a:srgbClr val="FF0000"/>
              </a:solidFill>
              <a:latin typeface="JetBrains Mono"/>
              <a:ea typeface="JetBrains Mono"/>
              <a:cs typeface="Courier New"/>
            </a:endParaRPr>
          </a:p>
          <a:p>
            <a:r>
              <a:rPr lang="en-US" sz="1400" b="1">
                <a:solidFill>
                  <a:srgbClr val="FF1A1A"/>
                </a:solidFill>
                <a:latin typeface="JetBrains Mono"/>
                <a:ea typeface="JetBrains Mono"/>
                <a:cs typeface="Courier New"/>
              </a:rPr>
              <a:t>$ </a:t>
            </a:r>
            <a:r>
              <a:rPr lang="en-US" sz="1400">
                <a:solidFill>
                  <a:srgbClr val="AAAAAA"/>
                </a:solidFill>
                <a:latin typeface="JetBrains Mono"/>
                <a:ea typeface="JetBrains Mono"/>
                <a:cs typeface="Courier New"/>
              </a:rPr>
              <a:t>▌</a:t>
            </a:r>
            <a:endParaRPr lang="en-US">
              <a:latin typeface="JetBrains Mono"/>
              <a:ea typeface="JetBrains Mono"/>
              <a:cs typeface="Courier New"/>
            </a:endParaRPr>
          </a:p>
        </p:txBody>
      </p:sp>
      <p:sp>
        <p:nvSpPr>
          <p:cNvPr id="9" name="Shape 7"/>
          <p:cNvSpPr/>
          <p:nvPr/>
        </p:nvSpPr>
        <p:spPr>
          <a:xfrm>
            <a:off x="0" y="4800600"/>
            <a:ext cx="9144000" cy="342900"/>
          </a:xfrm>
          <a:prstGeom prst="rect">
            <a:avLst/>
          </a:prstGeom>
          <a:solidFill>
            <a:srgbClr val="7A0000"/>
          </a:solidFill>
          <a:ln w="12700">
            <a:solidFill>
              <a:srgbClr val="7A0000"/>
            </a:solidFill>
            <a:prstDash val="solid"/>
          </a:ln>
        </p:spPr>
      </p:sp>
      <p:sp>
        <p:nvSpPr>
          <p:cNvPr id="10" name="Text 8"/>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1" name="Text 9"/>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cs typeface="Courier New"/>
              </a:rPr>
              <a:t>AI For Ethical Hackers</a:t>
            </a:r>
            <a:endParaRPr lang="en-US"/>
          </a:p>
        </p:txBody>
      </p:sp>
      <p:sp>
        <p:nvSpPr>
          <p:cNvPr id="12" name="Text 10"/>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21140" cy="342900"/>
          </a:xfrm>
          <a:prstGeom prst="rect">
            <a:avLst/>
          </a:prstGeom>
          <a:solidFill>
            <a:srgbClr val="161B22"/>
          </a:solidFill>
          <a:ln w="6350">
            <a:solidFill>
              <a:srgbClr val="30363D"/>
            </a:solidFill>
            <a:prstDash val="solid"/>
          </a:ln>
        </p:spPr>
      </p:sp>
      <p:sp>
        <p:nvSpPr>
          <p:cNvPr id="3" name="Text 1"/>
          <p:cNvSpPr/>
          <p:nvPr/>
        </p:nvSpPr>
        <p:spPr>
          <a:xfrm>
            <a:off x="137160" y="0"/>
            <a:ext cx="480060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1125" b="1" kern="0" spc="225" dirty="0">
                <a:solidFill>
                  <a:srgbClr val="C9D1D9"/>
                </a:solidFill>
              </a:rPr>
              <a:t>LLM THREAT MATRIX</a:t>
            </a:r>
            <a:endParaRPr lang="en-US" sz="1125" dirty="0"/>
          </a:p>
        </p:txBody>
      </p:sp>
      <p:sp>
        <p:nvSpPr>
          <p:cNvPr id="4" name="Text 2"/>
          <p:cNvSpPr/>
          <p:nvPr/>
        </p:nvSpPr>
        <p:spPr>
          <a:xfrm>
            <a:off x="4800600" y="0"/>
            <a:ext cx="4183380" cy="3429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buNone/>
            </a:pPr>
            <a:endParaRPr lang="en-US" sz="650" kern="0" spc="150" dirty="0">
              <a:solidFill>
                <a:srgbClr val="6E7681"/>
              </a:solidFill>
              <a:latin typeface="Courier New"/>
              <a:cs typeface="Courier New"/>
            </a:endParaRPr>
          </a:p>
        </p:txBody>
      </p:sp>
      <p:sp>
        <p:nvSpPr>
          <p:cNvPr id="5" name="Shape 3"/>
          <p:cNvSpPr/>
          <p:nvPr/>
        </p:nvSpPr>
        <p:spPr>
          <a:xfrm>
            <a:off x="137160" y="370332"/>
            <a:ext cx="8846820" cy="205740"/>
          </a:xfrm>
          <a:prstGeom prst="rect">
            <a:avLst/>
          </a:prstGeom>
          <a:solidFill>
            <a:srgbClr val="161B22"/>
          </a:solidFill>
          <a:ln w="6350">
            <a:solidFill>
              <a:srgbClr val="30363D"/>
            </a:solidFill>
            <a:prstDash val="solid"/>
          </a:ln>
        </p:spPr>
      </p:sp>
      <p:sp>
        <p:nvSpPr>
          <p:cNvPr id="6" name="Text 4"/>
          <p:cNvSpPr/>
          <p:nvPr/>
        </p:nvSpPr>
        <p:spPr>
          <a:xfrm>
            <a:off x="137160" y="370332"/>
            <a:ext cx="123444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b="1" kern="0" spc="90" dirty="0">
                <a:solidFill>
                  <a:srgbClr val="8B949E"/>
                </a:solidFill>
              </a:rPr>
              <a:t>CATEGORY</a:t>
            </a:r>
            <a:endParaRPr lang="en-US" sz="563" dirty="0"/>
          </a:p>
        </p:txBody>
      </p:sp>
      <p:sp>
        <p:nvSpPr>
          <p:cNvPr id="7" name="Text 5"/>
          <p:cNvSpPr/>
          <p:nvPr/>
        </p:nvSpPr>
        <p:spPr>
          <a:xfrm>
            <a:off x="1371600" y="370332"/>
            <a:ext cx="157734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b="1" kern="0" spc="90" dirty="0">
                <a:solidFill>
                  <a:srgbClr val="8B949E"/>
                </a:solidFill>
              </a:rPr>
              <a:t>ATTACK TYPE</a:t>
            </a:r>
            <a:endParaRPr lang="en-US" sz="563" dirty="0"/>
          </a:p>
        </p:txBody>
      </p:sp>
      <p:sp>
        <p:nvSpPr>
          <p:cNvPr id="8" name="Text 6"/>
          <p:cNvSpPr/>
          <p:nvPr/>
        </p:nvSpPr>
        <p:spPr>
          <a:xfrm>
            <a:off x="2948940" y="370332"/>
            <a:ext cx="144018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b="1" kern="0" spc="90" dirty="0">
                <a:solidFill>
                  <a:srgbClr val="8B949E"/>
                </a:solidFill>
              </a:rPr>
              <a:t>WHAT IT TARGETS</a:t>
            </a:r>
            <a:endParaRPr lang="en-US" sz="563" dirty="0"/>
          </a:p>
        </p:txBody>
      </p:sp>
      <p:sp>
        <p:nvSpPr>
          <p:cNvPr id="9" name="Text 7"/>
          <p:cNvSpPr/>
          <p:nvPr/>
        </p:nvSpPr>
        <p:spPr>
          <a:xfrm>
            <a:off x="4389120" y="370332"/>
            <a:ext cx="123444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b="1" kern="0" spc="90" dirty="0">
                <a:solidFill>
                  <a:srgbClr val="8B949E"/>
                </a:solidFill>
              </a:rPr>
              <a:t>IMPACT</a:t>
            </a:r>
            <a:endParaRPr lang="en-US" sz="563" dirty="0"/>
          </a:p>
        </p:txBody>
      </p:sp>
      <p:sp>
        <p:nvSpPr>
          <p:cNvPr id="10" name="Text 8"/>
          <p:cNvSpPr/>
          <p:nvPr/>
        </p:nvSpPr>
        <p:spPr>
          <a:xfrm>
            <a:off x="5623560" y="370332"/>
            <a:ext cx="3326130" cy="2057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b="1" kern="0" spc="90" dirty="0">
                <a:solidFill>
                  <a:srgbClr val="8B949E"/>
                </a:solidFill>
              </a:rPr>
              <a:t>NOTES / EXAMPLES</a:t>
            </a:r>
            <a:endParaRPr lang="en-US" sz="563" dirty="0"/>
          </a:p>
        </p:txBody>
      </p:sp>
      <p:sp>
        <p:nvSpPr>
          <p:cNvPr id="11" name="Shape 9"/>
          <p:cNvSpPr/>
          <p:nvPr/>
        </p:nvSpPr>
        <p:spPr>
          <a:xfrm>
            <a:off x="137160" y="603504"/>
            <a:ext cx="8846820" cy="181737"/>
          </a:xfrm>
          <a:prstGeom prst="rect">
            <a:avLst/>
          </a:prstGeom>
          <a:solidFill>
            <a:srgbClr val="1A0A0A"/>
          </a:solidFill>
          <a:ln w="3810">
            <a:solidFill>
              <a:srgbClr val="1E2530"/>
            </a:solidFill>
            <a:prstDash val="solid"/>
          </a:ln>
        </p:spPr>
      </p:sp>
      <p:sp>
        <p:nvSpPr>
          <p:cNvPr id="12" name="Shape 10"/>
          <p:cNvSpPr/>
          <p:nvPr/>
        </p:nvSpPr>
        <p:spPr>
          <a:xfrm>
            <a:off x="1371600" y="603504"/>
            <a:ext cx="0" cy="181737"/>
          </a:xfrm>
          <a:prstGeom prst="line">
            <a:avLst/>
          </a:prstGeom>
          <a:noFill/>
          <a:ln w="3810">
            <a:solidFill>
              <a:srgbClr val="252D38"/>
            </a:solidFill>
            <a:prstDash val="solid"/>
          </a:ln>
        </p:spPr>
      </p:sp>
      <p:sp>
        <p:nvSpPr>
          <p:cNvPr id="13" name="Shape 11"/>
          <p:cNvSpPr/>
          <p:nvPr/>
        </p:nvSpPr>
        <p:spPr>
          <a:xfrm>
            <a:off x="2948940" y="603504"/>
            <a:ext cx="0" cy="181737"/>
          </a:xfrm>
          <a:prstGeom prst="line">
            <a:avLst/>
          </a:prstGeom>
          <a:noFill/>
          <a:ln w="3810">
            <a:solidFill>
              <a:srgbClr val="252D38"/>
            </a:solidFill>
            <a:prstDash val="solid"/>
          </a:ln>
        </p:spPr>
      </p:sp>
      <p:sp>
        <p:nvSpPr>
          <p:cNvPr id="14" name="Shape 12"/>
          <p:cNvSpPr/>
          <p:nvPr/>
        </p:nvSpPr>
        <p:spPr>
          <a:xfrm>
            <a:off x="4389120" y="603504"/>
            <a:ext cx="0" cy="181737"/>
          </a:xfrm>
          <a:prstGeom prst="line">
            <a:avLst/>
          </a:prstGeom>
          <a:noFill/>
          <a:ln w="3810">
            <a:solidFill>
              <a:srgbClr val="252D38"/>
            </a:solidFill>
            <a:prstDash val="solid"/>
          </a:ln>
        </p:spPr>
      </p:sp>
      <p:sp>
        <p:nvSpPr>
          <p:cNvPr id="15" name="Shape 13"/>
          <p:cNvSpPr/>
          <p:nvPr/>
        </p:nvSpPr>
        <p:spPr>
          <a:xfrm>
            <a:off x="5623560" y="603504"/>
            <a:ext cx="0" cy="181737"/>
          </a:xfrm>
          <a:prstGeom prst="line">
            <a:avLst/>
          </a:prstGeom>
          <a:noFill/>
          <a:ln w="3810">
            <a:solidFill>
              <a:srgbClr val="252D38"/>
            </a:solidFill>
            <a:prstDash val="solid"/>
          </a:ln>
        </p:spPr>
      </p:sp>
      <p:sp>
        <p:nvSpPr>
          <p:cNvPr id="16" name="Text 14"/>
          <p:cNvSpPr/>
          <p:nvPr/>
        </p:nvSpPr>
        <p:spPr>
          <a:xfrm>
            <a:off x="1371600" y="603504"/>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Prompt injection (direct/indirect)</a:t>
            </a:r>
            <a:endParaRPr lang="en-US" sz="600" dirty="0"/>
          </a:p>
        </p:txBody>
      </p:sp>
      <p:sp>
        <p:nvSpPr>
          <p:cNvPr id="17" name="Text 15"/>
          <p:cNvSpPr/>
          <p:nvPr/>
        </p:nvSpPr>
        <p:spPr>
          <a:xfrm>
            <a:off x="2948940" y="603504"/>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Instructions / reasoning</a:t>
            </a:r>
            <a:endParaRPr lang="en-US" sz="563" dirty="0"/>
          </a:p>
        </p:txBody>
      </p:sp>
      <p:sp>
        <p:nvSpPr>
          <p:cNvPr id="18" name="Text 16"/>
          <p:cNvSpPr/>
          <p:nvPr/>
        </p:nvSpPr>
        <p:spPr>
          <a:xfrm>
            <a:off x="4389120" y="603504"/>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Behavior override</a:t>
            </a:r>
            <a:endParaRPr lang="en-US" sz="563" dirty="0"/>
          </a:p>
        </p:txBody>
      </p:sp>
      <p:sp>
        <p:nvSpPr>
          <p:cNvPr id="19" name="Text 17"/>
          <p:cNvSpPr/>
          <p:nvPr/>
        </p:nvSpPr>
        <p:spPr>
          <a:xfrm>
            <a:off x="5623560" y="603504"/>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Hidden instructions in input or RAG docs</a:t>
            </a:r>
            <a:endParaRPr lang="en-US" sz="563" dirty="0"/>
          </a:p>
        </p:txBody>
      </p:sp>
      <p:sp>
        <p:nvSpPr>
          <p:cNvPr id="20" name="Shape 18"/>
          <p:cNvSpPr/>
          <p:nvPr/>
        </p:nvSpPr>
        <p:spPr>
          <a:xfrm>
            <a:off x="137160" y="785241"/>
            <a:ext cx="8846820" cy="181737"/>
          </a:xfrm>
          <a:prstGeom prst="rect">
            <a:avLst/>
          </a:prstGeom>
          <a:solidFill>
            <a:srgbClr val="1A0A0A"/>
          </a:solidFill>
          <a:ln w="3810">
            <a:solidFill>
              <a:srgbClr val="1E2530"/>
            </a:solidFill>
            <a:prstDash val="solid"/>
          </a:ln>
        </p:spPr>
      </p:sp>
      <p:sp>
        <p:nvSpPr>
          <p:cNvPr id="21" name="Shape 19"/>
          <p:cNvSpPr/>
          <p:nvPr/>
        </p:nvSpPr>
        <p:spPr>
          <a:xfrm>
            <a:off x="1371600" y="785241"/>
            <a:ext cx="0" cy="181737"/>
          </a:xfrm>
          <a:prstGeom prst="line">
            <a:avLst/>
          </a:prstGeom>
          <a:noFill/>
          <a:ln w="3810">
            <a:solidFill>
              <a:srgbClr val="252D38"/>
            </a:solidFill>
            <a:prstDash val="solid"/>
          </a:ln>
        </p:spPr>
      </p:sp>
      <p:sp>
        <p:nvSpPr>
          <p:cNvPr id="22" name="Shape 20"/>
          <p:cNvSpPr/>
          <p:nvPr/>
        </p:nvSpPr>
        <p:spPr>
          <a:xfrm>
            <a:off x="2948940" y="785241"/>
            <a:ext cx="0" cy="181737"/>
          </a:xfrm>
          <a:prstGeom prst="line">
            <a:avLst/>
          </a:prstGeom>
          <a:noFill/>
          <a:ln w="3810">
            <a:solidFill>
              <a:srgbClr val="252D38"/>
            </a:solidFill>
            <a:prstDash val="solid"/>
          </a:ln>
        </p:spPr>
      </p:sp>
      <p:sp>
        <p:nvSpPr>
          <p:cNvPr id="23" name="Shape 21"/>
          <p:cNvSpPr/>
          <p:nvPr/>
        </p:nvSpPr>
        <p:spPr>
          <a:xfrm>
            <a:off x="4389120" y="785241"/>
            <a:ext cx="0" cy="181737"/>
          </a:xfrm>
          <a:prstGeom prst="line">
            <a:avLst/>
          </a:prstGeom>
          <a:noFill/>
          <a:ln w="3810">
            <a:solidFill>
              <a:srgbClr val="252D38"/>
            </a:solidFill>
            <a:prstDash val="solid"/>
          </a:ln>
        </p:spPr>
      </p:sp>
      <p:sp>
        <p:nvSpPr>
          <p:cNvPr id="24" name="Shape 22"/>
          <p:cNvSpPr/>
          <p:nvPr/>
        </p:nvSpPr>
        <p:spPr>
          <a:xfrm>
            <a:off x="5623560" y="785241"/>
            <a:ext cx="0" cy="181737"/>
          </a:xfrm>
          <a:prstGeom prst="line">
            <a:avLst/>
          </a:prstGeom>
          <a:noFill/>
          <a:ln w="3810">
            <a:solidFill>
              <a:srgbClr val="252D38"/>
            </a:solidFill>
            <a:prstDash val="solid"/>
          </a:ln>
        </p:spPr>
      </p:sp>
      <p:sp>
        <p:nvSpPr>
          <p:cNvPr id="25" name="Text 23"/>
          <p:cNvSpPr/>
          <p:nvPr/>
        </p:nvSpPr>
        <p:spPr>
          <a:xfrm>
            <a:off x="1371600" y="785241"/>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Prompt persistence / chaining</a:t>
            </a:r>
            <a:endParaRPr lang="en-US" sz="600" dirty="0"/>
          </a:p>
        </p:txBody>
      </p:sp>
      <p:sp>
        <p:nvSpPr>
          <p:cNvPr id="26" name="Text 24"/>
          <p:cNvSpPr/>
          <p:nvPr/>
        </p:nvSpPr>
        <p:spPr>
          <a:xfrm>
            <a:off x="2948940" y="785241"/>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Memory, summaries, agents</a:t>
            </a:r>
            <a:endParaRPr lang="en-US" sz="563" dirty="0"/>
          </a:p>
        </p:txBody>
      </p:sp>
      <p:sp>
        <p:nvSpPr>
          <p:cNvPr id="27" name="Text 25"/>
          <p:cNvSpPr/>
          <p:nvPr/>
        </p:nvSpPr>
        <p:spPr>
          <a:xfrm>
            <a:off x="4389120" y="785241"/>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Delayed execution</a:t>
            </a:r>
            <a:endParaRPr lang="en-US" sz="563" dirty="0"/>
          </a:p>
        </p:txBody>
      </p:sp>
      <p:sp>
        <p:nvSpPr>
          <p:cNvPr id="28" name="Text 26"/>
          <p:cNvSpPr/>
          <p:nvPr/>
        </p:nvSpPr>
        <p:spPr>
          <a:xfrm>
            <a:off x="5623560" y="785241"/>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Payload survives compression and re-triggers</a:t>
            </a:r>
            <a:endParaRPr lang="en-US" sz="563" dirty="0"/>
          </a:p>
        </p:txBody>
      </p:sp>
      <p:sp>
        <p:nvSpPr>
          <p:cNvPr id="29" name="Shape 27"/>
          <p:cNvSpPr/>
          <p:nvPr/>
        </p:nvSpPr>
        <p:spPr>
          <a:xfrm>
            <a:off x="137160" y="966978"/>
            <a:ext cx="8846820" cy="181737"/>
          </a:xfrm>
          <a:prstGeom prst="rect">
            <a:avLst/>
          </a:prstGeom>
          <a:solidFill>
            <a:srgbClr val="1A0E08"/>
          </a:solidFill>
          <a:ln w="3810">
            <a:solidFill>
              <a:srgbClr val="1E2530"/>
            </a:solidFill>
            <a:prstDash val="solid"/>
          </a:ln>
        </p:spPr>
      </p:sp>
      <p:sp>
        <p:nvSpPr>
          <p:cNvPr id="30" name="Shape 28"/>
          <p:cNvSpPr/>
          <p:nvPr/>
        </p:nvSpPr>
        <p:spPr>
          <a:xfrm>
            <a:off x="1371600" y="966978"/>
            <a:ext cx="0" cy="181737"/>
          </a:xfrm>
          <a:prstGeom prst="line">
            <a:avLst/>
          </a:prstGeom>
          <a:noFill/>
          <a:ln w="3810">
            <a:solidFill>
              <a:srgbClr val="252D38"/>
            </a:solidFill>
            <a:prstDash val="solid"/>
          </a:ln>
        </p:spPr>
      </p:sp>
      <p:sp>
        <p:nvSpPr>
          <p:cNvPr id="31" name="Shape 29"/>
          <p:cNvSpPr/>
          <p:nvPr/>
        </p:nvSpPr>
        <p:spPr>
          <a:xfrm>
            <a:off x="2948940" y="966978"/>
            <a:ext cx="0" cy="181737"/>
          </a:xfrm>
          <a:prstGeom prst="line">
            <a:avLst/>
          </a:prstGeom>
          <a:noFill/>
          <a:ln w="3810">
            <a:solidFill>
              <a:srgbClr val="252D38"/>
            </a:solidFill>
            <a:prstDash val="solid"/>
          </a:ln>
        </p:spPr>
      </p:sp>
      <p:sp>
        <p:nvSpPr>
          <p:cNvPr id="32" name="Shape 30"/>
          <p:cNvSpPr/>
          <p:nvPr/>
        </p:nvSpPr>
        <p:spPr>
          <a:xfrm>
            <a:off x="4389120" y="966978"/>
            <a:ext cx="0" cy="181737"/>
          </a:xfrm>
          <a:prstGeom prst="line">
            <a:avLst/>
          </a:prstGeom>
          <a:noFill/>
          <a:ln w="3810">
            <a:solidFill>
              <a:srgbClr val="252D38"/>
            </a:solidFill>
            <a:prstDash val="solid"/>
          </a:ln>
        </p:spPr>
      </p:sp>
      <p:sp>
        <p:nvSpPr>
          <p:cNvPr id="33" name="Shape 31"/>
          <p:cNvSpPr/>
          <p:nvPr/>
        </p:nvSpPr>
        <p:spPr>
          <a:xfrm>
            <a:off x="5623560" y="966978"/>
            <a:ext cx="0" cy="181737"/>
          </a:xfrm>
          <a:prstGeom prst="line">
            <a:avLst/>
          </a:prstGeom>
          <a:noFill/>
          <a:ln w="3810">
            <a:solidFill>
              <a:srgbClr val="252D38"/>
            </a:solidFill>
            <a:prstDash val="solid"/>
          </a:ln>
        </p:spPr>
      </p:sp>
      <p:sp>
        <p:nvSpPr>
          <p:cNvPr id="34" name="Text 32"/>
          <p:cNvSpPr/>
          <p:nvPr/>
        </p:nvSpPr>
        <p:spPr>
          <a:xfrm>
            <a:off x="1371600" y="966978"/>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Roleplay / DAN / multi-turn</a:t>
            </a:r>
            <a:endParaRPr lang="en-US" sz="600" dirty="0"/>
          </a:p>
        </p:txBody>
      </p:sp>
      <p:sp>
        <p:nvSpPr>
          <p:cNvPr id="35" name="Text 33"/>
          <p:cNvSpPr/>
          <p:nvPr/>
        </p:nvSpPr>
        <p:spPr>
          <a:xfrm>
            <a:off x="2948940" y="966978"/>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Safety controls</a:t>
            </a:r>
            <a:endParaRPr lang="en-US" sz="563" dirty="0"/>
          </a:p>
        </p:txBody>
      </p:sp>
      <p:sp>
        <p:nvSpPr>
          <p:cNvPr id="36" name="Text 34"/>
          <p:cNvSpPr/>
          <p:nvPr/>
        </p:nvSpPr>
        <p:spPr>
          <a:xfrm>
            <a:off x="4389120" y="966978"/>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Policy bypass</a:t>
            </a:r>
            <a:endParaRPr lang="en-US" sz="563" dirty="0"/>
          </a:p>
        </p:txBody>
      </p:sp>
      <p:sp>
        <p:nvSpPr>
          <p:cNvPr id="37" name="Text 35"/>
          <p:cNvSpPr/>
          <p:nvPr/>
        </p:nvSpPr>
        <p:spPr>
          <a:xfrm>
            <a:off x="5623560" y="966978"/>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Gradual weakening vs persistent payloads</a:t>
            </a:r>
            <a:endParaRPr lang="en-US" sz="563" dirty="0"/>
          </a:p>
        </p:txBody>
      </p:sp>
      <p:sp>
        <p:nvSpPr>
          <p:cNvPr id="38" name="Shape 36"/>
          <p:cNvSpPr/>
          <p:nvPr/>
        </p:nvSpPr>
        <p:spPr>
          <a:xfrm>
            <a:off x="137160" y="1148715"/>
            <a:ext cx="8846820" cy="181737"/>
          </a:xfrm>
          <a:prstGeom prst="rect">
            <a:avLst/>
          </a:prstGeom>
          <a:solidFill>
            <a:srgbClr val="1A1508"/>
          </a:solidFill>
          <a:ln w="3810">
            <a:solidFill>
              <a:srgbClr val="1E2530"/>
            </a:solidFill>
            <a:prstDash val="solid"/>
          </a:ln>
        </p:spPr>
      </p:sp>
      <p:sp>
        <p:nvSpPr>
          <p:cNvPr id="39" name="Shape 37"/>
          <p:cNvSpPr/>
          <p:nvPr/>
        </p:nvSpPr>
        <p:spPr>
          <a:xfrm>
            <a:off x="1371600" y="1148715"/>
            <a:ext cx="0" cy="181737"/>
          </a:xfrm>
          <a:prstGeom prst="line">
            <a:avLst/>
          </a:prstGeom>
          <a:noFill/>
          <a:ln w="3810">
            <a:solidFill>
              <a:srgbClr val="252D38"/>
            </a:solidFill>
            <a:prstDash val="solid"/>
          </a:ln>
        </p:spPr>
      </p:sp>
      <p:sp>
        <p:nvSpPr>
          <p:cNvPr id="40" name="Shape 38"/>
          <p:cNvSpPr/>
          <p:nvPr/>
        </p:nvSpPr>
        <p:spPr>
          <a:xfrm>
            <a:off x="2948940" y="1148715"/>
            <a:ext cx="0" cy="181737"/>
          </a:xfrm>
          <a:prstGeom prst="line">
            <a:avLst/>
          </a:prstGeom>
          <a:noFill/>
          <a:ln w="3810">
            <a:solidFill>
              <a:srgbClr val="252D38"/>
            </a:solidFill>
            <a:prstDash val="solid"/>
          </a:ln>
        </p:spPr>
      </p:sp>
      <p:sp>
        <p:nvSpPr>
          <p:cNvPr id="41" name="Shape 39"/>
          <p:cNvSpPr/>
          <p:nvPr/>
        </p:nvSpPr>
        <p:spPr>
          <a:xfrm>
            <a:off x="4389120" y="1148715"/>
            <a:ext cx="0" cy="181737"/>
          </a:xfrm>
          <a:prstGeom prst="line">
            <a:avLst/>
          </a:prstGeom>
          <a:noFill/>
          <a:ln w="3810">
            <a:solidFill>
              <a:srgbClr val="252D38"/>
            </a:solidFill>
            <a:prstDash val="solid"/>
          </a:ln>
        </p:spPr>
      </p:sp>
      <p:sp>
        <p:nvSpPr>
          <p:cNvPr id="42" name="Shape 40"/>
          <p:cNvSpPr/>
          <p:nvPr/>
        </p:nvSpPr>
        <p:spPr>
          <a:xfrm>
            <a:off x="5623560" y="1148715"/>
            <a:ext cx="0" cy="181737"/>
          </a:xfrm>
          <a:prstGeom prst="line">
            <a:avLst/>
          </a:prstGeom>
          <a:noFill/>
          <a:ln w="3810">
            <a:solidFill>
              <a:srgbClr val="252D38"/>
            </a:solidFill>
            <a:prstDash val="solid"/>
          </a:ln>
        </p:spPr>
      </p:sp>
      <p:sp>
        <p:nvSpPr>
          <p:cNvPr id="43" name="Text 41"/>
          <p:cNvSpPr/>
          <p:nvPr/>
        </p:nvSpPr>
        <p:spPr>
          <a:xfrm>
            <a:off x="1371600" y="1148715"/>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Context leakage</a:t>
            </a:r>
            <a:endParaRPr lang="en-US" sz="600" dirty="0"/>
          </a:p>
        </p:txBody>
      </p:sp>
      <p:sp>
        <p:nvSpPr>
          <p:cNvPr id="44" name="Text 42"/>
          <p:cNvSpPr/>
          <p:nvPr/>
        </p:nvSpPr>
        <p:spPr>
          <a:xfrm>
            <a:off x="2948940" y="1148715"/>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System prompt, memory</a:t>
            </a:r>
            <a:endParaRPr lang="en-US" sz="563" dirty="0"/>
          </a:p>
        </p:txBody>
      </p:sp>
      <p:sp>
        <p:nvSpPr>
          <p:cNvPr id="45" name="Text 43"/>
          <p:cNvSpPr/>
          <p:nvPr/>
        </p:nvSpPr>
        <p:spPr>
          <a:xfrm>
            <a:off x="4389120" y="1148715"/>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Secret exposure</a:t>
            </a:r>
            <a:endParaRPr lang="en-US" sz="563" dirty="0"/>
          </a:p>
        </p:txBody>
      </p:sp>
      <p:sp>
        <p:nvSpPr>
          <p:cNvPr id="46" name="Text 44"/>
          <p:cNvSpPr/>
          <p:nvPr/>
        </p:nvSpPr>
        <p:spPr>
          <a:xfrm>
            <a:off x="5623560" y="1148715"/>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API keys, hidden prompts</a:t>
            </a:r>
            <a:endParaRPr lang="en-US" sz="563" dirty="0"/>
          </a:p>
        </p:txBody>
      </p:sp>
      <p:sp>
        <p:nvSpPr>
          <p:cNvPr id="47" name="Shape 45"/>
          <p:cNvSpPr/>
          <p:nvPr/>
        </p:nvSpPr>
        <p:spPr>
          <a:xfrm>
            <a:off x="137160" y="1330452"/>
            <a:ext cx="8846820" cy="181737"/>
          </a:xfrm>
          <a:prstGeom prst="rect">
            <a:avLst/>
          </a:prstGeom>
          <a:solidFill>
            <a:srgbClr val="1A1508"/>
          </a:solidFill>
          <a:ln w="3810">
            <a:solidFill>
              <a:srgbClr val="1E2530"/>
            </a:solidFill>
            <a:prstDash val="solid"/>
          </a:ln>
        </p:spPr>
      </p:sp>
      <p:sp>
        <p:nvSpPr>
          <p:cNvPr id="48" name="Shape 46"/>
          <p:cNvSpPr/>
          <p:nvPr/>
        </p:nvSpPr>
        <p:spPr>
          <a:xfrm>
            <a:off x="1371600" y="1330452"/>
            <a:ext cx="0" cy="181737"/>
          </a:xfrm>
          <a:prstGeom prst="line">
            <a:avLst/>
          </a:prstGeom>
          <a:noFill/>
          <a:ln w="3810">
            <a:solidFill>
              <a:srgbClr val="252D38"/>
            </a:solidFill>
            <a:prstDash val="solid"/>
          </a:ln>
        </p:spPr>
      </p:sp>
      <p:sp>
        <p:nvSpPr>
          <p:cNvPr id="49" name="Shape 47"/>
          <p:cNvSpPr/>
          <p:nvPr/>
        </p:nvSpPr>
        <p:spPr>
          <a:xfrm>
            <a:off x="2948940" y="1330452"/>
            <a:ext cx="0" cy="181737"/>
          </a:xfrm>
          <a:prstGeom prst="line">
            <a:avLst/>
          </a:prstGeom>
          <a:noFill/>
          <a:ln w="3810">
            <a:solidFill>
              <a:srgbClr val="252D38"/>
            </a:solidFill>
            <a:prstDash val="solid"/>
          </a:ln>
        </p:spPr>
      </p:sp>
      <p:sp>
        <p:nvSpPr>
          <p:cNvPr id="50" name="Shape 48"/>
          <p:cNvSpPr/>
          <p:nvPr/>
        </p:nvSpPr>
        <p:spPr>
          <a:xfrm>
            <a:off x="4389120" y="1330452"/>
            <a:ext cx="0" cy="181737"/>
          </a:xfrm>
          <a:prstGeom prst="line">
            <a:avLst/>
          </a:prstGeom>
          <a:noFill/>
          <a:ln w="3810">
            <a:solidFill>
              <a:srgbClr val="252D38"/>
            </a:solidFill>
            <a:prstDash val="solid"/>
          </a:ln>
        </p:spPr>
      </p:sp>
      <p:sp>
        <p:nvSpPr>
          <p:cNvPr id="51" name="Shape 49"/>
          <p:cNvSpPr/>
          <p:nvPr/>
        </p:nvSpPr>
        <p:spPr>
          <a:xfrm>
            <a:off x="5623560" y="1330452"/>
            <a:ext cx="0" cy="181737"/>
          </a:xfrm>
          <a:prstGeom prst="line">
            <a:avLst/>
          </a:prstGeom>
          <a:noFill/>
          <a:ln w="3810">
            <a:solidFill>
              <a:srgbClr val="252D38"/>
            </a:solidFill>
            <a:prstDash val="solid"/>
          </a:ln>
        </p:spPr>
      </p:sp>
      <p:sp>
        <p:nvSpPr>
          <p:cNvPr id="52" name="Text 50"/>
          <p:cNvSpPr/>
          <p:nvPr/>
        </p:nvSpPr>
        <p:spPr>
          <a:xfrm>
            <a:off x="1371600" y="1330452"/>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Training data extraction</a:t>
            </a:r>
            <a:endParaRPr lang="en-US" sz="600" dirty="0"/>
          </a:p>
        </p:txBody>
      </p:sp>
      <p:sp>
        <p:nvSpPr>
          <p:cNvPr id="53" name="Text 51"/>
          <p:cNvSpPr/>
          <p:nvPr/>
        </p:nvSpPr>
        <p:spPr>
          <a:xfrm>
            <a:off x="2948940" y="1330452"/>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Model memory</a:t>
            </a:r>
            <a:endParaRPr lang="en-US" sz="563" dirty="0"/>
          </a:p>
        </p:txBody>
      </p:sp>
      <p:sp>
        <p:nvSpPr>
          <p:cNvPr id="54" name="Text 52"/>
          <p:cNvSpPr/>
          <p:nvPr/>
        </p:nvSpPr>
        <p:spPr>
          <a:xfrm>
            <a:off x="4389120" y="1330452"/>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Data leakage</a:t>
            </a:r>
            <a:endParaRPr lang="en-US" sz="563" dirty="0"/>
          </a:p>
        </p:txBody>
      </p:sp>
      <p:sp>
        <p:nvSpPr>
          <p:cNvPr id="55" name="Text 53"/>
          <p:cNvSpPr/>
          <p:nvPr/>
        </p:nvSpPr>
        <p:spPr>
          <a:xfrm>
            <a:off x="5623560" y="1330452"/>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General memorization attacks</a:t>
            </a:r>
            <a:endParaRPr lang="en-US" sz="563" dirty="0"/>
          </a:p>
        </p:txBody>
      </p:sp>
      <p:sp>
        <p:nvSpPr>
          <p:cNvPr id="56" name="Shape 54"/>
          <p:cNvSpPr/>
          <p:nvPr/>
        </p:nvSpPr>
        <p:spPr>
          <a:xfrm>
            <a:off x="137160" y="1512189"/>
            <a:ext cx="8846820" cy="181737"/>
          </a:xfrm>
          <a:prstGeom prst="rect">
            <a:avLst/>
          </a:prstGeom>
          <a:solidFill>
            <a:srgbClr val="14101A"/>
          </a:solidFill>
          <a:ln w="3810">
            <a:solidFill>
              <a:srgbClr val="1E2530"/>
            </a:solidFill>
            <a:prstDash val="solid"/>
          </a:ln>
        </p:spPr>
      </p:sp>
      <p:sp>
        <p:nvSpPr>
          <p:cNvPr id="57" name="Shape 55"/>
          <p:cNvSpPr/>
          <p:nvPr/>
        </p:nvSpPr>
        <p:spPr>
          <a:xfrm>
            <a:off x="1371600" y="1512189"/>
            <a:ext cx="0" cy="181737"/>
          </a:xfrm>
          <a:prstGeom prst="line">
            <a:avLst/>
          </a:prstGeom>
          <a:noFill/>
          <a:ln w="3810">
            <a:solidFill>
              <a:srgbClr val="252D38"/>
            </a:solidFill>
            <a:prstDash val="solid"/>
          </a:ln>
        </p:spPr>
      </p:sp>
      <p:sp>
        <p:nvSpPr>
          <p:cNvPr id="58" name="Shape 56"/>
          <p:cNvSpPr/>
          <p:nvPr/>
        </p:nvSpPr>
        <p:spPr>
          <a:xfrm>
            <a:off x="2948940" y="1512189"/>
            <a:ext cx="0" cy="181737"/>
          </a:xfrm>
          <a:prstGeom prst="line">
            <a:avLst/>
          </a:prstGeom>
          <a:noFill/>
          <a:ln w="3810">
            <a:solidFill>
              <a:srgbClr val="252D38"/>
            </a:solidFill>
            <a:prstDash val="solid"/>
          </a:ln>
        </p:spPr>
      </p:sp>
      <p:sp>
        <p:nvSpPr>
          <p:cNvPr id="59" name="Shape 57"/>
          <p:cNvSpPr/>
          <p:nvPr/>
        </p:nvSpPr>
        <p:spPr>
          <a:xfrm>
            <a:off x="4389120" y="1512189"/>
            <a:ext cx="0" cy="181737"/>
          </a:xfrm>
          <a:prstGeom prst="line">
            <a:avLst/>
          </a:prstGeom>
          <a:noFill/>
          <a:ln w="3810">
            <a:solidFill>
              <a:srgbClr val="252D38"/>
            </a:solidFill>
            <a:prstDash val="solid"/>
          </a:ln>
        </p:spPr>
      </p:sp>
      <p:sp>
        <p:nvSpPr>
          <p:cNvPr id="60" name="Shape 58"/>
          <p:cNvSpPr/>
          <p:nvPr/>
        </p:nvSpPr>
        <p:spPr>
          <a:xfrm>
            <a:off x="5623560" y="1512189"/>
            <a:ext cx="0" cy="181737"/>
          </a:xfrm>
          <a:prstGeom prst="line">
            <a:avLst/>
          </a:prstGeom>
          <a:noFill/>
          <a:ln w="3810">
            <a:solidFill>
              <a:srgbClr val="252D38"/>
            </a:solidFill>
            <a:prstDash val="solid"/>
          </a:ln>
        </p:spPr>
      </p:sp>
      <p:sp>
        <p:nvSpPr>
          <p:cNvPr id="61" name="Text 59"/>
          <p:cNvSpPr/>
          <p:nvPr/>
        </p:nvSpPr>
        <p:spPr>
          <a:xfrm>
            <a:off x="1371600" y="1512189"/>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Membership inference</a:t>
            </a:r>
            <a:endParaRPr lang="en-US" sz="600" dirty="0"/>
          </a:p>
        </p:txBody>
      </p:sp>
      <p:sp>
        <p:nvSpPr>
          <p:cNvPr id="62" name="Text 60"/>
          <p:cNvSpPr/>
          <p:nvPr/>
        </p:nvSpPr>
        <p:spPr>
          <a:xfrm>
            <a:off x="2948940" y="1512189"/>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Training dataset presence</a:t>
            </a:r>
            <a:endParaRPr lang="en-US" sz="563" dirty="0"/>
          </a:p>
        </p:txBody>
      </p:sp>
      <p:sp>
        <p:nvSpPr>
          <p:cNvPr id="63" name="Text 61"/>
          <p:cNvSpPr/>
          <p:nvPr/>
        </p:nvSpPr>
        <p:spPr>
          <a:xfrm>
            <a:off x="4389120" y="1512189"/>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Privacy violation</a:t>
            </a:r>
            <a:endParaRPr lang="en-US" sz="563" dirty="0"/>
          </a:p>
        </p:txBody>
      </p:sp>
      <p:sp>
        <p:nvSpPr>
          <p:cNvPr id="64" name="Text 62"/>
          <p:cNvSpPr/>
          <p:nvPr/>
        </p:nvSpPr>
        <p:spPr>
          <a:xfrm>
            <a:off x="5623560" y="1512189"/>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"Was this record in training?"</a:t>
            </a:r>
            <a:endParaRPr lang="en-US" sz="563" dirty="0"/>
          </a:p>
        </p:txBody>
      </p:sp>
      <p:sp>
        <p:nvSpPr>
          <p:cNvPr id="65" name="Shape 63"/>
          <p:cNvSpPr/>
          <p:nvPr/>
        </p:nvSpPr>
        <p:spPr>
          <a:xfrm>
            <a:off x="137160" y="1693926"/>
            <a:ext cx="8846820" cy="181737"/>
          </a:xfrm>
          <a:prstGeom prst="rect">
            <a:avLst/>
          </a:prstGeom>
          <a:solidFill>
            <a:srgbClr val="14101A"/>
          </a:solidFill>
          <a:ln w="3810">
            <a:solidFill>
              <a:srgbClr val="1E2530"/>
            </a:solidFill>
            <a:prstDash val="solid"/>
          </a:ln>
        </p:spPr>
      </p:sp>
      <p:sp>
        <p:nvSpPr>
          <p:cNvPr id="66" name="Shape 64"/>
          <p:cNvSpPr/>
          <p:nvPr/>
        </p:nvSpPr>
        <p:spPr>
          <a:xfrm>
            <a:off x="1371600" y="1693926"/>
            <a:ext cx="0" cy="181737"/>
          </a:xfrm>
          <a:prstGeom prst="line">
            <a:avLst/>
          </a:prstGeom>
          <a:noFill/>
          <a:ln w="3810">
            <a:solidFill>
              <a:srgbClr val="252D38"/>
            </a:solidFill>
            <a:prstDash val="solid"/>
          </a:ln>
        </p:spPr>
      </p:sp>
      <p:sp>
        <p:nvSpPr>
          <p:cNvPr id="67" name="Shape 65"/>
          <p:cNvSpPr/>
          <p:nvPr/>
        </p:nvSpPr>
        <p:spPr>
          <a:xfrm>
            <a:off x="2948940" y="1693926"/>
            <a:ext cx="0" cy="181737"/>
          </a:xfrm>
          <a:prstGeom prst="line">
            <a:avLst/>
          </a:prstGeom>
          <a:noFill/>
          <a:ln w="3810">
            <a:solidFill>
              <a:srgbClr val="252D38"/>
            </a:solidFill>
            <a:prstDash val="solid"/>
          </a:ln>
        </p:spPr>
      </p:sp>
      <p:sp>
        <p:nvSpPr>
          <p:cNvPr id="68" name="Shape 66"/>
          <p:cNvSpPr/>
          <p:nvPr/>
        </p:nvSpPr>
        <p:spPr>
          <a:xfrm>
            <a:off x="4389120" y="1693926"/>
            <a:ext cx="0" cy="181737"/>
          </a:xfrm>
          <a:prstGeom prst="line">
            <a:avLst/>
          </a:prstGeom>
          <a:noFill/>
          <a:ln w="3810">
            <a:solidFill>
              <a:srgbClr val="252D38"/>
            </a:solidFill>
            <a:prstDash val="solid"/>
          </a:ln>
        </p:spPr>
      </p:sp>
      <p:sp>
        <p:nvSpPr>
          <p:cNvPr id="69" name="Shape 67"/>
          <p:cNvSpPr/>
          <p:nvPr/>
        </p:nvSpPr>
        <p:spPr>
          <a:xfrm>
            <a:off x="5623560" y="1693926"/>
            <a:ext cx="0" cy="181737"/>
          </a:xfrm>
          <a:prstGeom prst="line">
            <a:avLst/>
          </a:prstGeom>
          <a:noFill/>
          <a:ln w="3810">
            <a:solidFill>
              <a:srgbClr val="252D38"/>
            </a:solidFill>
            <a:prstDash val="solid"/>
          </a:ln>
        </p:spPr>
      </p:sp>
      <p:sp>
        <p:nvSpPr>
          <p:cNvPr id="70" name="Text 68"/>
          <p:cNvSpPr/>
          <p:nvPr/>
        </p:nvSpPr>
        <p:spPr>
          <a:xfrm>
            <a:off x="1371600" y="1693926"/>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Model inversion</a:t>
            </a:r>
            <a:endParaRPr lang="en-US" sz="600" dirty="0"/>
          </a:p>
        </p:txBody>
      </p:sp>
      <p:sp>
        <p:nvSpPr>
          <p:cNvPr id="71" name="Text 69"/>
          <p:cNvSpPr/>
          <p:nvPr/>
        </p:nvSpPr>
        <p:spPr>
          <a:xfrm>
            <a:off x="2948940" y="1693926"/>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Learned representations</a:t>
            </a:r>
            <a:endParaRPr lang="en-US" sz="563" dirty="0"/>
          </a:p>
        </p:txBody>
      </p:sp>
      <p:sp>
        <p:nvSpPr>
          <p:cNvPr id="72" name="Text 70"/>
          <p:cNvSpPr/>
          <p:nvPr/>
        </p:nvSpPr>
        <p:spPr>
          <a:xfrm>
            <a:off x="4389120" y="1693926"/>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Sensitive reconstruction</a:t>
            </a:r>
            <a:endParaRPr lang="en-US" sz="563" dirty="0"/>
          </a:p>
        </p:txBody>
      </p:sp>
      <p:sp>
        <p:nvSpPr>
          <p:cNvPr id="73" name="Text 71"/>
          <p:cNvSpPr/>
          <p:nvPr/>
        </p:nvSpPr>
        <p:spPr>
          <a:xfrm>
            <a:off x="5623560" y="1693926"/>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Rebuild features from outputs</a:t>
            </a:r>
            <a:endParaRPr lang="en-US" sz="563" dirty="0"/>
          </a:p>
        </p:txBody>
      </p:sp>
      <p:sp>
        <p:nvSpPr>
          <p:cNvPr id="74" name="Shape 72"/>
          <p:cNvSpPr/>
          <p:nvPr/>
        </p:nvSpPr>
        <p:spPr>
          <a:xfrm>
            <a:off x="137160" y="1875663"/>
            <a:ext cx="8846820" cy="181737"/>
          </a:xfrm>
          <a:prstGeom prst="rect">
            <a:avLst/>
          </a:prstGeom>
          <a:solidFill>
            <a:srgbClr val="081418"/>
          </a:solidFill>
          <a:ln w="3810">
            <a:solidFill>
              <a:srgbClr val="1E2530"/>
            </a:solidFill>
            <a:prstDash val="solid"/>
          </a:ln>
        </p:spPr>
      </p:sp>
      <p:sp>
        <p:nvSpPr>
          <p:cNvPr id="75" name="Shape 73"/>
          <p:cNvSpPr/>
          <p:nvPr/>
        </p:nvSpPr>
        <p:spPr>
          <a:xfrm>
            <a:off x="1371600" y="1875663"/>
            <a:ext cx="0" cy="181737"/>
          </a:xfrm>
          <a:prstGeom prst="line">
            <a:avLst/>
          </a:prstGeom>
          <a:noFill/>
          <a:ln w="3810">
            <a:solidFill>
              <a:srgbClr val="252D38"/>
            </a:solidFill>
            <a:prstDash val="solid"/>
          </a:ln>
        </p:spPr>
      </p:sp>
      <p:sp>
        <p:nvSpPr>
          <p:cNvPr id="76" name="Shape 74"/>
          <p:cNvSpPr/>
          <p:nvPr/>
        </p:nvSpPr>
        <p:spPr>
          <a:xfrm>
            <a:off x="2948940" y="1875663"/>
            <a:ext cx="0" cy="181737"/>
          </a:xfrm>
          <a:prstGeom prst="line">
            <a:avLst/>
          </a:prstGeom>
          <a:noFill/>
          <a:ln w="3810">
            <a:solidFill>
              <a:srgbClr val="252D38"/>
            </a:solidFill>
            <a:prstDash val="solid"/>
          </a:ln>
        </p:spPr>
      </p:sp>
      <p:sp>
        <p:nvSpPr>
          <p:cNvPr id="77" name="Shape 75"/>
          <p:cNvSpPr/>
          <p:nvPr/>
        </p:nvSpPr>
        <p:spPr>
          <a:xfrm>
            <a:off x="4389120" y="1875663"/>
            <a:ext cx="0" cy="181737"/>
          </a:xfrm>
          <a:prstGeom prst="line">
            <a:avLst/>
          </a:prstGeom>
          <a:noFill/>
          <a:ln w="3810">
            <a:solidFill>
              <a:srgbClr val="252D38"/>
            </a:solidFill>
            <a:prstDash val="solid"/>
          </a:ln>
        </p:spPr>
      </p:sp>
      <p:sp>
        <p:nvSpPr>
          <p:cNvPr id="78" name="Shape 76"/>
          <p:cNvSpPr/>
          <p:nvPr/>
        </p:nvSpPr>
        <p:spPr>
          <a:xfrm>
            <a:off x="5623560" y="1875663"/>
            <a:ext cx="0" cy="181737"/>
          </a:xfrm>
          <a:prstGeom prst="line">
            <a:avLst/>
          </a:prstGeom>
          <a:noFill/>
          <a:ln w="3810">
            <a:solidFill>
              <a:srgbClr val="252D38"/>
            </a:solidFill>
            <a:prstDash val="solid"/>
          </a:ln>
        </p:spPr>
      </p:sp>
      <p:sp>
        <p:nvSpPr>
          <p:cNvPr id="79" name="Text 77"/>
          <p:cNvSpPr/>
          <p:nvPr/>
        </p:nvSpPr>
        <p:spPr>
          <a:xfrm>
            <a:off x="1371600" y="1875663"/>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Tool injection</a:t>
            </a:r>
            <a:endParaRPr lang="en-US" sz="600" dirty="0"/>
          </a:p>
        </p:txBody>
      </p:sp>
      <p:sp>
        <p:nvSpPr>
          <p:cNvPr id="80" name="Text 78"/>
          <p:cNvSpPr/>
          <p:nvPr/>
        </p:nvSpPr>
        <p:spPr>
          <a:xfrm>
            <a:off x="2948940" y="1875663"/>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Tool inputs</a:t>
            </a:r>
            <a:endParaRPr lang="en-US" sz="563" dirty="0"/>
          </a:p>
        </p:txBody>
      </p:sp>
      <p:sp>
        <p:nvSpPr>
          <p:cNvPr id="81" name="Text 79"/>
          <p:cNvSpPr/>
          <p:nvPr/>
        </p:nvSpPr>
        <p:spPr>
          <a:xfrm>
            <a:off x="4389120" y="1875663"/>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Execution abuse</a:t>
            </a:r>
            <a:endParaRPr lang="en-US" sz="563" dirty="0"/>
          </a:p>
        </p:txBody>
      </p:sp>
      <p:sp>
        <p:nvSpPr>
          <p:cNvPr id="82" name="Text 80"/>
          <p:cNvSpPr/>
          <p:nvPr/>
        </p:nvSpPr>
        <p:spPr>
          <a:xfrm>
            <a:off x="5623560" y="1875663"/>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Manipulated arguments</a:t>
            </a:r>
            <a:endParaRPr lang="en-US" sz="563" dirty="0"/>
          </a:p>
        </p:txBody>
      </p:sp>
      <p:sp>
        <p:nvSpPr>
          <p:cNvPr id="83" name="Shape 81"/>
          <p:cNvSpPr/>
          <p:nvPr/>
        </p:nvSpPr>
        <p:spPr>
          <a:xfrm>
            <a:off x="137160" y="2057400"/>
            <a:ext cx="8846820" cy="181737"/>
          </a:xfrm>
          <a:prstGeom prst="rect">
            <a:avLst/>
          </a:prstGeom>
          <a:solidFill>
            <a:srgbClr val="081418"/>
          </a:solidFill>
          <a:ln w="3810">
            <a:solidFill>
              <a:srgbClr val="1E2530"/>
            </a:solidFill>
            <a:prstDash val="solid"/>
          </a:ln>
        </p:spPr>
      </p:sp>
      <p:sp>
        <p:nvSpPr>
          <p:cNvPr id="84" name="Shape 82"/>
          <p:cNvSpPr/>
          <p:nvPr/>
        </p:nvSpPr>
        <p:spPr>
          <a:xfrm>
            <a:off x="1371600" y="2057400"/>
            <a:ext cx="0" cy="181737"/>
          </a:xfrm>
          <a:prstGeom prst="line">
            <a:avLst/>
          </a:prstGeom>
          <a:noFill/>
          <a:ln w="3810">
            <a:solidFill>
              <a:srgbClr val="252D38"/>
            </a:solidFill>
            <a:prstDash val="solid"/>
          </a:ln>
        </p:spPr>
      </p:sp>
      <p:sp>
        <p:nvSpPr>
          <p:cNvPr id="85" name="Shape 83"/>
          <p:cNvSpPr/>
          <p:nvPr/>
        </p:nvSpPr>
        <p:spPr>
          <a:xfrm>
            <a:off x="2948940" y="2057400"/>
            <a:ext cx="0" cy="181737"/>
          </a:xfrm>
          <a:prstGeom prst="line">
            <a:avLst/>
          </a:prstGeom>
          <a:noFill/>
          <a:ln w="3810">
            <a:solidFill>
              <a:srgbClr val="252D38"/>
            </a:solidFill>
            <a:prstDash val="solid"/>
          </a:ln>
        </p:spPr>
      </p:sp>
      <p:sp>
        <p:nvSpPr>
          <p:cNvPr id="86" name="Shape 84"/>
          <p:cNvSpPr/>
          <p:nvPr/>
        </p:nvSpPr>
        <p:spPr>
          <a:xfrm>
            <a:off x="4389120" y="2057400"/>
            <a:ext cx="0" cy="181737"/>
          </a:xfrm>
          <a:prstGeom prst="line">
            <a:avLst/>
          </a:prstGeom>
          <a:noFill/>
          <a:ln w="3810">
            <a:solidFill>
              <a:srgbClr val="252D38"/>
            </a:solidFill>
            <a:prstDash val="solid"/>
          </a:ln>
        </p:spPr>
      </p:sp>
      <p:sp>
        <p:nvSpPr>
          <p:cNvPr id="87" name="Shape 85"/>
          <p:cNvSpPr/>
          <p:nvPr/>
        </p:nvSpPr>
        <p:spPr>
          <a:xfrm>
            <a:off x="5623560" y="2057400"/>
            <a:ext cx="0" cy="181737"/>
          </a:xfrm>
          <a:prstGeom prst="line">
            <a:avLst/>
          </a:prstGeom>
          <a:noFill/>
          <a:ln w="3810">
            <a:solidFill>
              <a:srgbClr val="252D38"/>
            </a:solidFill>
            <a:prstDash val="solid"/>
          </a:ln>
        </p:spPr>
      </p:sp>
      <p:sp>
        <p:nvSpPr>
          <p:cNvPr id="88" name="Text 86"/>
          <p:cNvSpPr/>
          <p:nvPr/>
        </p:nvSpPr>
        <p:spPr>
          <a:xfrm>
            <a:off x="1371600" y="2057400"/>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MCP manifest poisoning</a:t>
            </a:r>
            <a:endParaRPr lang="en-US" sz="600" dirty="0"/>
          </a:p>
        </p:txBody>
      </p:sp>
      <p:sp>
        <p:nvSpPr>
          <p:cNvPr id="89" name="Text 87"/>
          <p:cNvSpPr/>
          <p:nvPr/>
        </p:nvSpPr>
        <p:spPr>
          <a:xfrm>
            <a:off x="2948940" y="2057400"/>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Tool descriptions</a:t>
            </a:r>
            <a:endParaRPr lang="en-US" sz="563" dirty="0"/>
          </a:p>
        </p:txBody>
      </p:sp>
      <p:sp>
        <p:nvSpPr>
          <p:cNvPr id="90" name="Text 88"/>
          <p:cNvSpPr/>
          <p:nvPr/>
        </p:nvSpPr>
        <p:spPr>
          <a:xfrm>
            <a:off x="4389120" y="2057400"/>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Control-plane compromise</a:t>
            </a:r>
            <a:endParaRPr lang="en-US" sz="563" dirty="0"/>
          </a:p>
        </p:txBody>
      </p:sp>
      <p:sp>
        <p:nvSpPr>
          <p:cNvPr id="91" name="Text 89"/>
          <p:cNvSpPr/>
          <p:nvPr/>
        </p:nvSpPr>
        <p:spPr>
          <a:xfrm>
            <a:off x="5623560" y="2057400"/>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Poisoned tool schemas / routes</a:t>
            </a:r>
            <a:endParaRPr lang="en-US" sz="563" dirty="0"/>
          </a:p>
        </p:txBody>
      </p:sp>
      <p:sp>
        <p:nvSpPr>
          <p:cNvPr id="92" name="Shape 90"/>
          <p:cNvSpPr/>
          <p:nvPr/>
        </p:nvSpPr>
        <p:spPr>
          <a:xfrm>
            <a:off x="137160" y="2239137"/>
            <a:ext cx="8846820" cy="181737"/>
          </a:xfrm>
          <a:prstGeom prst="rect">
            <a:avLst/>
          </a:prstGeom>
          <a:solidFill>
            <a:srgbClr val="081418"/>
          </a:solidFill>
          <a:ln w="3810">
            <a:solidFill>
              <a:srgbClr val="1E2530"/>
            </a:solidFill>
            <a:prstDash val="solid"/>
          </a:ln>
        </p:spPr>
      </p:sp>
      <p:sp>
        <p:nvSpPr>
          <p:cNvPr id="93" name="Shape 91"/>
          <p:cNvSpPr/>
          <p:nvPr/>
        </p:nvSpPr>
        <p:spPr>
          <a:xfrm>
            <a:off x="1371600" y="2239137"/>
            <a:ext cx="0" cy="181737"/>
          </a:xfrm>
          <a:prstGeom prst="line">
            <a:avLst/>
          </a:prstGeom>
          <a:noFill/>
          <a:ln w="3810">
            <a:solidFill>
              <a:srgbClr val="252D38"/>
            </a:solidFill>
            <a:prstDash val="solid"/>
          </a:ln>
        </p:spPr>
      </p:sp>
      <p:sp>
        <p:nvSpPr>
          <p:cNvPr id="94" name="Shape 92"/>
          <p:cNvSpPr/>
          <p:nvPr/>
        </p:nvSpPr>
        <p:spPr>
          <a:xfrm>
            <a:off x="2948940" y="2239137"/>
            <a:ext cx="0" cy="181737"/>
          </a:xfrm>
          <a:prstGeom prst="line">
            <a:avLst/>
          </a:prstGeom>
          <a:noFill/>
          <a:ln w="3810">
            <a:solidFill>
              <a:srgbClr val="252D38"/>
            </a:solidFill>
            <a:prstDash val="solid"/>
          </a:ln>
        </p:spPr>
      </p:sp>
      <p:sp>
        <p:nvSpPr>
          <p:cNvPr id="95" name="Shape 93"/>
          <p:cNvSpPr/>
          <p:nvPr/>
        </p:nvSpPr>
        <p:spPr>
          <a:xfrm>
            <a:off x="4389120" y="2239137"/>
            <a:ext cx="0" cy="181737"/>
          </a:xfrm>
          <a:prstGeom prst="line">
            <a:avLst/>
          </a:prstGeom>
          <a:noFill/>
          <a:ln w="3810">
            <a:solidFill>
              <a:srgbClr val="252D38"/>
            </a:solidFill>
            <a:prstDash val="solid"/>
          </a:ln>
        </p:spPr>
      </p:sp>
      <p:sp>
        <p:nvSpPr>
          <p:cNvPr id="96" name="Shape 94"/>
          <p:cNvSpPr/>
          <p:nvPr/>
        </p:nvSpPr>
        <p:spPr>
          <a:xfrm>
            <a:off x="5623560" y="2239137"/>
            <a:ext cx="0" cy="181737"/>
          </a:xfrm>
          <a:prstGeom prst="line">
            <a:avLst/>
          </a:prstGeom>
          <a:noFill/>
          <a:ln w="3810">
            <a:solidFill>
              <a:srgbClr val="252D38"/>
            </a:solidFill>
            <a:prstDash val="solid"/>
          </a:ln>
        </p:spPr>
      </p:sp>
      <p:sp>
        <p:nvSpPr>
          <p:cNvPr id="97" name="Text 95"/>
          <p:cNvSpPr/>
          <p:nvPr/>
        </p:nvSpPr>
        <p:spPr>
          <a:xfrm>
            <a:off x="1371600" y="2239137"/>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Agent-to-agent injection</a:t>
            </a:r>
            <a:endParaRPr lang="en-US" sz="600" dirty="0"/>
          </a:p>
        </p:txBody>
      </p:sp>
      <p:sp>
        <p:nvSpPr>
          <p:cNvPr id="98" name="Text 96"/>
          <p:cNvSpPr/>
          <p:nvPr/>
        </p:nvSpPr>
        <p:spPr>
          <a:xfrm>
            <a:off x="2948940" y="2239137"/>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Inter-agent communication</a:t>
            </a:r>
            <a:endParaRPr lang="en-US" sz="563" dirty="0"/>
          </a:p>
        </p:txBody>
      </p:sp>
      <p:sp>
        <p:nvSpPr>
          <p:cNvPr id="99" name="Text 97"/>
          <p:cNvSpPr/>
          <p:nvPr/>
        </p:nvSpPr>
        <p:spPr>
          <a:xfrm>
            <a:off x="4389120" y="2239137"/>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Cascading compromise</a:t>
            </a:r>
            <a:endParaRPr lang="en-US" sz="563" dirty="0"/>
          </a:p>
        </p:txBody>
      </p:sp>
      <p:sp>
        <p:nvSpPr>
          <p:cNvPr id="100" name="Text 98"/>
          <p:cNvSpPr/>
          <p:nvPr/>
        </p:nvSpPr>
        <p:spPr>
          <a:xfrm>
            <a:off x="5623560" y="2239137"/>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Sub-agent poisons orchestrator</a:t>
            </a:r>
            <a:endParaRPr lang="en-US" sz="563" dirty="0"/>
          </a:p>
        </p:txBody>
      </p:sp>
      <p:sp>
        <p:nvSpPr>
          <p:cNvPr id="101" name="Shape 99"/>
          <p:cNvSpPr/>
          <p:nvPr/>
        </p:nvSpPr>
        <p:spPr>
          <a:xfrm>
            <a:off x="137160" y="2420874"/>
            <a:ext cx="8846820" cy="181737"/>
          </a:xfrm>
          <a:prstGeom prst="rect">
            <a:avLst/>
          </a:prstGeom>
          <a:solidFill>
            <a:srgbClr val="0A0A1A"/>
          </a:solidFill>
          <a:ln w="3810">
            <a:solidFill>
              <a:srgbClr val="1E2530"/>
            </a:solidFill>
            <a:prstDash val="solid"/>
          </a:ln>
        </p:spPr>
      </p:sp>
      <p:sp>
        <p:nvSpPr>
          <p:cNvPr id="102" name="Shape 100"/>
          <p:cNvSpPr/>
          <p:nvPr/>
        </p:nvSpPr>
        <p:spPr>
          <a:xfrm>
            <a:off x="1371600" y="2420874"/>
            <a:ext cx="0" cy="181737"/>
          </a:xfrm>
          <a:prstGeom prst="line">
            <a:avLst/>
          </a:prstGeom>
          <a:noFill/>
          <a:ln w="3810">
            <a:solidFill>
              <a:srgbClr val="252D38"/>
            </a:solidFill>
            <a:prstDash val="solid"/>
          </a:ln>
        </p:spPr>
      </p:sp>
      <p:sp>
        <p:nvSpPr>
          <p:cNvPr id="103" name="Shape 101"/>
          <p:cNvSpPr/>
          <p:nvPr/>
        </p:nvSpPr>
        <p:spPr>
          <a:xfrm>
            <a:off x="2948940" y="2420874"/>
            <a:ext cx="0" cy="181737"/>
          </a:xfrm>
          <a:prstGeom prst="line">
            <a:avLst/>
          </a:prstGeom>
          <a:noFill/>
          <a:ln w="3810">
            <a:solidFill>
              <a:srgbClr val="252D38"/>
            </a:solidFill>
            <a:prstDash val="solid"/>
          </a:ln>
        </p:spPr>
      </p:sp>
      <p:sp>
        <p:nvSpPr>
          <p:cNvPr id="104" name="Shape 102"/>
          <p:cNvSpPr/>
          <p:nvPr/>
        </p:nvSpPr>
        <p:spPr>
          <a:xfrm>
            <a:off x="4389120" y="2420874"/>
            <a:ext cx="0" cy="181737"/>
          </a:xfrm>
          <a:prstGeom prst="line">
            <a:avLst/>
          </a:prstGeom>
          <a:noFill/>
          <a:ln w="3810">
            <a:solidFill>
              <a:srgbClr val="252D38"/>
            </a:solidFill>
            <a:prstDash val="solid"/>
          </a:ln>
        </p:spPr>
      </p:sp>
      <p:sp>
        <p:nvSpPr>
          <p:cNvPr id="105" name="Shape 103"/>
          <p:cNvSpPr/>
          <p:nvPr/>
        </p:nvSpPr>
        <p:spPr>
          <a:xfrm>
            <a:off x="5623560" y="2420874"/>
            <a:ext cx="0" cy="181737"/>
          </a:xfrm>
          <a:prstGeom prst="line">
            <a:avLst/>
          </a:prstGeom>
          <a:noFill/>
          <a:ln w="3810">
            <a:solidFill>
              <a:srgbClr val="252D38"/>
            </a:solidFill>
            <a:prstDash val="solid"/>
          </a:ln>
        </p:spPr>
      </p:sp>
      <p:sp>
        <p:nvSpPr>
          <p:cNvPr id="106" name="Text 104"/>
          <p:cNvSpPr/>
          <p:nvPr/>
        </p:nvSpPr>
        <p:spPr>
          <a:xfrm>
            <a:off x="1371600" y="2420874"/>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Code interpreter escape</a:t>
            </a:r>
            <a:endParaRPr lang="en-US" sz="600" dirty="0"/>
          </a:p>
        </p:txBody>
      </p:sp>
      <p:sp>
        <p:nvSpPr>
          <p:cNvPr id="107" name="Text 105"/>
          <p:cNvSpPr/>
          <p:nvPr/>
        </p:nvSpPr>
        <p:spPr>
          <a:xfrm>
            <a:off x="2948940" y="2420874"/>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Execution environment</a:t>
            </a:r>
            <a:endParaRPr lang="en-US" sz="563" dirty="0"/>
          </a:p>
        </p:txBody>
      </p:sp>
      <p:sp>
        <p:nvSpPr>
          <p:cNvPr id="108" name="Text 106"/>
          <p:cNvSpPr/>
          <p:nvPr/>
        </p:nvSpPr>
        <p:spPr>
          <a:xfrm>
            <a:off x="4389120" y="2420874"/>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System access</a:t>
            </a:r>
            <a:endParaRPr lang="en-US" sz="563" dirty="0"/>
          </a:p>
        </p:txBody>
      </p:sp>
      <p:sp>
        <p:nvSpPr>
          <p:cNvPr id="109" name="Text 107"/>
          <p:cNvSpPr/>
          <p:nvPr/>
        </p:nvSpPr>
        <p:spPr>
          <a:xfrm>
            <a:off x="5623560" y="2420874"/>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File system / network breakout</a:t>
            </a:r>
            <a:endParaRPr lang="en-US" sz="563" dirty="0"/>
          </a:p>
        </p:txBody>
      </p:sp>
      <p:sp>
        <p:nvSpPr>
          <p:cNvPr id="110" name="Shape 108"/>
          <p:cNvSpPr/>
          <p:nvPr/>
        </p:nvSpPr>
        <p:spPr>
          <a:xfrm>
            <a:off x="137160" y="2602611"/>
            <a:ext cx="8846820" cy="181737"/>
          </a:xfrm>
          <a:prstGeom prst="rect">
            <a:avLst/>
          </a:prstGeom>
          <a:solidFill>
            <a:srgbClr val="0A1A0A"/>
          </a:solidFill>
          <a:ln w="3810">
            <a:solidFill>
              <a:srgbClr val="1E2530"/>
            </a:solidFill>
            <a:prstDash val="solid"/>
          </a:ln>
        </p:spPr>
      </p:sp>
      <p:sp>
        <p:nvSpPr>
          <p:cNvPr id="111" name="Shape 109"/>
          <p:cNvSpPr/>
          <p:nvPr/>
        </p:nvSpPr>
        <p:spPr>
          <a:xfrm>
            <a:off x="1371600" y="2602611"/>
            <a:ext cx="0" cy="181737"/>
          </a:xfrm>
          <a:prstGeom prst="line">
            <a:avLst/>
          </a:prstGeom>
          <a:noFill/>
          <a:ln w="3810">
            <a:solidFill>
              <a:srgbClr val="252D38"/>
            </a:solidFill>
            <a:prstDash val="solid"/>
          </a:ln>
        </p:spPr>
      </p:sp>
      <p:sp>
        <p:nvSpPr>
          <p:cNvPr id="112" name="Shape 110"/>
          <p:cNvSpPr/>
          <p:nvPr/>
        </p:nvSpPr>
        <p:spPr>
          <a:xfrm>
            <a:off x="2948940" y="2602611"/>
            <a:ext cx="0" cy="181737"/>
          </a:xfrm>
          <a:prstGeom prst="line">
            <a:avLst/>
          </a:prstGeom>
          <a:noFill/>
          <a:ln w="3810">
            <a:solidFill>
              <a:srgbClr val="252D38"/>
            </a:solidFill>
            <a:prstDash val="solid"/>
          </a:ln>
        </p:spPr>
      </p:sp>
      <p:sp>
        <p:nvSpPr>
          <p:cNvPr id="113" name="Shape 111"/>
          <p:cNvSpPr/>
          <p:nvPr/>
        </p:nvSpPr>
        <p:spPr>
          <a:xfrm>
            <a:off x="4389120" y="2602611"/>
            <a:ext cx="0" cy="181737"/>
          </a:xfrm>
          <a:prstGeom prst="line">
            <a:avLst/>
          </a:prstGeom>
          <a:noFill/>
          <a:ln w="3810">
            <a:solidFill>
              <a:srgbClr val="252D38"/>
            </a:solidFill>
            <a:prstDash val="solid"/>
          </a:ln>
        </p:spPr>
      </p:sp>
      <p:sp>
        <p:nvSpPr>
          <p:cNvPr id="114" name="Shape 112"/>
          <p:cNvSpPr/>
          <p:nvPr/>
        </p:nvSpPr>
        <p:spPr>
          <a:xfrm>
            <a:off x="5623560" y="2602611"/>
            <a:ext cx="0" cy="181737"/>
          </a:xfrm>
          <a:prstGeom prst="line">
            <a:avLst/>
          </a:prstGeom>
          <a:noFill/>
          <a:ln w="3810">
            <a:solidFill>
              <a:srgbClr val="252D38"/>
            </a:solidFill>
            <a:prstDash val="solid"/>
          </a:ln>
        </p:spPr>
      </p:sp>
      <p:sp>
        <p:nvSpPr>
          <p:cNvPr id="115" name="Text 113"/>
          <p:cNvSpPr/>
          <p:nvPr/>
        </p:nvSpPr>
        <p:spPr>
          <a:xfrm>
            <a:off x="1371600" y="2602611"/>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HTML / Markdown injection</a:t>
            </a:r>
            <a:endParaRPr lang="en-US" sz="600" dirty="0"/>
          </a:p>
        </p:txBody>
      </p:sp>
      <p:sp>
        <p:nvSpPr>
          <p:cNvPr id="116" name="Text 114"/>
          <p:cNvSpPr/>
          <p:nvPr/>
        </p:nvSpPr>
        <p:spPr>
          <a:xfrm>
            <a:off x="2948940" y="2602611"/>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Rendering layer</a:t>
            </a:r>
            <a:endParaRPr lang="en-US" sz="563" dirty="0"/>
          </a:p>
        </p:txBody>
      </p:sp>
      <p:sp>
        <p:nvSpPr>
          <p:cNvPr id="117" name="Text 115"/>
          <p:cNvSpPr/>
          <p:nvPr/>
        </p:nvSpPr>
        <p:spPr>
          <a:xfrm>
            <a:off x="4389120" y="2602611"/>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XSS / UI compromise</a:t>
            </a:r>
            <a:endParaRPr lang="en-US" sz="563" dirty="0"/>
          </a:p>
        </p:txBody>
      </p:sp>
      <p:sp>
        <p:nvSpPr>
          <p:cNvPr id="118" name="Text 116"/>
          <p:cNvSpPr/>
          <p:nvPr/>
        </p:nvSpPr>
        <p:spPr>
          <a:xfrm>
            <a:off x="5623560" y="2602611"/>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Script injection in output</a:t>
            </a:r>
            <a:endParaRPr lang="en-US" sz="563" dirty="0"/>
          </a:p>
        </p:txBody>
      </p:sp>
      <p:sp>
        <p:nvSpPr>
          <p:cNvPr id="119" name="Shape 117"/>
          <p:cNvSpPr/>
          <p:nvPr/>
        </p:nvSpPr>
        <p:spPr>
          <a:xfrm>
            <a:off x="137160" y="2784348"/>
            <a:ext cx="8846820" cy="181737"/>
          </a:xfrm>
          <a:prstGeom prst="rect">
            <a:avLst/>
          </a:prstGeom>
          <a:solidFill>
            <a:srgbClr val="0A1A0A"/>
          </a:solidFill>
          <a:ln w="3810">
            <a:solidFill>
              <a:srgbClr val="1E2530"/>
            </a:solidFill>
            <a:prstDash val="solid"/>
          </a:ln>
        </p:spPr>
      </p:sp>
      <p:sp>
        <p:nvSpPr>
          <p:cNvPr id="120" name="Shape 118"/>
          <p:cNvSpPr/>
          <p:nvPr/>
        </p:nvSpPr>
        <p:spPr>
          <a:xfrm>
            <a:off x="1371600" y="2784348"/>
            <a:ext cx="0" cy="181737"/>
          </a:xfrm>
          <a:prstGeom prst="line">
            <a:avLst/>
          </a:prstGeom>
          <a:noFill/>
          <a:ln w="3810">
            <a:solidFill>
              <a:srgbClr val="252D38"/>
            </a:solidFill>
            <a:prstDash val="solid"/>
          </a:ln>
        </p:spPr>
      </p:sp>
      <p:sp>
        <p:nvSpPr>
          <p:cNvPr id="121" name="Shape 119"/>
          <p:cNvSpPr/>
          <p:nvPr/>
        </p:nvSpPr>
        <p:spPr>
          <a:xfrm>
            <a:off x="2948940" y="2784348"/>
            <a:ext cx="0" cy="181737"/>
          </a:xfrm>
          <a:prstGeom prst="line">
            <a:avLst/>
          </a:prstGeom>
          <a:noFill/>
          <a:ln w="3810">
            <a:solidFill>
              <a:srgbClr val="252D38"/>
            </a:solidFill>
            <a:prstDash val="solid"/>
          </a:ln>
        </p:spPr>
      </p:sp>
      <p:sp>
        <p:nvSpPr>
          <p:cNvPr id="122" name="Shape 120"/>
          <p:cNvSpPr/>
          <p:nvPr/>
        </p:nvSpPr>
        <p:spPr>
          <a:xfrm>
            <a:off x="4389120" y="2784348"/>
            <a:ext cx="0" cy="181737"/>
          </a:xfrm>
          <a:prstGeom prst="line">
            <a:avLst/>
          </a:prstGeom>
          <a:noFill/>
          <a:ln w="3810">
            <a:solidFill>
              <a:srgbClr val="252D38"/>
            </a:solidFill>
            <a:prstDash val="solid"/>
          </a:ln>
        </p:spPr>
      </p:sp>
      <p:sp>
        <p:nvSpPr>
          <p:cNvPr id="123" name="Shape 121"/>
          <p:cNvSpPr/>
          <p:nvPr/>
        </p:nvSpPr>
        <p:spPr>
          <a:xfrm>
            <a:off x="5623560" y="2784348"/>
            <a:ext cx="0" cy="181737"/>
          </a:xfrm>
          <a:prstGeom prst="line">
            <a:avLst/>
          </a:prstGeom>
          <a:noFill/>
          <a:ln w="3810">
            <a:solidFill>
              <a:srgbClr val="252D38"/>
            </a:solidFill>
            <a:prstDash val="solid"/>
          </a:ln>
        </p:spPr>
      </p:sp>
      <p:sp>
        <p:nvSpPr>
          <p:cNvPr id="124" name="Text 122"/>
          <p:cNvSpPr/>
          <p:nvPr/>
        </p:nvSpPr>
        <p:spPr>
          <a:xfrm>
            <a:off x="1371600" y="2784348"/>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Insecure output handling</a:t>
            </a:r>
            <a:endParaRPr lang="en-US" sz="600" dirty="0"/>
          </a:p>
        </p:txBody>
      </p:sp>
      <p:sp>
        <p:nvSpPr>
          <p:cNvPr id="125" name="Text 123"/>
          <p:cNvSpPr/>
          <p:nvPr/>
        </p:nvSpPr>
        <p:spPr>
          <a:xfrm>
            <a:off x="2948940" y="2784348"/>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Downstream systems</a:t>
            </a:r>
            <a:endParaRPr lang="en-US" sz="563" dirty="0"/>
          </a:p>
        </p:txBody>
      </p:sp>
      <p:sp>
        <p:nvSpPr>
          <p:cNvPr id="126" name="Text 124"/>
          <p:cNvSpPr/>
          <p:nvPr/>
        </p:nvSpPr>
        <p:spPr>
          <a:xfrm>
            <a:off x="4389120" y="2784348"/>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Command / SQL injection</a:t>
            </a:r>
            <a:endParaRPr lang="en-US" sz="563" dirty="0"/>
          </a:p>
        </p:txBody>
      </p:sp>
      <p:sp>
        <p:nvSpPr>
          <p:cNvPr id="127" name="Text 125"/>
          <p:cNvSpPr/>
          <p:nvPr/>
        </p:nvSpPr>
        <p:spPr>
          <a:xfrm>
            <a:off x="5623560" y="2784348"/>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LLM → shell / API without sanitization</a:t>
            </a:r>
            <a:endParaRPr lang="en-US" sz="563" dirty="0"/>
          </a:p>
        </p:txBody>
      </p:sp>
      <p:sp>
        <p:nvSpPr>
          <p:cNvPr id="128" name="Shape 126"/>
          <p:cNvSpPr/>
          <p:nvPr/>
        </p:nvSpPr>
        <p:spPr>
          <a:xfrm>
            <a:off x="137160" y="2966085"/>
            <a:ext cx="8846820" cy="181737"/>
          </a:xfrm>
          <a:prstGeom prst="rect">
            <a:avLst/>
          </a:prstGeom>
          <a:solidFill>
            <a:srgbClr val="041414"/>
          </a:solidFill>
          <a:ln w="3810">
            <a:solidFill>
              <a:srgbClr val="1E2530"/>
            </a:solidFill>
            <a:prstDash val="solid"/>
          </a:ln>
        </p:spPr>
      </p:sp>
      <p:sp>
        <p:nvSpPr>
          <p:cNvPr id="129" name="Shape 127"/>
          <p:cNvSpPr/>
          <p:nvPr/>
        </p:nvSpPr>
        <p:spPr>
          <a:xfrm>
            <a:off x="1371600" y="2966085"/>
            <a:ext cx="0" cy="181737"/>
          </a:xfrm>
          <a:prstGeom prst="line">
            <a:avLst/>
          </a:prstGeom>
          <a:noFill/>
          <a:ln w="3810">
            <a:solidFill>
              <a:srgbClr val="252D38"/>
            </a:solidFill>
            <a:prstDash val="solid"/>
          </a:ln>
        </p:spPr>
      </p:sp>
      <p:sp>
        <p:nvSpPr>
          <p:cNvPr id="130" name="Shape 128"/>
          <p:cNvSpPr/>
          <p:nvPr/>
        </p:nvSpPr>
        <p:spPr>
          <a:xfrm>
            <a:off x="2948940" y="2966085"/>
            <a:ext cx="0" cy="181737"/>
          </a:xfrm>
          <a:prstGeom prst="line">
            <a:avLst/>
          </a:prstGeom>
          <a:noFill/>
          <a:ln w="3810">
            <a:solidFill>
              <a:srgbClr val="252D38"/>
            </a:solidFill>
            <a:prstDash val="solid"/>
          </a:ln>
        </p:spPr>
      </p:sp>
      <p:sp>
        <p:nvSpPr>
          <p:cNvPr id="131" name="Shape 129"/>
          <p:cNvSpPr/>
          <p:nvPr/>
        </p:nvSpPr>
        <p:spPr>
          <a:xfrm>
            <a:off x="4389120" y="2966085"/>
            <a:ext cx="0" cy="181737"/>
          </a:xfrm>
          <a:prstGeom prst="line">
            <a:avLst/>
          </a:prstGeom>
          <a:noFill/>
          <a:ln w="3810">
            <a:solidFill>
              <a:srgbClr val="252D38"/>
            </a:solidFill>
            <a:prstDash val="solid"/>
          </a:ln>
        </p:spPr>
      </p:sp>
      <p:sp>
        <p:nvSpPr>
          <p:cNvPr id="132" name="Shape 130"/>
          <p:cNvSpPr/>
          <p:nvPr/>
        </p:nvSpPr>
        <p:spPr>
          <a:xfrm>
            <a:off x="5623560" y="2966085"/>
            <a:ext cx="0" cy="181737"/>
          </a:xfrm>
          <a:prstGeom prst="line">
            <a:avLst/>
          </a:prstGeom>
          <a:noFill/>
          <a:ln w="3810">
            <a:solidFill>
              <a:srgbClr val="252D38"/>
            </a:solidFill>
            <a:prstDash val="solid"/>
          </a:ln>
        </p:spPr>
      </p:sp>
      <p:sp>
        <p:nvSpPr>
          <p:cNvPr id="133" name="Text 131"/>
          <p:cNvSpPr/>
          <p:nvPr/>
        </p:nvSpPr>
        <p:spPr>
          <a:xfrm>
            <a:off x="1371600" y="2966085"/>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Embedding / chunk poisoning</a:t>
            </a:r>
            <a:endParaRPr lang="en-US" sz="600" dirty="0"/>
          </a:p>
        </p:txBody>
      </p:sp>
      <p:sp>
        <p:nvSpPr>
          <p:cNvPr id="134" name="Text 132"/>
          <p:cNvSpPr/>
          <p:nvPr/>
        </p:nvSpPr>
        <p:spPr>
          <a:xfrm>
            <a:off x="2948940" y="2966085"/>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Vector DB</a:t>
            </a:r>
            <a:endParaRPr lang="en-US" sz="563" dirty="0"/>
          </a:p>
        </p:txBody>
      </p:sp>
      <p:sp>
        <p:nvSpPr>
          <p:cNvPr id="135" name="Text 133"/>
          <p:cNvSpPr/>
          <p:nvPr/>
        </p:nvSpPr>
        <p:spPr>
          <a:xfrm>
            <a:off x="4389120" y="2966085"/>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Retrieval manipulation</a:t>
            </a:r>
            <a:endParaRPr lang="en-US" sz="563" dirty="0"/>
          </a:p>
        </p:txBody>
      </p:sp>
      <p:sp>
        <p:nvSpPr>
          <p:cNvPr id="136" name="Text 134"/>
          <p:cNvSpPr/>
          <p:nvPr/>
        </p:nvSpPr>
        <p:spPr>
          <a:xfrm>
            <a:off x="5623560" y="2966085"/>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Hidden instructions in documents</a:t>
            </a:r>
            <a:endParaRPr lang="en-US" sz="563" dirty="0"/>
          </a:p>
        </p:txBody>
      </p:sp>
      <p:sp>
        <p:nvSpPr>
          <p:cNvPr id="137" name="Shape 135"/>
          <p:cNvSpPr/>
          <p:nvPr/>
        </p:nvSpPr>
        <p:spPr>
          <a:xfrm>
            <a:off x="137160" y="3147822"/>
            <a:ext cx="8846820" cy="181737"/>
          </a:xfrm>
          <a:prstGeom prst="rect">
            <a:avLst/>
          </a:prstGeom>
          <a:solidFill>
            <a:srgbClr val="041414"/>
          </a:solidFill>
          <a:ln w="3810">
            <a:solidFill>
              <a:srgbClr val="1E2530"/>
            </a:solidFill>
            <a:prstDash val="solid"/>
          </a:ln>
        </p:spPr>
      </p:sp>
      <p:sp>
        <p:nvSpPr>
          <p:cNvPr id="138" name="Shape 136"/>
          <p:cNvSpPr/>
          <p:nvPr/>
        </p:nvSpPr>
        <p:spPr>
          <a:xfrm>
            <a:off x="1371600" y="3147822"/>
            <a:ext cx="0" cy="181737"/>
          </a:xfrm>
          <a:prstGeom prst="line">
            <a:avLst/>
          </a:prstGeom>
          <a:noFill/>
          <a:ln w="3810">
            <a:solidFill>
              <a:srgbClr val="252D38"/>
            </a:solidFill>
            <a:prstDash val="solid"/>
          </a:ln>
        </p:spPr>
      </p:sp>
      <p:sp>
        <p:nvSpPr>
          <p:cNvPr id="139" name="Shape 137"/>
          <p:cNvSpPr/>
          <p:nvPr/>
        </p:nvSpPr>
        <p:spPr>
          <a:xfrm>
            <a:off x="2948940" y="3147822"/>
            <a:ext cx="0" cy="181737"/>
          </a:xfrm>
          <a:prstGeom prst="line">
            <a:avLst/>
          </a:prstGeom>
          <a:noFill/>
          <a:ln w="3810">
            <a:solidFill>
              <a:srgbClr val="252D38"/>
            </a:solidFill>
            <a:prstDash val="solid"/>
          </a:ln>
        </p:spPr>
      </p:sp>
      <p:sp>
        <p:nvSpPr>
          <p:cNvPr id="140" name="Shape 138"/>
          <p:cNvSpPr/>
          <p:nvPr/>
        </p:nvSpPr>
        <p:spPr>
          <a:xfrm>
            <a:off x="4389120" y="3147822"/>
            <a:ext cx="0" cy="181737"/>
          </a:xfrm>
          <a:prstGeom prst="line">
            <a:avLst/>
          </a:prstGeom>
          <a:noFill/>
          <a:ln w="3810">
            <a:solidFill>
              <a:srgbClr val="252D38"/>
            </a:solidFill>
            <a:prstDash val="solid"/>
          </a:ln>
        </p:spPr>
      </p:sp>
      <p:sp>
        <p:nvSpPr>
          <p:cNvPr id="141" name="Shape 139"/>
          <p:cNvSpPr/>
          <p:nvPr/>
        </p:nvSpPr>
        <p:spPr>
          <a:xfrm>
            <a:off x="5623560" y="3147822"/>
            <a:ext cx="0" cy="181737"/>
          </a:xfrm>
          <a:prstGeom prst="line">
            <a:avLst/>
          </a:prstGeom>
          <a:noFill/>
          <a:ln w="3810">
            <a:solidFill>
              <a:srgbClr val="252D38"/>
            </a:solidFill>
            <a:prstDash val="solid"/>
          </a:ln>
        </p:spPr>
      </p:sp>
      <p:sp>
        <p:nvSpPr>
          <p:cNvPr id="142" name="Text 140"/>
          <p:cNvSpPr/>
          <p:nvPr/>
        </p:nvSpPr>
        <p:spPr>
          <a:xfrm>
            <a:off x="1371600" y="3147822"/>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Search ranking manipulation</a:t>
            </a:r>
            <a:endParaRPr lang="en-US" sz="600" dirty="0"/>
          </a:p>
        </p:txBody>
      </p:sp>
      <p:sp>
        <p:nvSpPr>
          <p:cNvPr id="143" name="Text 141"/>
          <p:cNvSpPr/>
          <p:nvPr/>
        </p:nvSpPr>
        <p:spPr>
          <a:xfrm>
            <a:off x="2948940" y="3147822"/>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Retrieval logic</a:t>
            </a:r>
            <a:endParaRPr lang="en-US" sz="563" dirty="0"/>
          </a:p>
        </p:txBody>
      </p:sp>
      <p:sp>
        <p:nvSpPr>
          <p:cNvPr id="144" name="Text 142"/>
          <p:cNvSpPr/>
          <p:nvPr/>
        </p:nvSpPr>
        <p:spPr>
          <a:xfrm>
            <a:off x="4389120" y="3147822"/>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Biased outputs</a:t>
            </a:r>
            <a:endParaRPr lang="en-US" sz="563" dirty="0"/>
          </a:p>
        </p:txBody>
      </p:sp>
      <p:sp>
        <p:nvSpPr>
          <p:cNvPr id="145" name="Text 143"/>
          <p:cNvSpPr/>
          <p:nvPr/>
        </p:nvSpPr>
        <p:spPr>
          <a:xfrm>
            <a:off x="5623560" y="3147822"/>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Adversarial indexing</a:t>
            </a:r>
            <a:endParaRPr lang="en-US" sz="563" dirty="0"/>
          </a:p>
        </p:txBody>
      </p:sp>
      <p:sp>
        <p:nvSpPr>
          <p:cNvPr id="146" name="Shape 144"/>
          <p:cNvSpPr/>
          <p:nvPr/>
        </p:nvSpPr>
        <p:spPr>
          <a:xfrm>
            <a:off x="137160" y="3329559"/>
            <a:ext cx="8846820" cy="181737"/>
          </a:xfrm>
          <a:prstGeom prst="rect">
            <a:avLst/>
          </a:prstGeom>
          <a:solidFill>
            <a:srgbClr val="1A0808"/>
          </a:solidFill>
          <a:ln w="3810">
            <a:solidFill>
              <a:srgbClr val="1E2530"/>
            </a:solidFill>
            <a:prstDash val="solid"/>
          </a:ln>
        </p:spPr>
      </p:sp>
      <p:sp>
        <p:nvSpPr>
          <p:cNvPr id="147" name="Shape 145"/>
          <p:cNvSpPr/>
          <p:nvPr/>
        </p:nvSpPr>
        <p:spPr>
          <a:xfrm>
            <a:off x="1371600" y="3329559"/>
            <a:ext cx="0" cy="181737"/>
          </a:xfrm>
          <a:prstGeom prst="line">
            <a:avLst/>
          </a:prstGeom>
          <a:noFill/>
          <a:ln w="3810">
            <a:solidFill>
              <a:srgbClr val="252D38"/>
            </a:solidFill>
            <a:prstDash val="solid"/>
          </a:ln>
        </p:spPr>
      </p:sp>
      <p:sp>
        <p:nvSpPr>
          <p:cNvPr id="148" name="Shape 146"/>
          <p:cNvSpPr/>
          <p:nvPr/>
        </p:nvSpPr>
        <p:spPr>
          <a:xfrm>
            <a:off x="2948940" y="3329559"/>
            <a:ext cx="0" cy="181737"/>
          </a:xfrm>
          <a:prstGeom prst="line">
            <a:avLst/>
          </a:prstGeom>
          <a:noFill/>
          <a:ln w="3810">
            <a:solidFill>
              <a:srgbClr val="252D38"/>
            </a:solidFill>
            <a:prstDash val="solid"/>
          </a:ln>
        </p:spPr>
      </p:sp>
      <p:sp>
        <p:nvSpPr>
          <p:cNvPr id="149" name="Shape 147"/>
          <p:cNvSpPr/>
          <p:nvPr/>
        </p:nvSpPr>
        <p:spPr>
          <a:xfrm>
            <a:off x="4389120" y="3329559"/>
            <a:ext cx="0" cy="181737"/>
          </a:xfrm>
          <a:prstGeom prst="line">
            <a:avLst/>
          </a:prstGeom>
          <a:noFill/>
          <a:ln w="3810">
            <a:solidFill>
              <a:srgbClr val="252D38"/>
            </a:solidFill>
            <a:prstDash val="solid"/>
          </a:ln>
        </p:spPr>
      </p:sp>
      <p:sp>
        <p:nvSpPr>
          <p:cNvPr id="150" name="Shape 148"/>
          <p:cNvSpPr/>
          <p:nvPr/>
        </p:nvSpPr>
        <p:spPr>
          <a:xfrm>
            <a:off x="5623560" y="3329559"/>
            <a:ext cx="0" cy="181737"/>
          </a:xfrm>
          <a:prstGeom prst="line">
            <a:avLst/>
          </a:prstGeom>
          <a:noFill/>
          <a:ln w="3810">
            <a:solidFill>
              <a:srgbClr val="252D38"/>
            </a:solidFill>
            <a:prstDash val="solid"/>
          </a:ln>
        </p:spPr>
      </p:sp>
      <p:sp>
        <p:nvSpPr>
          <p:cNvPr id="151" name="Text 149"/>
          <p:cNvSpPr/>
          <p:nvPr/>
        </p:nvSpPr>
        <p:spPr>
          <a:xfrm>
            <a:off x="1371600" y="3329559"/>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Token flooding</a:t>
            </a:r>
            <a:endParaRPr lang="en-US" sz="600" dirty="0"/>
          </a:p>
        </p:txBody>
      </p:sp>
      <p:sp>
        <p:nvSpPr>
          <p:cNvPr id="152" name="Text 150"/>
          <p:cNvSpPr/>
          <p:nvPr/>
        </p:nvSpPr>
        <p:spPr>
          <a:xfrm>
            <a:off x="2948940" y="3329559"/>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Context window</a:t>
            </a:r>
            <a:endParaRPr lang="en-US" sz="563" dirty="0"/>
          </a:p>
        </p:txBody>
      </p:sp>
      <p:sp>
        <p:nvSpPr>
          <p:cNvPr id="153" name="Text 151"/>
          <p:cNvSpPr/>
          <p:nvPr/>
        </p:nvSpPr>
        <p:spPr>
          <a:xfrm>
            <a:off x="4389120" y="3329559"/>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Resource exhaustion</a:t>
            </a:r>
            <a:endParaRPr lang="en-US" sz="563" dirty="0"/>
          </a:p>
        </p:txBody>
      </p:sp>
      <p:sp>
        <p:nvSpPr>
          <p:cNvPr id="154" name="Text 152"/>
          <p:cNvSpPr/>
          <p:nvPr/>
        </p:nvSpPr>
        <p:spPr>
          <a:xfrm>
            <a:off x="5623560" y="3329559"/>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Large prompts</a:t>
            </a:r>
            <a:endParaRPr lang="en-US" sz="563" dirty="0"/>
          </a:p>
        </p:txBody>
      </p:sp>
      <p:sp>
        <p:nvSpPr>
          <p:cNvPr id="155" name="Shape 153"/>
          <p:cNvSpPr/>
          <p:nvPr/>
        </p:nvSpPr>
        <p:spPr>
          <a:xfrm>
            <a:off x="137160" y="3511296"/>
            <a:ext cx="8846820" cy="181737"/>
          </a:xfrm>
          <a:prstGeom prst="rect">
            <a:avLst/>
          </a:prstGeom>
          <a:solidFill>
            <a:srgbClr val="1A0808"/>
          </a:solidFill>
          <a:ln w="3810">
            <a:solidFill>
              <a:srgbClr val="1E2530"/>
            </a:solidFill>
            <a:prstDash val="solid"/>
          </a:ln>
        </p:spPr>
      </p:sp>
      <p:sp>
        <p:nvSpPr>
          <p:cNvPr id="156" name="Shape 154"/>
          <p:cNvSpPr/>
          <p:nvPr/>
        </p:nvSpPr>
        <p:spPr>
          <a:xfrm>
            <a:off x="1371600" y="3511296"/>
            <a:ext cx="0" cy="181737"/>
          </a:xfrm>
          <a:prstGeom prst="line">
            <a:avLst/>
          </a:prstGeom>
          <a:noFill/>
          <a:ln w="3810">
            <a:solidFill>
              <a:srgbClr val="252D38"/>
            </a:solidFill>
            <a:prstDash val="solid"/>
          </a:ln>
        </p:spPr>
      </p:sp>
      <p:sp>
        <p:nvSpPr>
          <p:cNvPr id="157" name="Shape 155"/>
          <p:cNvSpPr/>
          <p:nvPr/>
        </p:nvSpPr>
        <p:spPr>
          <a:xfrm>
            <a:off x="2948940" y="3511296"/>
            <a:ext cx="0" cy="181737"/>
          </a:xfrm>
          <a:prstGeom prst="line">
            <a:avLst/>
          </a:prstGeom>
          <a:noFill/>
          <a:ln w="3810">
            <a:solidFill>
              <a:srgbClr val="252D38"/>
            </a:solidFill>
            <a:prstDash val="solid"/>
          </a:ln>
        </p:spPr>
      </p:sp>
      <p:sp>
        <p:nvSpPr>
          <p:cNvPr id="158" name="Shape 156"/>
          <p:cNvSpPr/>
          <p:nvPr/>
        </p:nvSpPr>
        <p:spPr>
          <a:xfrm>
            <a:off x="4389120" y="3511296"/>
            <a:ext cx="0" cy="181737"/>
          </a:xfrm>
          <a:prstGeom prst="line">
            <a:avLst/>
          </a:prstGeom>
          <a:noFill/>
          <a:ln w="3810">
            <a:solidFill>
              <a:srgbClr val="252D38"/>
            </a:solidFill>
            <a:prstDash val="solid"/>
          </a:ln>
        </p:spPr>
      </p:sp>
      <p:sp>
        <p:nvSpPr>
          <p:cNvPr id="159" name="Shape 157"/>
          <p:cNvSpPr/>
          <p:nvPr/>
        </p:nvSpPr>
        <p:spPr>
          <a:xfrm>
            <a:off x="5623560" y="3511296"/>
            <a:ext cx="0" cy="181737"/>
          </a:xfrm>
          <a:prstGeom prst="line">
            <a:avLst/>
          </a:prstGeom>
          <a:noFill/>
          <a:ln w="3810">
            <a:solidFill>
              <a:srgbClr val="252D38"/>
            </a:solidFill>
            <a:prstDash val="solid"/>
          </a:ln>
        </p:spPr>
      </p:sp>
      <p:sp>
        <p:nvSpPr>
          <p:cNvPr id="160" name="Text 158"/>
          <p:cNvSpPr/>
          <p:nvPr/>
        </p:nvSpPr>
        <p:spPr>
          <a:xfrm>
            <a:off x="1371600" y="3511296"/>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Sponge attacks</a:t>
            </a:r>
            <a:endParaRPr lang="en-US" sz="600" dirty="0"/>
          </a:p>
        </p:txBody>
      </p:sp>
      <p:sp>
        <p:nvSpPr>
          <p:cNvPr id="161" name="Text 159"/>
          <p:cNvSpPr/>
          <p:nvPr/>
        </p:nvSpPr>
        <p:spPr>
          <a:xfrm>
            <a:off x="2948940" y="3511296"/>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Model compute</a:t>
            </a:r>
            <a:endParaRPr lang="en-US" sz="563" dirty="0"/>
          </a:p>
        </p:txBody>
      </p:sp>
      <p:sp>
        <p:nvSpPr>
          <p:cNvPr id="162" name="Text 160"/>
          <p:cNvSpPr/>
          <p:nvPr/>
        </p:nvSpPr>
        <p:spPr>
          <a:xfrm>
            <a:off x="4389120" y="3511296"/>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Cost amplification</a:t>
            </a:r>
            <a:endParaRPr lang="en-US" sz="563" dirty="0"/>
          </a:p>
        </p:txBody>
      </p:sp>
      <p:sp>
        <p:nvSpPr>
          <p:cNvPr id="163" name="Text 161"/>
          <p:cNvSpPr/>
          <p:nvPr/>
        </p:nvSpPr>
        <p:spPr>
          <a:xfrm>
            <a:off x="5623560" y="3511296"/>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Maximize compute per token</a:t>
            </a:r>
            <a:endParaRPr lang="en-US" sz="563" dirty="0"/>
          </a:p>
        </p:txBody>
      </p:sp>
      <p:sp>
        <p:nvSpPr>
          <p:cNvPr id="164" name="Shape 162"/>
          <p:cNvSpPr/>
          <p:nvPr/>
        </p:nvSpPr>
        <p:spPr>
          <a:xfrm>
            <a:off x="137160" y="3693033"/>
            <a:ext cx="8846820" cy="181737"/>
          </a:xfrm>
          <a:prstGeom prst="rect">
            <a:avLst/>
          </a:prstGeom>
          <a:solidFill>
            <a:srgbClr val="100A1A"/>
          </a:solidFill>
          <a:ln w="3810">
            <a:solidFill>
              <a:srgbClr val="1E2530"/>
            </a:solidFill>
            <a:prstDash val="solid"/>
          </a:ln>
        </p:spPr>
      </p:sp>
      <p:sp>
        <p:nvSpPr>
          <p:cNvPr id="165" name="Shape 163"/>
          <p:cNvSpPr/>
          <p:nvPr/>
        </p:nvSpPr>
        <p:spPr>
          <a:xfrm>
            <a:off x="1371600" y="3693033"/>
            <a:ext cx="0" cy="181737"/>
          </a:xfrm>
          <a:prstGeom prst="line">
            <a:avLst/>
          </a:prstGeom>
          <a:noFill/>
          <a:ln w="3810">
            <a:solidFill>
              <a:srgbClr val="252D38"/>
            </a:solidFill>
            <a:prstDash val="solid"/>
          </a:ln>
        </p:spPr>
      </p:sp>
      <p:sp>
        <p:nvSpPr>
          <p:cNvPr id="166" name="Shape 164"/>
          <p:cNvSpPr/>
          <p:nvPr/>
        </p:nvSpPr>
        <p:spPr>
          <a:xfrm>
            <a:off x="2948940" y="3693033"/>
            <a:ext cx="0" cy="181737"/>
          </a:xfrm>
          <a:prstGeom prst="line">
            <a:avLst/>
          </a:prstGeom>
          <a:noFill/>
          <a:ln w="3810">
            <a:solidFill>
              <a:srgbClr val="252D38"/>
            </a:solidFill>
            <a:prstDash val="solid"/>
          </a:ln>
        </p:spPr>
      </p:sp>
      <p:sp>
        <p:nvSpPr>
          <p:cNvPr id="167" name="Shape 165"/>
          <p:cNvSpPr/>
          <p:nvPr/>
        </p:nvSpPr>
        <p:spPr>
          <a:xfrm>
            <a:off x="4389120" y="3693033"/>
            <a:ext cx="0" cy="181737"/>
          </a:xfrm>
          <a:prstGeom prst="line">
            <a:avLst/>
          </a:prstGeom>
          <a:noFill/>
          <a:ln w="3810">
            <a:solidFill>
              <a:srgbClr val="252D38"/>
            </a:solidFill>
            <a:prstDash val="solid"/>
          </a:ln>
        </p:spPr>
      </p:sp>
      <p:sp>
        <p:nvSpPr>
          <p:cNvPr id="168" name="Shape 166"/>
          <p:cNvSpPr/>
          <p:nvPr/>
        </p:nvSpPr>
        <p:spPr>
          <a:xfrm>
            <a:off x="5623560" y="3693033"/>
            <a:ext cx="0" cy="181737"/>
          </a:xfrm>
          <a:prstGeom prst="line">
            <a:avLst/>
          </a:prstGeom>
          <a:noFill/>
          <a:ln w="3810">
            <a:solidFill>
              <a:srgbClr val="252D38"/>
            </a:solidFill>
            <a:prstDash val="solid"/>
          </a:ln>
        </p:spPr>
      </p:sp>
      <p:sp>
        <p:nvSpPr>
          <p:cNvPr id="169" name="Text 167"/>
          <p:cNvSpPr/>
          <p:nvPr/>
        </p:nvSpPr>
        <p:spPr>
          <a:xfrm>
            <a:off x="1371600" y="3693033"/>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Context manipulation</a:t>
            </a:r>
            <a:endParaRPr lang="en-US" sz="600" dirty="0"/>
          </a:p>
        </p:txBody>
      </p:sp>
      <p:sp>
        <p:nvSpPr>
          <p:cNvPr id="170" name="Text 168"/>
          <p:cNvSpPr/>
          <p:nvPr/>
        </p:nvSpPr>
        <p:spPr>
          <a:xfrm>
            <a:off x="2948940" y="3693033"/>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Model attention</a:t>
            </a:r>
            <a:endParaRPr lang="en-US" sz="563" dirty="0"/>
          </a:p>
        </p:txBody>
      </p:sp>
      <p:sp>
        <p:nvSpPr>
          <p:cNvPr id="171" name="Text 169"/>
          <p:cNvSpPr/>
          <p:nvPr/>
        </p:nvSpPr>
        <p:spPr>
          <a:xfrm>
            <a:off x="4389120" y="3693033"/>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Instruction loss</a:t>
            </a:r>
            <a:endParaRPr lang="en-US" sz="563" dirty="0"/>
          </a:p>
        </p:txBody>
      </p:sp>
      <p:sp>
        <p:nvSpPr>
          <p:cNvPr id="172" name="Text 170"/>
          <p:cNvSpPr/>
          <p:nvPr/>
        </p:nvSpPr>
        <p:spPr>
          <a:xfrm>
            <a:off x="5623560" y="3693033"/>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Bury or overshadow critical text</a:t>
            </a:r>
            <a:endParaRPr lang="en-US" sz="563" dirty="0"/>
          </a:p>
        </p:txBody>
      </p:sp>
      <p:sp>
        <p:nvSpPr>
          <p:cNvPr id="173" name="Shape 171"/>
          <p:cNvSpPr/>
          <p:nvPr/>
        </p:nvSpPr>
        <p:spPr>
          <a:xfrm>
            <a:off x="137160" y="3874770"/>
            <a:ext cx="8846820" cy="181737"/>
          </a:xfrm>
          <a:prstGeom prst="rect">
            <a:avLst/>
          </a:prstGeom>
          <a:solidFill>
            <a:srgbClr val="141414"/>
          </a:solidFill>
          <a:ln w="3810">
            <a:solidFill>
              <a:srgbClr val="1E2530"/>
            </a:solidFill>
            <a:prstDash val="solid"/>
          </a:ln>
        </p:spPr>
      </p:sp>
      <p:sp>
        <p:nvSpPr>
          <p:cNvPr id="174" name="Shape 172"/>
          <p:cNvSpPr/>
          <p:nvPr/>
        </p:nvSpPr>
        <p:spPr>
          <a:xfrm>
            <a:off x="1371600" y="3874770"/>
            <a:ext cx="0" cy="181737"/>
          </a:xfrm>
          <a:prstGeom prst="line">
            <a:avLst/>
          </a:prstGeom>
          <a:noFill/>
          <a:ln w="3810">
            <a:solidFill>
              <a:srgbClr val="252D38"/>
            </a:solidFill>
            <a:prstDash val="solid"/>
          </a:ln>
        </p:spPr>
      </p:sp>
      <p:sp>
        <p:nvSpPr>
          <p:cNvPr id="175" name="Shape 173"/>
          <p:cNvSpPr/>
          <p:nvPr/>
        </p:nvSpPr>
        <p:spPr>
          <a:xfrm>
            <a:off x="2948940" y="3874770"/>
            <a:ext cx="0" cy="181737"/>
          </a:xfrm>
          <a:prstGeom prst="line">
            <a:avLst/>
          </a:prstGeom>
          <a:noFill/>
          <a:ln w="3810">
            <a:solidFill>
              <a:srgbClr val="252D38"/>
            </a:solidFill>
            <a:prstDash val="solid"/>
          </a:ln>
        </p:spPr>
      </p:sp>
      <p:sp>
        <p:nvSpPr>
          <p:cNvPr id="176" name="Shape 174"/>
          <p:cNvSpPr/>
          <p:nvPr/>
        </p:nvSpPr>
        <p:spPr>
          <a:xfrm>
            <a:off x="4389120" y="3874770"/>
            <a:ext cx="0" cy="181737"/>
          </a:xfrm>
          <a:prstGeom prst="line">
            <a:avLst/>
          </a:prstGeom>
          <a:noFill/>
          <a:ln w="3810">
            <a:solidFill>
              <a:srgbClr val="252D38"/>
            </a:solidFill>
            <a:prstDash val="solid"/>
          </a:ln>
        </p:spPr>
      </p:sp>
      <p:sp>
        <p:nvSpPr>
          <p:cNvPr id="177" name="Shape 175"/>
          <p:cNvSpPr/>
          <p:nvPr/>
        </p:nvSpPr>
        <p:spPr>
          <a:xfrm>
            <a:off x="5623560" y="3874770"/>
            <a:ext cx="0" cy="181737"/>
          </a:xfrm>
          <a:prstGeom prst="line">
            <a:avLst/>
          </a:prstGeom>
          <a:noFill/>
          <a:ln w="3810">
            <a:solidFill>
              <a:srgbClr val="252D38"/>
            </a:solidFill>
            <a:prstDash val="solid"/>
          </a:ln>
        </p:spPr>
      </p:sp>
      <p:sp>
        <p:nvSpPr>
          <p:cNvPr id="178" name="Text 176"/>
          <p:cNvSpPr/>
          <p:nvPr/>
        </p:nvSpPr>
        <p:spPr>
          <a:xfrm>
            <a:off x="1371600" y="3874770"/>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Training data poisoning</a:t>
            </a:r>
            <a:endParaRPr lang="en-US" sz="600" dirty="0"/>
          </a:p>
        </p:txBody>
      </p:sp>
      <p:sp>
        <p:nvSpPr>
          <p:cNvPr id="179" name="Text 177"/>
          <p:cNvSpPr/>
          <p:nvPr/>
        </p:nvSpPr>
        <p:spPr>
          <a:xfrm>
            <a:off x="2948940" y="3874770"/>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Model training</a:t>
            </a:r>
            <a:endParaRPr lang="en-US" sz="563" dirty="0"/>
          </a:p>
        </p:txBody>
      </p:sp>
      <p:sp>
        <p:nvSpPr>
          <p:cNvPr id="180" name="Text 178"/>
          <p:cNvSpPr/>
          <p:nvPr/>
        </p:nvSpPr>
        <p:spPr>
          <a:xfrm>
            <a:off x="4389120" y="3874770"/>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Behavior corruption</a:t>
            </a:r>
            <a:endParaRPr lang="en-US" sz="563" dirty="0"/>
          </a:p>
        </p:txBody>
      </p:sp>
      <p:sp>
        <p:nvSpPr>
          <p:cNvPr id="181" name="Text 179"/>
          <p:cNvSpPr/>
          <p:nvPr/>
        </p:nvSpPr>
        <p:spPr>
          <a:xfrm>
            <a:off x="5623560" y="3874770"/>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Malicious datasets</a:t>
            </a:r>
            <a:endParaRPr lang="en-US" sz="563" dirty="0"/>
          </a:p>
        </p:txBody>
      </p:sp>
      <p:sp>
        <p:nvSpPr>
          <p:cNvPr id="182" name="Shape 180"/>
          <p:cNvSpPr/>
          <p:nvPr/>
        </p:nvSpPr>
        <p:spPr>
          <a:xfrm>
            <a:off x="137160" y="4056507"/>
            <a:ext cx="8846820" cy="181737"/>
          </a:xfrm>
          <a:prstGeom prst="rect">
            <a:avLst/>
          </a:prstGeom>
          <a:solidFill>
            <a:srgbClr val="141414"/>
          </a:solidFill>
          <a:ln w="3810">
            <a:solidFill>
              <a:srgbClr val="1E2530"/>
            </a:solidFill>
            <a:prstDash val="solid"/>
          </a:ln>
        </p:spPr>
      </p:sp>
      <p:sp>
        <p:nvSpPr>
          <p:cNvPr id="183" name="Shape 181"/>
          <p:cNvSpPr/>
          <p:nvPr/>
        </p:nvSpPr>
        <p:spPr>
          <a:xfrm>
            <a:off x="1371600" y="4056507"/>
            <a:ext cx="0" cy="181737"/>
          </a:xfrm>
          <a:prstGeom prst="line">
            <a:avLst/>
          </a:prstGeom>
          <a:noFill/>
          <a:ln w="3810">
            <a:solidFill>
              <a:srgbClr val="252D38"/>
            </a:solidFill>
            <a:prstDash val="solid"/>
          </a:ln>
        </p:spPr>
      </p:sp>
      <p:sp>
        <p:nvSpPr>
          <p:cNvPr id="184" name="Shape 182"/>
          <p:cNvSpPr/>
          <p:nvPr/>
        </p:nvSpPr>
        <p:spPr>
          <a:xfrm>
            <a:off x="2948940" y="4056507"/>
            <a:ext cx="0" cy="181737"/>
          </a:xfrm>
          <a:prstGeom prst="line">
            <a:avLst/>
          </a:prstGeom>
          <a:noFill/>
          <a:ln w="3810">
            <a:solidFill>
              <a:srgbClr val="252D38"/>
            </a:solidFill>
            <a:prstDash val="solid"/>
          </a:ln>
        </p:spPr>
      </p:sp>
      <p:sp>
        <p:nvSpPr>
          <p:cNvPr id="185" name="Shape 183"/>
          <p:cNvSpPr/>
          <p:nvPr/>
        </p:nvSpPr>
        <p:spPr>
          <a:xfrm>
            <a:off x="4389120" y="4056507"/>
            <a:ext cx="0" cy="181737"/>
          </a:xfrm>
          <a:prstGeom prst="line">
            <a:avLst/>
          </a:prstGeom>
          <a:noFill/>
          <a:ln w="3810">
            <a:solidFill>
              <a:srgbClr val="252D38"/>
            </a:solidFill>
            <a:prstDash val="solid"/>
          </a:ln>
        </p:spPr>
      </p:sp>
      <p:sp>
        <p:nvSpPr>
          <p:cNvPr id="186" name="Shape 184"/>
          <p:cNvSpPr/>
          <p:nvPr/>
        </p:nvSpPr>
        <p:spPr>
          <a:xfrm>
            <a:off x="5623560" y="4056507"/>
            <a:ext cx="0" cy="181737"/>
          </a:xfrm>
          <a:prstGeom prst="line">
            <a:avLst/>
          </a:prstGeom>
          <a:noFill/>
          <a:ln w="3810">
            <a:solidFill>
              <a:srgbClr val="252D38"/>
            </a:solidFill>
            <a:prstDash val="solid"/>
          </a:ln>
        </p:spPr>
      </p:sp>
      <p:sp>
        <p:nvSpPr>
          <p:cNvPr id="187" name="Text 185"/>
          <p:cNvSpPr/>
          <p:nvPr/>
        </p:nvSpPr>
        <p:spPr>
          <a:xfrm>
            <a:off x="1371600" y="4056507"/>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LoRA / adapter poisoning</a:t>
            </a:r>
            <a:endParaRPr lang="en-US" sz="600" dirty="0"/>
          </a:p>
        </p:txBody>
      </p:sp>
      <p:sp>
        <p:nvSpPr>
          <p:cNvPr id="188" name="Text 186"/>
          <p:cNvSpPr/>
          <p:nvPr/>
        </p:nvSpPr>
        <p:spPr>
          <a:xfrm>
            <a:off x="2948940" y="4056507"/>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Fine-tuning artifacts</a:t>
            </a:r>
            <a:endParaRPr lang="en-US" sz="563" dirty="0"/>
          </a:p>
        </p:txBody>
      </p:sp>
      <p:sp>
        <p:nvSpPr>
          <p:cNvPr id="189" name="Text 187"/>
          <p:cNvSpPr/>
          <p:nvPr/>
        </p:nvSpPr>
        <p:spPr>
          <a:xfrm>
            <a:off x="4389120" y="4056507"/>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Backdoored models</a:t>
            </a:r>
            <a:endParaRPr lang="en-US" sz="563" dirty="0"/>
          </a:p>
        </p:txBody>
      </p:sp>
      <p:sp>
        <p:nvSpPr>
          <p:cNvPr id="190" name="Text 188"/>
          <p:cNvSpPr/>
          <p:nvPr/>
        </p:nvSpPr>
        <p:spPr>
          <a:xfrm>
            <a:off x="5623560" y="4056507"/>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Malicious HF adapters</a:t>
            </a:r>
            <a:endParaRPr lang="en-US" sz="563" dirty="0"/>
          </a:p>
        </p:txBody>
      </p:sp>
      <p:sp>
        <p:nvSpPr>
          <p:cNvPr id="191" name="Shape 189"/>
          <p:cNvSpPr/>
          <p:nvPr/>
        </p:nvSpPr>
        <p:spPr>
          <a:xfrm>
            <a:off x="137160" y="4238244"/>
            <a:ext cx="8846820" cy="181737"/>
          </a:xfrm>
          <a:prstGeom prst="rect">
            <a:avLst/>
          </a:prstGeom>
          <a:solidFill>
            <a:srgbClr val="081418"/>
          </a:solidFill>
          <a:ln w="3810">
            <a:solidFill>
              <a:srgbClr val="1E2530"/>
            </a:solidFill>
            <a:prstDash val="solid"/>
          </a:ln>
        </p:spPr>
      </p:sp>
      <p:sp>
        <p:nvSpPr>
          <p:cNvPr id="192" name="Shape 190"/>
          <p:cNvSpPr/>
          <p:nvPr/>
        </p:nvSpPr>
        <p:spPr>
          <a:xfrm>
            <a:off x="1371600" y="4238244"/>
            <a:ext cx="0" cy="181737"/>
          </a:xfrm>
          <a:prstGeom prst="line">
            <a:avLst/>
          </a:prstGeom>
          <a:noFill/>
          <a:ln w="3810">
            <a:solidFill>
              <a:srgbClr val="252D38"/>
            </a:solidFill>
            <a:prstDash val="solid"/>
          </a:ln>
        </p:spPr>
      </p:sp>
      <p:sp>
        <p:nvSpPr>
          <p:cNvPr id="193" name="Shape 191"/>
          <p:cNvSpPr/>
          <p:nvPr/>
        </p:nvSpPr>
        <p:spPr>
          <a:xfrm>
            <a:off x="2948940" y="4238244"/>
            <a:ext cx="0" cy="181737"/>
          </a:xfrm>
          <a:prstGeom prst="line">
            <a:avLst/>
          </a:prstGeom>
          <a:noFill/>
          <a:ln w="3810">
            <a:solidFill>
              <a:srgbClr val="252D38"/>
            </a:solidFill>
            <a:prstDash val="solid"/>
          </a:ln>
        </p:spPr>
      </p:sp>
      <p:sp>
        <p:nvSpPr>
          <p:cNvPr id="194" name="Shape 192"/>
          <p:cNvSpPr/>
          <p:nvPr/>
        </p:nvSpPr>
        <p:spPr>
          <a:xfrm>
            <a:off x="4389120" y="4238244"/>
            <a:ext cx="0" cy="181737"/>
          </a:xfrm>
          <a:prstGeom prst="line">
            <a:avLst/>
          </a:prstGeom>
          <a:noFill/>
          <a:ln w="3810">
            <a:solidFill>
              <a:srgbClr val="252D38"/>
            </a:solidFill>
            <a:prstDash val="solid"/>
          </a:ln>
        </p:spPr>
      </p:sp>
      <p:sp>
        <p:nvSpPr>
          <p:cNvPr id="195" name="Shape 193"/>
          <p:cNvSpPr/>
          <p:nvPr/>
        </p:nvSpPr>
        <p:spPr>
          <a:xfrm>
            <a:off x="5623560" y="4238244"/>
            <a:ext cx="0" cy="181737"/>
          </a:xfrm>
          <a:prstGeom prst="line">
            <a:avLst/>
          </a:prstGeom>
          <a:noFill/>
          <a:ln w="3810">
            <a:solidFill>
              <a:srgbClr val="252D38"/>
            </a:solidFill>
            <a:prstDash val="solid"/>
          </a:ln>
        </p:spPr>
      </p:sp>
      <p:sp>
        <p:nvSpPr>
          <p:cNvPr id="196" name="Text 194"/>
          <p:cNvSpPr/>
          <p:nvPr/>
        </p:nvSpPr>
        <p:spPr>
          <a:xfrm>
            <a:off x="1371600" y="4238244"/>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Image prompt injection</a:t>
            </a:r>
            <a:endParaRPr lang="en-US" sz="600" dirty="0"/>
          </a:p>
        </p:txBody>
      </p:sp>
      <p:sp>
        <p:nvSpPr>
          <p:cNvPr id="197" name="Text 195"/>
          <p:cNvSpPr/>
          <p:nvPr/>
        </p:nvSpPr>
        <p:spPr>
          <a:xfrm>
            <a:off x="2948940" y="4238244"/>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Vision models</a:t>
            </a:r>
            <a:endParaRPr lang="en-US" sz="563" dirty="0"/>
          </a:p>
        </p:txBody>
      </p:sp>
      <p:sp>
        <p:nvSpPr>
          <p:cNvPr id="198" name="Text 196"/>
          <p:cNvSpPr/>
          <p:nvPr/>
        </p:nvSpPr>
        <p:spPr>
          <a:xfrm>
            <a:off x="4389120" y="4238244"/>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Hidden instructions</a:t>
            </a:r>
            <a:endParaRPr lang="en-US" sz="563" dirty="0"/>
          </a:p>
        </p:txBody>
      </p:sp>
      <p:sp>
        <p:nvSpPr>
          <p:cNvPr id="199" name="Text 197"/>
          <p:cNvSpPr/>
          <p:nvPr/>
        </p:nvSpPr>
        <p:spPr>
          <a:xfrm>
            <a:off x="5623560" y="4238244"/>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Text embedded in images</a:t>
            </a:r>
            <a:endParaRPr lang="en-US" sz="563" dirty="0"/>
          </a:p>
        </p:txBody>
      </p:sp>
      <p:sp>
        <p:nvSpPr>
          <p:cNvPr id="200" name="Shape 198"/>
          <p:cNvSpPr/>
          <p:nvPr/>
        </p:nvSpPr>
        <p:spPr>
          <a:xfrm>
            <a:off x="137160" y="4419981"/>
            <a:ext cx="8846820" cy="181737"/>
          </a:xfrm>
          <a:prstGeom prst="rect">
            <a:avLst/>
          </a:prstGeom>
          <a:solidFill>
            <a:srgbClr val="1A0808"/>
          </a:solidFill>
          <a:ln w="3810">
            <a:solidFill>
              <a:srgbClr val="1E2530"/>
            </a:solidFill>
            <a:prstDash val="solid"/>
          </a:ln>
        </p:spPr>
      </p:sp>
      <p:sp>
        <p:nvSpPr>
          <p:cNvPr id="201" name="Shape 199"/>
          <p:cNvSpPr/>
          <p:nvPr/>
        </p:nvSpPr>
        <p:spPr>
          <a:xfrm>
            <a:off x="1371600" y="4419981"/>
            <a:ext cx="0" cy="181737"/>
          </a:xfrm>
          <a:prstGeom prst="line">
            <a:avLst/>
          </a:prstGeom>
          <a:noFill/>
          <a:ln w="3810">
            <a:solidFill>
              <a:srgbClr val="252D38"/>
            </a:solidFill>
            <a:prstDash val="solid"/>
          </a:ln>
        </p:spPr>
      </p:sp>
      <p:sp>
        <p:nvSpPr>
          <p:cNvPr id="202" name="Shape 200"/>
          <p:cNvSpPr/>
          <p:nvPr/>
        </p:nvSpPr>
        <p:spPr>
          <a:xfrm>
            <a:off x="2948940" y="4419981"/>
            <a:ext cx="0" cy="181737"/>
          </a:xfrm>
          <a:prstGeom prst="line">
            <a:avLst/>
          </a:prstGeom>
          <a:noFill/>
          <a:ln w="3810">
            <a:solidFill>
              <a:srgbClr val="252D38"/>
            </a:solidFill>
            <a:prstDash val="solid"/>
          </a:ln>
        </p:spPr>
      </p:sp>
      <p:sp>
        <p:nvSpPr>
          <p:cNvPr id="203" name="Shape 201"/>
          <p:cNvSpPr/>
          <p:nvPr/>
        </p:nvSpPr>
        <p:spPr>
          <a:xfrm>
            <a:off x="4389120" y="4419981"/>
            <a:ext cx="0" cy="181737"/>
          </a:xfrm>
          <a:prstGeom prst="line">
            <a:avLst/>
          </a:prstGeom>
          <a:noFill/>
          <a:ln w="3810">
            <a:solidFill>
              <a:srgbClr val="252D38"/>
            </a:solidFill>
            <a:prstDash val="solid"/>
          </a:ln>
        </p:spPr>
      </p:sp>
      <p:sp>
        <p:nvSpPr>
          <p:cNvPr id="204" name="Shape 202"/>
          <p:cNvSpPr/>
          <p:nvPr/>
        </p:nvSpPr>
        <p:spPr>
          <a:xfrm>
            <a:off x="5623560" y="4419981"/>
            <a:ext cx="0" cy="181737"/>
          </a:xfrm>
          <a:prstGeom prst="line">
            <a:avLst/>
          </a:prstGeom>
          <a:noFill/>
          <a:ln w="3810">
            <a:solidFill>
              <a:srgbClr val="252D38"/>
            </a:solidFill>
            <a:prstDash val="solid"/>
          </a:ln>
        </p:spPr>
      </p:sp>
      <p:sp>
        <p:nvSpPr>
          <p:cNvPr id="205" name="Text 203"/>
          <p:cNvSpPr/>
          <p:nvPr/>
        </p:nvSpPr>
        <p:spPr>
          <a:xfrm>
            <a:off x="1371600" y="4419981"/>
            <a:ext cx="15773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600" b="1" dirty="0">
                <a:solidFill>
                  <a:srgbClr val="E6EDF3"/>
                </a:solidFill>
              </a:rPr>
              <a:t>LLM persuasion</a:t>
            </a:r>
            <a:endParaRPr lang="en-US" sz="600" dirty="0"/>
          </a:p>
        </p:txBody>
      </p:sp>
      <p:sp>
        <p:nvSpPr>
          <p:cNvPr id="206" name="Text 204"/>
          <p:cNvSpPr/>
          <p:nvPr/>
        </p:nvSpPr>
        <p:spPr>
          <a:xfrm>
            <a:off x="2948940" y="4419981"/>
            <a:ext cx="144018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A0AEC0"/>
                </a:solidFill>
              </a:rPr>
              <a:t>Human user</a:t>
            </a:r>
            <a:endParaRPr lang="en-US" sz="563" dirty="0"/>
          </a:p>
        </p:txBody>
      </p:sp>
      <p:sp>
        <p:nvSpPr>
          <p:cNvPr id="207" name="Text 205"/>
          <p:cNvSpPr/>
          <p:nvPr/>
        </p:nvSpPr>
        <p:spPr>
          <a:xfrm>
            <a:off x="4389120" y="4419981"/>
            <a:ext cx="123444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dirty="0">
                <a:solidFill>
                  <a:srgbClr val="FC8181"/>
                </a:solidFill>
              </a:rPr>
              <a:t>Trust exploitation</a:t>
            </a:r>
            <a:endParaRPr lang="en-US" sz="563" dirty="0"/>
          </a:p>
        </p:txBody>
      </p:sp>
      <p:sp>
        <p:nvSpPr>
          <p:cNvPr id="208" name="Text 206"/>
          <p:cNvSpPr/>
          <p:nvPr/>
        </p:nvSpPr>
        <p:spPr>
          <a:xfrm>
            <a:off x="5623560" y="4419981"/>
            <a:ext cx="3326130"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63" i="1" dirty="0">
                <a:solidFill>
                  <a:srgbClr val="8B949E"/>
                </a:solidFill>
              </a:rPr>
              <a:t>Phishing, authority spoofing</a:t>
            </a:r>
            <a:endParaRPr lang="en-US" sz="563" dirty="0"/>
          </a:p>
        </p:txBody>
      </p:sp>
      <p:sp>
        <p:nvSpPr>
          <p:cNvPr id="209" name="Shape 207"/>
          <p:cNvSpPr/>
          <p:nvPr/>
        </p:nvSpPr>
        <p:spPr>
          <a:xfrm>
            <a:off x="137160" y="603504"/>
            <a:ext cx="37719" cy="363474"/>
          </a:xfrm>
          <a:prstGeom prst="rect">
            <a:avLst/>
          </a:prstGeom>
          <a:solidFill>
            <a:srgbClr val="E05252"/>
          </a:solidFill>
          <a:ln w="12700">
            <a:solidFill>
              <a:srgbClr val="E05252"/>
            </a:solidFill>
            <a:prstDash val="solid"/>
          </a:ln>
        </p:spPr>
      </p:sp>
      <p:sp>
        <p:nvSpPr>
          <p:cNvPr id="210" name="Text 208"/>
          <p:cNvSpPr/>
          <p:nvPr/>
        </p:nvSpPr>
        <p:spPr>
          <a:xfrm>
            <a:off x="185166" y="603504"/>
            <a:ext cx="1179576" cy="36347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F47171"/>
                </a:solidFill>
              </a:rPr>
              <a:t>PROMPT ATTACKS</a:t>
            </a:r>
            <a:endParaRPr lang="en-US" sz="510" dirty="0"/>
          </a:p>
        </p:txBody>
      </p:sp>
      <p:sp>
        <p:nvSpPr>
          <p:cNvPr id="211" name="Shape 209"/>
          <p:cNvSpPr/>
          <p:nvPr/>
        </p:nvSpPr>
        <p:spPr>
          <a:xfrm>
            <a:off x="137160" y="966978"/>
            <a:ext cx="37719" cy="181737"/>
          </a:xfrm>
          <a:prstGeom prst="rect">
            <a:avLst/>
          </a:prstGeom>
          <a:solidFill>
            <a:srgbClr val="E07040"/>
          </a:solidFill>
          <a:ln w="12700">
            <a:solidFill>
              <a:srgbClr val="E07040"/>
            </a:solidFill>
            <a:prstDash val="solid"/>
          </a:ln>
        </p:spPr>
      </p:sp>
      <p:sp>
        <p:nvSpPr>
          <p:cNvPr id="212" name="Text 210"/>
          <p:cNvSpPr/>
          <p:nvPr/>
        </p:nvSpPr>
        <p:spPr>
          <a:xfrm>
            <a:off x="185166" y="966978"/>
            <a:ext cx="1179576"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F59060"/>
                </a:solidFill>
              </a:rPr>
              <a:t>JAILBREAKING</a:t>
            </a:r>
            <a:endParaRPr lang="en-US" sz="510" dirty="0"/>
          </a:p>
        </p:txBody>
      </p:sp>
      <p:sp>
        <p:nvSpPr>
          <p:cNvPr id="213" name="Shape 211"/>
          <p:cNvSpPr/>
          <p:nvPr/>
        </p:nvSpPr>
        <p:spPr>
          <a:xfrm>
            <a:off x="137160" y="1148715"/>
            <a:ext cx="37719" cy="363474"/>
          </a:xfrm>
          <a:prstGeom prst="rect">
            <a:avLst/>
          </a:prstGeom>
          <a:solidFill>
            <a:srgbClr val="D4A017"/>
          </a:solidFill>
          <a:ln w="12700">
            <a:solidFill>
              <a:srgbClr val="D4A017"/>
            </a:solidFill>
            <a:prstDash val="solid"/>
          </a:ln>
        </p:spPr>
      </p:sp>
      <p:sp>
        <p:nvSpPr>
          <p:cNvPr id="214" name="Text 212"/>
          <p:cNvSpPr/>
          <p:nvPr/>
        </p:nvSpPr>
        <p:spPr>
          <a:xfrm>
            <a:off x="185166" y="1148715"/>
            <a:ext cx="1179576" cy="36347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F0C040"/>
                </a:solidFill>
              </a:rPr>
              <a:t>DATA EXFILTRATION</a:t>
            </a:r>
            <a:endParaRPr lang="en-US" sz="510" dirty="0"/>
          </a:p>
        </p:txBody>
      </p:sp>
      <p:sp>
        <p:nvSpPr>
          <p:cNvPr id="215" name="Shape 213"/>
          <p:cNvSpPr/>
          <p:nvPr/>
        </p:nvSpPr>
        <p:spPr>
          <a:xfrm>
            <a:off x="137160" y="1512189"/>
            <a:ext cx="37719" cy="363474"/>
          </a:xfrm>
          <a:prstGeom prst="rect">
            <a:avLst/>
          </a:prstGeom>
          <a:solidFill>
            <a:srgbClr val="9A7FE0"/>
          </a:solidFill>
          <a:ln w="12700">
            <a:solidFill>
              <a:srgbClr val="9A7FE0"/>
            </a:solidFill>
            <a:prstDash val="solid"/>
          </a:ln>
        </p:spPr>
      </p:sp>
      <p:sp>
        <p:nvSpPr>
          <p:cNvPr id="216" name="Text 214"/>
          <p:cNvSpPr/>
          <p:nvPr/>
        </p:nvSpPr>
        <p:spPr>
          <a:xfrm>
            <a:off x="185166" y="1512189"/>
            <a:ext cx="1179576" cy="36347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B39DED"/>
                </a:solidFill>
              </a:rPr>
              <a:t>MODEL INFERENCE</a:t>
            </a:r>
            <a:endParaRPr lang="en-US" sz="510" dirty="0"/>
          </a:p>
        </p:txBody>
      </p:sp>
      <p:sp>
        <p:nvSpPr>
          <p:cNvPr id="217" name="Shape 215"/>
          <p:cNvSpPr/>
          <p:nvPr/>
        </p:nvSpPr>
        <p:spPr>
          <a:xfrm>
            <a:off x="137160" y="1875663"/>
            <a:ext cx="37719" cy="545211"/>
          </a:xfrm>
          <a:prstGeom prst="rect">
            <a:avLst/>
          </a:prstGeom>
          <a:solidFill>
            <a:srgbClr val="3B8BD4"/>
          </a:solidFill>
          <a:ln w="12700">
            <a:solidFill>
              <a:srgbClr val="3B8BD4"/>
            </a:solidFill>
            <a:prstDash val="solid"/>
          </a:ln>
        </p:spPr>
      </p:sp>
      <p:sp>
        <p:nvSpPr>
          <p:cNvPr id="218" name="Text 216"/>
          <p:cNvSpPr/>
          <p:nvPr/>
        </p:nvSpPr>
        <p:spPr>
          <a:xfrm>
            <a:off x="185166" y="1875663"/>
            <a:ext cx="1179576" cy="545211"/>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60AFEE"/>
                </a:solidFill>
              </a:rPr>
              <a:t>TOOL / AGENT</a:t>
            </a:r>
            <a:endParaRPr lang="en-US" sz="510" dirty="0"/>
          </a:p>
        </p:txBody>
      </p:sp>
      <p:sp>
        <p:nvSpPr>
          <p:cNvPr id="219" name="Shape 217"/>
          <p:cNvSpPr/>
          <p:nvPr/>
        </p:nvSpPr>
        <p:spPr>
          <a:xfrm>
            <a:off x="137160" y="2420874"/>
            <a:ext cx="37719" cy="181737"/>
          </a:xfrm>
          <a:prstGeom prst="rect">
            <a:avLst/>
          </a:prstGeom>
          <a:solidFill>
            <a:srgbClr val="6060CC"/>
          </a:solidFill>
          <a:ln w="12700">
            <a:solidFill>
              <a:srgbClr val="6060CC"/>
            </a:solidFill>
            <a:prstDash val="solid"/>
          </a:ln>
        </p:spPr>
      </p:sp>
      <p:sp>
        <p:nvSpPr>
          <p:cNvPr id="220" name="Text 218"/>
          <p:cNvSpPr/>
          <p:nvPr/>
        </p:nvSpPr>
        <p:spPr>
          <a:xfrm>
            <a:off x="185166" y="2420874"/>
            <a:ext cx="1179576"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9090EE"/>
                </a:solidFill>
              </a:rPr>
              <a:t>SANDBOX ESCAPE</a:t>
            </a:r>
            <a:endParaRPr lang="en-US" sz="510" dirty="0"/>
          </a:p>
        </p:txBody>
      </p:sp>
      <p:sp>
        <p:nvSpPr>
          <p:cNvPr id="221" name="Shape 219"/>
          <p:cNvSpPr/>
          <p:nvPr/>
        </p:nvSpPr>
        <p:spPr>
          <a:xfrm>
            <a:off x="137160" y="2602611"/>
            <a:ext cx="37719" cy="363474"/>
          </a:xfrm>
          <a:prstGeom prst="rect">
            <a:avLst/>
          </a:prstGeom>
          <a:solidFill>
            <a:srgbClr val="4A9B4A"/>
          </a:solidFill>
          <a:ln w="12700">
            <a:solidFill>
              <a:srgbClr val="4A9B4A"/>
            </a:solidFill>
            <a:prstDash val="solid"/>
          </a:ln>
        </p:spPr>
      </p:sp>
      <p:sp>
        <p:nvSpPr>
          <p:cNvPr id="222" name="Text 220"/>
          <p:cNvSpPr/>
          <p:nvPr/>
        </p:nvSpPr>
        <p:spPr>
          <a:xfrm>
            <a:off x="185166" y="2602611"/>
            <a:ext cx="1179576" cy="36347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6ABF6A"/>
                </a:solidFill>
              </a:rPr>
              <a:t>OUTPUT ATTACKS</a:t>
            </a:r>
            <a:endParaRPr lang="en-US" sz="510" dirty="0"/>
          </a:p>
        </p:txBody>
      </p:sp>
      <p:sp>
        <p:nvSpPr>
          <p:cNvPr id="223" name="Shape 221"/>
          <p:cNvSpPr/>
          <p:nvPr/>
        </p:nvSpPr>
        <p:spPr>
          <a:xfrm>
            <a:off x="137160" y="2966085"/>
            <a:ext cx="37719" cy="363474"/>
          </a:xfrm>
          <a:prstGeom prst="rect">
            <a:avLst/>
          </a:prstGeom>
          <a:solidFill>
            <a:srgbClr val="2EA87E"/>
          </a:solidFill>
          <a:ln w="12700">
            <a:solidFill>
              <a:srgbClr val="2EA87E"/>
            </a:solidFill>
            <a:prstDash val="solid"/>
          </a:ln>
        </p:spPr>
      </p:sp>
      <p:sp>
        <p:nvSpPr>
          <p:cNvPr id="224" name="Text 222"/>
          <p:cNvSpPr/>
          <p:nvPr/>
        </p:nvSpPr>
        <p:spPr>
          <a:xfrm>
            <a:off x="185166" y="2966085"/>
            <a:ext cx="1179576" cy="36347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4DC9A0"/>
                </a:solidFill>
              </a:rPr>
              <a:t>RAG ATTACKS</a:t>
            </a:r>
            <a:endParaRPr lang="en-US" sz="510" dirty="0"/>
          </a:p>
        </p:txBody>
      </p:sp>
      <p:sp>
        <p:nvSpPr>
          <p:cNvPr id="225" name="Shape 223"/>
          <p:cNvSpPr/>
          <p:nvPr/>
        </p:nvSpPr>
        <p:spPr>
          <a:xfrm>
            <a:off x="137160" y="3329559"/>
            <a:ext cx="37719" cy="363474"/>
          </a:xfrm>
          <a:prstGeom prst="rect">
            <a:avLst/>
          </a:prstGeom>
          <a:solidFill>
            <a:srgbClr val="CC3333"/>
          </a:solidFill>
          <a:ln w="12700">
            <a:solidFill>
              <a:srgbClr val="CC3333"/>
            </a:solidFill>
            <a:prstDash val="solid"/>
          </a:ln>
        </p:spPr>
      </p:sp>
      <p:sp>
        <p:nvSpPr>
          <p:cNvPr id="226" name="Text 224"/>
          <p:cNvSpPr/>
          <p:nvPr/>
        </p:nvSpPr>
        <p:spPr>
          <a:xfrm>
            <a:off x="185166" y="3329559"/>
            <a:ext cx="1179576" cy="36347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E05555"/>
                </a:solidFill>
              </a:rPr>
              <a:t>DOS</a:t>
            </a:r>
            <a:endParaRPr lang="en-US" sz="510" dirty="0"/>
          </a:p>
        </p:txBody>
      </p:sp>
      <p:sp>
        <p:nvSpPr>
          <p:cNvPr id="227" name="Shape 225"/>
          <p:cNvSpPr/>
          <p:nvPr/>
        </p:nvSpPr>
        <p:spPr>
          <a:xfrm>
            <a:off x="137160" y="3693033"/>
            <a:ext cx="37719" cy="181737"/>
          </a:xfrm>
          <a:prstGeom prst="rect">
            <a:avLst/>
          </a:prstGeom>
          <a:solidFill>
            <a:srgbClr val="8855CC"/>
          </a:solidFill>
          <a:ln w="12700">
            <a:solidFill>
              <a:srgbClr val="8855CC"/>
            </a:solidFill>
            <a:prstDash val="solid"/>
          </a:ln>
        </p:spPr>
      </p:sp>
      <p:sp>
        <p:nvSpPr>
          <p:cNvPr id="228" name="Text 226"/>
          <p:cNvSpPr/>
          <p:nvPr/>
        </p:nvSpPr>
        <p:spPr>
          <a:xfrm>
            <a:off x="185166" y="3693033"/>
            <a:ext cx="1179576"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AA88EE"/>
                </a:solidFill>
              </a:rPr>
              <a:t>ATTENTION ATTACKS</a:t>
            </a:r>
            <a:endParaRPr lang="en-US" sz="510" dirty="0"/>
          </a:p>
        </p:txBody>
      </p:sp>
      <p:sp>
        <p:nvSpPr>
          <p:cNvPr id="229" name="Shape 227"/>
          <p:cNvSpPr/>
          <p:nvPr/>
        </p:nvSpPr>
        <p:spPr>
          <a:xfrm>
            <a:off x="137160" y="3874770"/>
            <a:ext cx="37719" cy="363474"/>
          </a:xfrm>
          <a:prstGeom prst="rect">
            <a:avLst/>
          </a:prstGeom>
          <a:solidFill>
            <a:srgbClr val="888888"/>
          </a:solidFill>
          <a:ln w="12700">
            <a:solidFill>
              <a:srgbClr val="888888"/>
            </a:solidFill>
            <a:prstDash val="solid"/>
          </a:ln>
        </p:spPr>
      </p:sp>
      <p:sp>
        <p:nvSpPr>
          <p:cNvPr id="230" name="Text 228"/>
          <p:cNvSpPr/>
          <p:nvPr/>
        </p:nvSpPr>
        <p:spPr>
          <a:xfrm>
            <a:off x="185166" y="3874770"/>
            <a:ext cx="1179576" cy="363474"/>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BBBBBB"/>
                </a:solidFill>
              </a:rPr>
              <a:t>SUPPLY CHAIN</a:t>
            </a:r>
            <a:endParaRPr lang="en-US" sz="510" dirty="0"/>
          </a:p>
        </p:txBody>
      </p:sp>
      <p:sp>
        <p:nvSpPr>
          <p:cNvPr id="231" name="Shape 229"/>
          <p:cNvSpPr/>
          <p:nvPr/>
        </p:nvSpPr>
        <p:spPr>
          <a:xfrm>
            <a:off x="137160" y="4238244"/>
            <a:ext cx="37719" cy="181737"/>
          </a:xfrm>
          <a:prstGeom prst="rect">
            <a:avLst/>
          </a:prstGeom>
          <a:solidFill>
            <a:srgbClr val="3B8BD4"/>
          </a:solidFill>
          <a:ln w="12700">
            <a:solidFill>
              <a:srgbClr val="3B8BD4"/>
            </a:solidFill>
            <a:prstDash val="solid"/>
          </a:ln>
        </p:spPr>
      </p:sp>
      <p:sp>
        <p:nvSpPr>
          <p:cNvPr id="232" name="Text 230"/>
          <p:cNvSpPr/>
          <p:nvPr/>
        </p:nvSpPr>
        <p:spPr>
          <a:xfrm>
            <a:off x="185166" y="4238244"/>
            <a:ext cx="1179576"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60AFEE"/>
                </a:solidFill>
              </a:rPr>
              <a:t>MULTI-MODAL</a:t>
            </a:r>
            <a:endParaRPr lang="en-US" sz="510" dirty="0"/>
          </a:p>
        </p:txBody>
      </p:sp>
      <p:sp>
        <p:nvSpPr>
          <p:cNvPr id="233" name="Shape 231"/>
          <p:cNvSpPr/>
          <p:nvPr/>
        </p:nvSpPr>
        <p:spPr>
          <a:xfrm>
            <a:off x="137160" y="4419981"/>
            <a:ext cx="37719" cy="181737"/>
          </a:xfrm>
          <a:prstGeom prst="rect">
            <a:avLst/>
          </a:prstGeom>
          <a:solidFill>
            <a:srgbClr val="CC4444"/>
          </a:solidFill>
          <a:ln w="12700">
            <a:solidFill>
              <a:srgbClr val="CC4444"/>
            </a:solidFill>
            <a:prstDash val="solid"/>
          </a:ln>
        </p:spPr>
      </p:sp>
      <p:sp>
        <p:nvSpPr>
          <p:cNvPr id="234" name="Text 232"/>
          <p:cNvSpPr/>
          <p:nvPr/>
        </p:nvSpPr>
        <p:spPr>
          <a:xfrm>
            <a:off x="185166" y="4419981"/>
            <a:ext cx="1179576" cy="181737"/>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sz="510" b="1" kern="0" spc="30" dirty="0">
                <a:solidFill>
                  <a:srgbClr val="EE7777"/>
                </a:solidFill>
              </a:rPr>
              <a:t>SOCIAL ENGINEERING</a:t>
            </a:r>
            <a:endParaRPr lang="en-US" sz="510" dirty="0"/>
          </a:p>
        </p:txBody>
      </p:sp>
      <p:sp>
        <p:nvSpPr>
          <p:cNvPr id="235" name="Shape 233"/>
          <p:cNvSpPr/>
          <p:nvPr/>
        </p:nvSpPr>
        <p:spPr>
          <a:xfrm>
            <a:off x="0" y="4992624"/>
            <a:ext cx="9121140" cy="150876"/>
          </a:xfrm>
          <a:prstGeom prst="rect">
            <a:avLst/>
          </a:prstGeom>
          <a:solidFill>
            <a:srgbClr val="0D1117"/>
          </a:solidFill>
          <a:ln w="6350">
            <a:solidFill>
              <a:srgbClr val="21262D"/>
            </a:solidFill>
            <a:prstDash val="solid"/>
          </a:ln>
        </p:spPr>
      </p:sp>
      <p:sp>
        <p:nvSpPr>
          <p:cNvPr id="236" name="Text 234"/>
          <p:cNvSpPr/>
          <p:nvPr/>
        </p:nvSpPr>
        <p:spPr>
          <a:xfrm>
            <a:off x="137160" y="4992624"/>
            <a:ext cx="8846820" cy="150876"/>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r>
              <a:rPr lang="en-US" sz="525" dirty="0">
                <a:solidFill>
                  <a:srgbClr val="3D444D"/>
                </a:solidFill>
              </a:rPr>
              <a:t>LLM Security Threat Matrix  ·  MITRE ATT&amp;CK–inspired taxonomy  ·  2025–2026</a:t>
            </a:r>
            <a:endParaRPr lang="en-US" sz="525" dirty="0"/>
          </a:p>
        </p:txBody>
      </p:sp>
    </p:spTree>
    <p:extLst>
      <p:ext uri="{BB962C8B-B14F-4D97-AF65-F5344CB8AC3E}">
        <p14:creationId xmlns:p14="http://schemas.microsoft.com/office/powerpoint/2010/main" val="553658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61B22"/>
          </a:solidFill>
          <a:ln w="6350">
            <a:solidFill>
              <a:srgbClr val="30363D"/>
            </a:solidFill>
            <a:prstDash val="solid"/>
          </a:ln>
        </p:spPr>
      </p:sp>
      <p:sp>
        <p:nvSpPr>
          <p:cNvPr id="3" name="Text 1"/>
          <p:cNvSpPr/>
          <p:nvPr/>
        </p:nvSpPr>
        <p:spPr>
          <a:xfrm>
            <a:off x="320040" y="0"/>
            <a:ext cx="5486400" cy="502920"/>
          </a:xfrm>
          <a:prstGeom prst="rect">
            <a:avLst/>
          </a:prstGeom>
          <a:noFill/>
          <a:ln/>
        </p:spPr>
        <p:txBody>
          <a:bodyPr wrap="square" lIns="0" tIns="0" rIns="0" bIns="0" rtlCol="0" anchor="ctr"/>
          <a:lstStyle/>
          <a:p>
            <a:r>
              <a:rPr lang="en-US" sz="1300" b="1" kern="0" spc="300">
                <a:solidFill>
                  <a:srgbClr val="C9D1D9"/>
                </a:solidFill>
                <a:latin typeface="Courier New"/>
                <a:cs typeface="Courier New"/>
              </a:rPr>
              <a:t>LLM THREAT MATRIX BY TACTIC</a:t>
            </a:r>
            <a:endParaRPr lang="en-US" sz="1300" dirty="0"/>
          </a:p>
        </p:txBody>
      </p:sp>
      <p:sp>
        <p:nvSpPr>
          <p:cNvPr id="4" name="Text 2"/>
          <p:cNvSpPr/>
          <p:nvPr/>
        </p:nvSpPr>
        <p:spPr>
          <a:xfrm>
            <a:off x="5943600" y="0"/>
            <a:ext cx="2926080" cy="502920"/>
          </a:xfrm>
          <a:prstGeom prst="rect">
            <a:avLst/>
          </a:prstGeom>
          <a:noFill/>
          <a:ln/>
        </p:spPr>
        <p:txBody>
          <a:bodyPr wrap="square" lIns="0" tIns="0" rIns="0" bIns="0" rtlCol="0" anchor="ctr"/>
          <a:lstStyle/>
          <a:p>
            <a:pPr marL="0" indent="0" algn="r">
              <a:buNone/>
            </a:pPr>
            <a:r>
              <a:rPr lang="en-US" sz="900" kern="0" spc="200" dirty="0">
                <a:solidFill>
                  <a:srgbClr val="6E7681"/>
                </a:solidFill>
              </a:rPr>
              <a:t>MITRE ATT&amp;CK–INSPIRED</a:t>
            </a:r>
            <a:endParaRPr lang="en-US" sz="900" dirty="0"/>
          </a:p>
        </p:txBody>
      </p:sp>
      <p:sp>
        <p:nvSpPr>
          <p:cNvPr id="5" name="Shape 3"/>
          <p:cNvSpPr/>
          <p:nvPr/>
        </p:nvSpPr>
        <p:spPr>
          <a:xfrm>
            <a:off x="164592" y="566928"/>
            <a:ext cx="8814816" cy="256032"/>
          </a:xfrm>
          <a:prstGeom prst="rect">
            <a:avLst/>
          </a:prstGeom>
          <a:solidFill>
            <a:srgbClr val="161B22"/>
          </a:solidFill>
          <a:ln w="6350">
            <a:solidFill>
              <a:srgbClr val="30363D"/>
            </a:solidFill>
            <a:prstDash val="solid"/>
          </a:ln>
        </p:spPr>
      </p:sp>
      <p:sp>
        <p:nvSpPr>
          <p:cNvPr id="6" name="Text 4"/>
          <p:cNvSpPr/>
          <p:nvPr/>
        </p:nvSpPr>
        <p:spPr>
          <a:xfrm>
            <a:off x="164592" y="566928"/>
            <a:ext cx="1554480" cy="256032"/>
          </a:xfrm>
          <a:prstGeom prst="rect">
            <a:avLst/>
          </a:prstGeom>
          <a:noFill/>
          <a:ln/>
        </p:spPr>
        <p:txBody>
          <a:bodyPr wrap="square" lIns="0" tIns="0" rIns="0" bIns="0" rtlCol="0" anchor="ctr"/>
          <a:lstStyle/>
          <a:p>
            <a:pPr marL="0" indent="0">
              <a:buNone/>
            </a:pPr>
            <a:r>
              <a:rPr lang="en-US" sz="750" b="1" kern="0" spc="150" dirty="0">
                <a:solidFill>
                  <a:srgbClr val="8B949E"/>
                </a:solidFill>
              </a:rPr>
              <a:t>TACTIC</a:t>
            </a:r>
            <a:endParaRPr lang="en-US" sz="750" dirty="0"/>
          </a:p>
        </p:txBody>
      </p:sp>
      <p:sp>
        <p:nvSpPr>
          <p:cNvPr id="7" name="Text 5"/>
          <p:cNvSpPr/>
          <p:nvPr/>
        </p:nvSpPr>
        <p:spPr>
          <a:xfrm>
            <a:off x="1828800" y="566928"/>
            <a:ext cx="3108960" cy="256032"/>
          </a:xfrm>
          <a:prstGeom prst="rect">
            <a:avLst/>
          </a:prstGeom>
          <a:noFill/>
          <a:ln/>
        </p:spPr>
        <p:txBody>
          <a:bodyPr wrap="square" lIns="0" tIns="0" rIns="0" bIns="0" rtlCol="0" anchor="ctr"/>
          <a:lstStyle/>
          <a:p>
            <a:pPr marL="0" indent="0">
              <a:buNone/>
            </a:pPr>
            <a:r>
              <a:rPr lang="en-US" sz="750" b="1" kern="0" spc="150" dirty="0">
                <a:solidFill>
                  <a:srgbClr val="8B949E"/>
                </a:solidFill>
              </a:rPr>
              <a:t>TECHNIQUE</a:t>
            </a:r>
            <a:endParaRPr lang="en-US" sz="750" dirty="0"/>
          </a:p>
        </p:txBody>
      </p:sp>
      <p:sp>
        <p:nvSpPr>
          <p:cNvPr id="8" name="Text 6"/>
          <p:cNvSpPr/>
          <p:nvPr/>
        </p:nvSpPr>
        <p:spPr>
          <a:xfrm>
            <a:off x="5120640" y="566928"/>
            <a:ext cx="3749040" cy="256032"/>
          </a:xfrm>
          <a:prstGeom prst="rect">
            <a:avLst/>
          </a:prstGeom>
          <a:noFill/>
          <a:ln/>
        </p:spPr>
        <p:txBody>
          <a:bodyPr wrap="square" lIns="0" tIns="0" rIns="0" bIns="0" rtlCol="0" anchor="ctr"/>
          <a:lstStyle/>
          <a:p>
            <a:pPr marL="0" indent="0">
              <a:buNone/>
            </a:pPr>
            <a:r>
              <a:rPr lang="en-US" sz="750" b="1" kern="0" spc="150" dirty="0">
                <a:solidFill>
                  <a:srgbClr val="8B949E"/>
                </a:solidFill>
              </a:rPr>
              <a:t>EXAMPLES / NOTES</a:t>
            </a:r>
            <a:endParaRPr lang="en-US" sz="750" dirty="0"/>
          </a:p>
        </p:txBody>
      </p:sp>
      <p:sp>
        <p:nvSpPr>
          <p:cNvPr id="9" name="Shape 7"/>
          <p:cNvSpPr/>
          <p:nvPr/>
        </p:nvSpPr>
        <p:spPr>
          <a:xfrm>
            <a:off x="164592" y="850392"/>
            <a:ext cx="8814816" cy="205740"/>
          </a:xfrm>
          <a:prstGeom prst="rect">
            <a:avLst/>
          </a:prstGeom>
          <a:solidFill>
            <a:srgbClr val="1A0A0A"/>
          </a:solidFill>
          <a:ln w="3810">
            <a:solidFill>
              <a:srgbClr val="1E2530"/>
            </a:solidFill>
            <a:prstDash val="solid"/>
          </a:ln>
        </p:spPr>
      </p:sp>
      <p:sp>
        <p:nvSpPr>
          <p:cNvPr id="10" name="Shape 8"/>
          <p:cNvSpPr/>
          <p:nvPr/>
        </p:nvSpPr>
        <p:spPr>
          <a:xfrm>
            <a:off x="1755648" y="850392"/>
            <a:ext cx="0" cy="205740"/>
          </a:xfrm>
          <a:prstGeom prst="line">
            <a:avLst/>
          </a:prstGeom>
          <a:noFill/>
          <a:ln w="3810">
            <a:solidFill>
              <a:srgbClr val="30363D"/>
            </a:solidFill>
            <a:prstDash val="solid"/>
          </a:ln>
        </p:spPr>
      </p:sp>
      <p:sp>
        <p:nvSpPr>
          <p:cNvPr id="11" name="Shape 9"/>
          <p:cNvSpPr/>
          <p:nvPr/>
        </p:nvSpPr>
        <p:spPr>
          <a:xfrm>
            <a:off x="5047488" y="850392"/>
            <a:ext cx="0" cy="205740"/>
          </a:xfrm>
          <a:prstGeom prst="line">
            <a:avLst/>
          </a:prstGeom>
          <a:noFill/>
          <a:ln w="3810">
            <a:solidFill>
              <a:srgbClr val="30363D"/>
            </a:solidFill>
            <a:prstDash val="solid"/>
          </a:ln>
        </p:spPr>
      </p:sp>
      <p:sp>
        <p:nvSpPr>
          <p:cNvPr id="12" name="Text 10"/>
          <p:cNvSpPr/>
          <p:nvPr/>
        </p:nvSpPr>
        <p:spPr>
          <a:xfrm>
            <a:off x="1828800" y="85039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Prompt injection</a:t>
            </a:r>
            <a:endParaRPr lang="en-US" sz="850" dirty="0"/>
          </a:p>
        </p:txBody>
      </p:sp>
      <p:sp>
        <p:nvSpPr>
          <p:cNvPr id="13" name="Text 11"/>
          <p:cNvSpPr/>
          <p:nvPr/>
        </p:nvSpPr>
        <p:spPr>
          <a:xfrm>
            <a:off x="5120640" y="85039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Direct, indirect, RAG doc injection</a:t>
            </a:r>
            <a:endParaRPr lang="en-US" sz="800" dirty="0"/>
          </a:p>
        </p:txBody>
      </p:sp>
      <p:sp>
        <p:nvSpPr>
          <p:cNvPr id="14" name="Shape 12"/>
          <p:cNvSpPr/>
          <p:nvPr/>
        </p:nvSpPr>
        <p:spPr>
          <a:xfrm>
            <a:off x="164592" y="1056132"/>
            <a:ext cx="8814816" cy="205740"/>
          </a:xfrm>
          <a:prstGeom prst="rect">
            <a:avLst/>
          </a:prstGeom>
          <a:solidFill>
            <a:srgbClr val="1A0A0A"/>
          </a:solidFill>
          <a:ln w="3810">
            <a:solidFill>
              <a:srgbClr val="1E2530"/>
            </a:solidFill>
            <a:prstDash val="solid"/>
          </a:ln>
        </p:spPr>
      </p:sp>
      <p:sp>
        <p:nvSpPr>
          <p:cNvPr id="15" name="Shape 13"/>
          <p:cNvSpPr/>
          <p:nvPr/>
        </p:nvSpPr>
        <p:spPr>
          <a:xfrm>
            <a:off x="1755648" y="1056132"/>
            <a:ext cx="0" cy="205740"/>
          </a:xfrm>
          <a:prstGeom prst="line">
            <a:avLst/>
          </a:prstGeom>
          <a:noFill/>
          <a:ln w="3810">
            <a:solidFill>
              <a:srgbClr val="30363D"/>
            </a:solidFill>
            <a:prstDash val="solid"/>
          </a:ln>
        </p:spPr>
      </p:sp>
      <p:sp>
        <p:nvSpPr>
          <p:cNvPr id="16" name="Shape 14"/>
          <p:cNvSpPr/>
          <p:nvPr/>
        </p:nvSpPr>
        <p:spPr>
          <a:xfrm>
            <a:off x="5047488" y="1056132"/>
            <a:ext cx="0" cy="205740"/>
          </a:xfrm>
          <a:prstGeom prst="line">
            <a:avLst/>
          </a:prstGeom>
          <a:noFill/>
          <a:ln w="3810">
            <a:solidFill>
              <a:srgbClr val="30363D"/>
            </a:solidFill>
            <a:prstDash val="solid"/>
          </a:ln>
        </p:spPr>
      </p:sp>
      <p:sp>
        <p:nvSpPr>
          <p:cNvPr id="17" name="Text 15"/>
          <p:cNvSpPr/>
          <p:nvPr/>
        </p:nvSpPr>
        <p:spPr>
          <a:xfrm>
            <a:off x="1828800" y="105613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RAG poisoning</a:t>
            </a:r>
            <a:endParaRPr lang="en-US" sz="850" dirty="0"/>
          </a:p>
        </p:txBody>
      </p:sp>
      <p:sp>
        <p:nvSpPr>
          <p:cNvPr id="18" name="Text 16"/>
          <p:cNvSpPr/>
          <p:nvPr/>
        </p:nvSpPr>
        <p:spPr>
          <a:xfrm>
            <a:off x="5120640" y="105613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Embedding / chunk manipulation</a:t>
            </a:r>
            <a:endParaRPr lang="en-US" sz="800" dirty="0"/>
          </a:p>
        </p:txBody>
      </p:sp>
      <p:sp>
        <p:nvSpPr>
          <p:cNvPr id="19" name="Shape 17"/>
          <p:cNvSpPr/>
          <p:nvPr/>
        </p:nvSpPr>
        <p:spPr>
          <a:xfrm>
            <a:off x="164592" y="1261872"/>
            <a:ext cx="8814816" cy="205740"/>
          </a:xfrm>
          <a:prstGeom prst="rect">
            <a:avLst/>
          </a:prstGeom>
          <a:solidFill>
            <a:srgbClr val="1A0A0A"/>
          </a:solidFill>
          <a:ln w="3810">
            <a:solidFill>
              <a:srgbClr val="1E2530"/>
            </a:solidFill>
            <a:prstDash val="solid"/>
          </a:ln>
        </p:spPr>
      </p:sp>
      <p:sp>
        <p:nvSpPr>
          <p:cNvPr id="20" name="Shape 18"/>
          <p:cNvSpPr/>
          <p:nvPr/>
        </p:nvSpPr>
        <p:spPr>
          <a:xfrm>
            <a:off x="1755648" y="1261872"/>
            <a:ext cx="0" cy="205740"/>
          </a:xfrm>
          <a:prstGeom prst="line">
            <a:avLst/>
          </a:prstGeom>
          <a:noFill/>
          <a:ln w="3810">
            <a:solidFill>
              <a:srgbClr val="30363D"/>
            </a:solidFill>
            <a:prstDash val="solid"/>
          </a:ln>
        </p:spPr>
      </p:sp>
      <p:sp>
        <p:nvSpPr>
          <p:cNvPr id="21" name="Shape 19"/>
          <p:cNvSpPr/>
          <p:nvPr/>
        </p:nvSpPr>
        <p:spPr>
          <a:xfrm>
            <a:off x="5047488" y="1261872"/>
            <a:ext cx="0" cy="205740"/>
          </a:xfrm>
          <a:prstGeom prst="line">
            <a:avLst/>
          </a:prstGeom>
          <a:noFill/>
          <a:ln w="3810">
            <a:solidFill>
              <a:srgbClr val="30363D"/>
            </a:solidFill>
            <a:prstDash val="solid"/>
          </a:ln>
        </p:spPr>
      </p:sp>
      <p:sp>
        <p:nvSpPr>
          <p:cNvPr id="22" name="Text 20"/>
          <p:cNvSpPr/>
          <p:nvPr/>
        </p:nvSpPr>
        <p:spPr>
          <a:xfrm>
            <a:off x="1828800" y="126187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MCP manifest poisoning</a:t>
            </a:r>
            <a:endParaRPr lang="en-US" sz="850" dirty="0"/>
          </a:p>
        </p:txBody>
      </p:sp>
      <p:sp>
        <p:nvSpPr>
          <p:cNvPr id="23" name="Text 21"/>
          <p:cNvSpPr/>
          <p:nvPr/>
        </p:nvSpPr>
        <p:spPr>
          <a:xfrm>
            <a:off x="5120640" y="126187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Malicious tool descriptions</a:t>
            </a:r>
            <a:endParaRPr lang="en-US" sz="800" dirty="0"/>
          </a:p>
        </p:txBody>
      </p:sp>
      <p:sp>
        <p:nvSpPr>
          <p:cNvPr id="24" name="Shape 22"/>
          <p:cNvSpPr/>
          <p:nvPr/>
        </p:nvSpPr>
        <p:spPr>
          <a:xfrm>
            <a:off x="164592" y="1467612"/>
            <a:ext cx="8814816" cy="205740"/>
          </a:xfrm>
          <a:prstGeom prst="rect">
            <a:avLst/>
          </a:prstGeom>
          <a:solidFill>
            <a:srgbClr val="1A0E08"/>
          </a:solidFill>
          <a:ln w="3810">
            <a:solidFill>
              <a:srgbClr val="1E2530"/>
            </a:solidFill>
            <a:prstDash val="solid"/>
          </a:ln>
        </p:spPr>
      </p:sp>
      <p:sp>
        <p:nvSpPr>
          <p:cNvPr id="25" name="Shape 23"/>
          <p:cNvSpPr/>
          <p:nvPr/>
        </p:nvSpPr>
        <p:spPr>
          <a:xfrm>
            <a:off x="1755648" y="1467612"/>
            <a:ext cx="0" cy="205740"/>
          </a:xfrm>
          <a:prstGeom prst="line">
            <a:avLst/>
          </a:prstGeom>
          <a:noFill/>
          <a:ln w="3810">
            <a:solidFill>
              <a:srgbClr val="30363D"/>
            </a:solidFill>
            <a:prstDash val="solid"/>
          </a:ln>
        </p:spPr>
      </p:sp>
      <p:sp>
        <p:nvSpPr>
          <p:cNvPr id="26" name="Shape 24"/>
          <p:cNvSpPr/>
          <p:nvPr/>
        </p:nvSpPr>
        <p:spPr>
          <a:xfrm>
            <a:off x="5047488" y="1467612"/>
            <a:ext cx="0" cy="205740"/>
          </a:xfrm>
          <a:prstGeom prst="line">
            <a:avLst/>
          </a:prstGeom>
          <a:noFill/>
          <a:ln w="3810">
            <a:solidFill>
              <a:srgbClr val="30363D"/>
            </a:solidFill>
            <a:prstDash val="solid"/>
          </a:ln>
        </p:spPr>
      </p:sp>
      <p:sp>
        <p:nvSpPr>
          <p:cNvPr id="27" name="Text 25"/>
          <p:cNvSpPr/>
          <p:nvPr/>
        </p:nvSpPr>
        <p:spPr>
          <a:xfrm>
            <a:off x="1828800" y="146761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Tool / agent abuse</a:t>
            </a:r>
            <a:endParaRPr lang="en-US" sz="850" dirty="0"/>
          </a:p>
        </p:txBody>
      </p:sp>
      <p:sp>
        <p:nvSpPr>
          <p:cNvPr id="28" name="Text 26"/>
          <p:cNvSpPr/>
          <p:nvPr/>
        </p:nvSpPr>
        <p:spPr>
          <a:xfrm>
            <a:off x="5120640" y="146761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Function call manipulation, tool injection</a:t>
            </a:r>
            <a:endParaRPr lang="en-US" sz="800" dirty="0"/>
          </a:p>
        </p:txBody>
      </p:sp>
      <p:sp>
        <p:nvSpPr>
          <p:cNvPr id="29" name="Shape 27"/>
          <p:cNvSpPr/>
          <p:nvPr/>
        </p:nvSpPr>
        <p:spPr>
          <a:xfrm>
            <a:off x="164592" y="1673352"/>
            <a:ext cx="8814816" cy="205740"/>
          </a:xfrm>
          <a:prstGeom prst="rect">
            <a:avLst/>
          </a:prstGeom>
          <a:solidFill>
            <a:srgbClr val="1A0E08"/>
          </a:solidFill>
          <a:ln w="3810">
            <a:solidFill>
              <a:srgbClr val="1E2530"/>
            </a:solidFill>
            <a:prstDash val="solid"/>
          </a:ln>
        </p:spPr>
      </p:sp>
      <p:sp>
        <p:nvSpPr>
          <p:cNvPr id="30" name="Shape 28"/>
          <p:cNvSpPr/>
          <p:nvPr/>
        </p:nvSpPr>
        <p:spPr>
          <a:xfrm>
            <a:off x="1755648" y="1673352"/>
            <a:ext cx="0" cy="205740"/>
          </a:xfrm>
          <a:prstGeom prst="line">
            <a:avLst/>
          </a:prstGeom>
          <a:noFill/>
          <a:ln w="3810">
            <a:solidFill>
              <a:srgbClr val="30363D"/>
            </a:solidFill>
            <a:prstDash val="solid"/>
          </a:ln>
        </p:spPr>
      </p:sp>
      <p:sp>
        <p:nvSpPr>
          <p:cNvPr id="31" name="Shape 29"/>
          <p:cNvSpPr/>
          <p:nvPr/>
        </p:nvSpPr>
        <p:spPr>
          <a:xfrm>
            <a:off x="5047488" y="1673352"/>
            <a:ext cx="0" cy="205740"/>
          </a:xfrm>
          <a:prstGeom prst="line">
            <a:avLst/>
          </a:prstGeom>
          <a:noFill/>
          <a:ln w="3810">
            <a:solidFill>
              <a:srgbClr val="30363D"/>
            </a:solidFill>
            <a:prstDash val="solid"/>
          </a:ln>
        </p:spPr>
      </p:sp>
      <p:sp>
        <p:nvSpPr>
          <p:cNvPr id="32" name="Text 30"/>
          <p:cNvSpPr/>
          <p:nvPr/>
        </p:nvSpPr>
        <p:spPr>
          <a:xfrm>
            <a:off x="1828800" y="167335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Sandbox escape</a:t>
            </a:r>
            <a:endParaRPr lang="en-US" sz="850" dirty="0"/>
          </a:p>
        </p:txBody>
      </p:sp>
      <p:sp>
        <p:nvSpPr>
          <p:cNvPr id="33" name="Text 31"/>
          <p:cNvSpPr/>
          <p:nvPr/>
        </p:nvSpPr>
        <p:spPr>
          <a:xfrm>
            <a:off x="5120640" y="167335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Code interpreter breakout</a:t>
            </a:r>
            <a:endParaRPr lang="en-US" sz="800" dirty="0"/>
          </a:p>
        </p:txBody>
      </p:sp>
      <p:sp>
        <p:nvSpPr>
          <p:cNvPr id="34" name="Shape 32"/>
          <p:cNvSpPr/>
          <p:nvPr/>
        </p:nvSpPr>
        <p:spPr>
          <a:xfrm>
            <a:off x="164592" y="1879092"/>
            <a:ext cx="8814816" cy="205740"/>
          </a:xfrm>
          <a:prstGeom prst="rect">
            <a:avLst/>
          </a:prstGeom>
          <a:solidFill>
            <a:srgbClr val="1A0E08"/>
          </a:solidFill>
          <a:ln w="3810">
            <a:solidFill>
              <a:srgbClr val="1E2530"/>
            </a:solidFill>
            <a:prstDash val="solid"/>
          </a:ln>
        </p:spPr>
      </p:sp>
      <p:sp>
        <p:nvSpPr>
          <p:cNvPr id="35" name="Shape 33"/>
          <p:cNvSpPr/>
          <p:nvPr/>
        </p:nvSpPr>
        <p:spPr>
          <a:xfrm>
            <a:off x="1755648" y="1879092"/>
            <a:ext cx="0" cy="205740"/>
          </a:xfrm>
          <a:prstGeom prst="line">
            <a:avLst/>
          </a:prstGeom>
          <a:noFill/>
          <a:ln w="3810">
            <a:solidFill>
              <a:srgbClr val="30363D"/>
            </a:solidFill>
            <a:prstDash val="solid"/>
          </a:ln>
        </p:spPr>
      </p:sp>
      <p:sp>
        <p:nvSpPr>
          <p:cNvPr id="36" name="Shape 34"/>
          <p:cNvSpPr/>
          <p:nvPr/>
        </p:nvSpPr>
        <p:spPr>
          <a:xfrm>
            <a:off x="5047488" y="1879092"/>
            <a:ext cx="0" cy="205740"/>
          </a:xfrm>
          <a:prstGeom prst="line">
            <a:avLst/>
          </a:prstGeom>
          <a:noFill/>
          <a:ln w="3810">
            <a:solidFill>
              <a:srgbClr val="30363D"/>
            </a:solidFill>
            <a:prstDash val="solid"/>
          </a:ln>
        </p:spPr>
      </p:sp>
      <p:sp>
        <p:nvSpPr>
          <p:cNvPr id="37" name="Text 35"/>
          <p:cNvSpPr/>
          <p:nvPr/>
        </p:nvSpPr>
        <p:spPr>
          <a:xfrm>
            <a:off x="1828800" y="187909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Agent-to-agent injection</a:t>
            </a:r>
            <a:endParaRPr lang="en-US" sz="850" dirty="0"/>
          </a:p>
        </p:txBody>
      </p:sp>
      <p:sp>
        <p:nvSpPr>
          <p:cNvPr id="38" name="Text 36"/>
          <p:cNvSpPr/>
          <p:nvPr/>
        </p:nvSpPr>
        <p:spPr>
          <a:xfrm>
            <a:off x="5120640" y="187909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Sub-agent poisons orchestrator</a:t>
            </a:r>
            <a:endParaRPr lang="en-US" sz="800" dirty="0"/>
          </a:p>
        </p:txBody>
      </p:sp>
      <p:sp>
        <p:nvSpPr>
          <p:cNvPr id="39" name="Shape 37"/>
          <p:cNvSpPr/>
          <p:nvPr/>
        </p:nvSpPr>
        <p:spPr>
          <a:xfrm>
            <a:off x="164592" y="2084832"/>
            <a:ext cx="8814816" cy="205740"/>
          </a:xfrm>
          <a:prstGeom prst="rect">
            <a:avLst/>
          </a:prstGeom>
          <a:solidFill>
            <a:srgbClr val="1A1508"/>
          </a:solidFill>
          <a:ln w="3810">
            <a:solidFill>
              <a:srgbClr val="1E2530"/>
            </a:solidFill>
            <a:prstDash val="solid"/>
          </a:ln>
        </p:spPr>
      </p:sp>
      <p:sp>
        <p:nvSpPr>
          <p:cNvPr id="40" name="Shape 38"/>
          <p:cNvSpPr/>
          <p:nvPr/>
        </p:nvSpPr>
        <p:spPr>
          <a:xfrm>
            <a:off x="1755648" y="2084832"/>
            <a:ext cx="0" cy="205740"/>
          </a:xfrm>
          <a:prstGeom prst="line">
            <a:avLst/>
          </a:prstGeom>
          <a:noFill/>
          <a:ln w="3810">
            <a:solidFill>
              <a:srgbClr val="30363D"/>
            </a:solidFill>
            <a:prstDash val="solid"/>
          </a:ln>
        </p:spPr>
      </p:sp>
      <p:sp>
        <p:nvSpPr>
          <p:cNvPr id="41" name="Shape 39"/>
          <p:cNvSpPr/>
          <p:nvPr/>
        </p:nvSpPr>
        <p:spPr>
          <a:xfrm>
            <a:off x="5047488" y="2084832"/>
            <a:ext cx="0" cy="205740"/>
          </a:xfrm>
          <a:prstGeom prst="line">
            <a:avLst/>
          </a:prstGeom>
          <a:noFill/>
          <a:ln w="3810">
            <a:solidFill>
              <a:srgbClr val="30363D"/>
            </a:solidFill>
            <a:prstDash val="solid"/>
          </a:ln>
        </p:spPr>
      </p:sp>
      <p:sp>
        <p:nvSpPr>
          <p:cNvPr id="42" name="Text 40"/>
          <p:cNvSpPr/>
          <p:nvPr/>
        </p:nvSpPr>
        <p:spPr>
          <a:xfrm>
            <a:off x="1828800" y="208483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Prompt persistence</a:t>
            </a:r>
            <a:endParaRPr lang="en-US" sz="850" dirty="0"/>
          </a:p>
        </p:txBody>
      </p:sp>
      <p:sp>
        <p:nvSpPr>
          <p:cNvPr id="43" name="Text 41"/>
          <p:cNvSpPr/>
          <p:nvPr/>
        </p:nvSpPr>
        <p:spPr>
          <a:xfrm>
            <a:off x="5120640" y="208483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Payload survives memory / summarization</a:t>
            </a:r>
            <a:endParaRPr lang="en-US" sz="800" dirty="0"/>
          </a:p>
        </p:txBody>
      </p:sp>
      <p:sp>
        <p:nvSpPr>
          <p:cNvPr id="44" name="Shape 42"/>
          <p:cNvSpPr/>
          <p:nvPr/>
        </p:nvSpPr>
        <p:spPr>
          <a:xfrm>
            <a:off x="164592" y="2290572"/>
            <a:ext cx="8814816" cy="205740"/>
          </a:xfrm>
          <a:prstGeom prst="rect">
            <a:avLst/>
          </a:prstGeom>
          <a:solidFill>
            <a:srgbClr val="1A1508"/>
          </a:solidFill>
          <a:ln w="3810">
            <a:solidFill>
              <a:srgbClr val="1E2530"/>
            </a:solidFill>
            <a:prstDash val="solid"/>
          </a:ln>
        </p:spPr>
      </p:sp>
      <p:sp>
        <p:nvSpPr>
          <p:cNvPr id="45" name="Shape 43"/>
          <p:cNvSpPr/>
          <p:nvPr/>
        </p:nvSpPr>
        <p:spPr>
          <a:xfrm>
            <a:off x="1755648" y="2290572"/>
            <a:ext cx="0" cy="205740"/>
          </a:xfrm>
          <a:prstGeom prst="line">
            <a:avLst/>
          </a:prstGeom>
          <a:noFill/>
          <a:ln w="3810">
            <a:solidFill>
              <a:srgbClr val="30363D"/>
            </a:solidFill>
            <a:prstDash val="solid"/>
          </a:ln>
        </p:spPr>
      </p:sp>
      <p:sp>
        <p:nvSpPr>
          <p:cNvPr id="46" name="Shape 44"/>
          <p:cNvSpPr/>
          <p:nvPr/>
        </p:nvSpPr>
        <p:spPr>
          <a:xfrm>
            <a:off x="5047488" y="2290572"/>
            <a:ext cx="0" cy="205740"/>
          </a:xfrm>
          <a:prstGeom prst="line">
            <a:avLst/>
          </a:prstGeom>
          <a:noFill/>
          <a:ln w="3810">
            <a:solidFill>
              <a:srgbClr val="30363D"/>
            </a:solidFill>
            <a:prstDash val="solid"/>
          </a:ln>
        </p:spPr>
      </p:sp>
      <p:sp>
        <p:nvSpPr>
          <p:cNvPr id="47" name="Text 45"/>
          <p:cNvSpPr/>
          <p:nvPr/>
        </p:nvSpPr>
        <p:spPr>
          <a:xfrm>
            <a:off x="1828800" y="229057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Backdoor triggers</a:t>
            </a:r>
            <a:endParaRPr lang="en-US" sz="850" dirty="0"/>
          </a:p>
        </p:txBody>
      </p:sp>
      <p:sp>
        <p:nvSpPr>
          <p:cNvPr id="48" name="Text 46"/>
          <p:cNvSpPr/>
          <p:nvPr/>
        </p:nvSpPr>
        <p:spPr>
          <a:xfrm>
            <a:off x="5120640" y="229057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Hidden phrases in RAG or adapters</a:t>
            </a:r>
            <a:endParaRPr lang="en-US" sz="800" dirty="0"/>
          </a:p>
        </p:txBody>
      </p:sp>
      <p:sp>
        <p:nvSpPr>
          <p:cNvPr id="49" name="Shape 47"/>
          <p:cNvSpPr/>
          <p:nvPr/>
        </p:nvSpPr>
        <p:spPr>
          <a:xfrm>
            <a:off x="164592" y="2496312"/>
            <a:ext cx="8814816" cy="205740"/>
          </a:xfrm>
          <a:prstGeom prst="rect">
            <a:avLst/>
          </a:prstGeom>
          <a:solidFill>
            <a:srgbClr val="14101A"/>
          </a:solidFill>
          <a:ln w="3810">
            <a:solidFill>
              <a:srgbClr val="1E2530"/>
            </a:solidFill>
            <a:prstDash val="solid"/>
          </a:ln>
        </p:spPr>
      </p:sp>
      <p:sp>
        <p:nvSpPr>
          <p:cNvPr id="50" name="Shape 48"/>
          <p:cNvSpPr/>
          <p:nvPr/>
        </p:nvSpPr>
        <p:spPr>
          <a:xfrm>
            <a:off x="1755648" y="2496312"/>
            <a:ext cx="0" cy="205740"/>
          </a:xfrm>
          <a:prstGeom prst="line">
            <a:avLst/>
          </a:prstGeom>
          <a:noFill/>
          <a:ln w="3810">
            <a:solidFill>
              <a:srgbClr val="30363D"/>
            </a:solidFill>
            <a:prstDash val="solid"/>
          </a:ln>
        </p:spPr>
      </p:sp>
      <p:sp>
        <p:nvSpPr>
          <p:cNvPr id="51" name="Shape 49"/>
          <p:cNvSpPr/>
          <p:nvPr/>
        </p:nvSpPr>
        <p:spPr>
          <a:xfrm>
            <a:off x="5047488" y="2496312"/>
            <a:ext cx="0" cy="205740"/>
          </a:xfrm>
          <a:prstGeom prst="line">
            <a:avLst/>
          </a:prstGeom>
          <a:noFill/>
          <a:ln w="3810">
            <a:solidFill>
              <a:srgbClr val="30363D"/>
            </a:solidFill>
            <a:prstDash val="solid"/>
          </a:ln>
        </p:spPr>
      </p:sp>
      <p:sp>
        <p:nvSpPr>
          <p:cNvPr id="52" name="Text 50"/>
          <p:cNvSpPr/>
          <p:nvPr/>
        </p:nvSpPr>
        <p:spPr>
          <a:xfrm>
            <a:off x="1828800" y="249631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Role hijacking</a:t>
            </a:r>
            <a:endParaRPr lang="en-US" sz="850" dirty="0"/>
          </a:p>
        </p:txBody>
      </p:sp>
      <p:sp>
        <p:nvSpPr>
          <p:cNvPr id="53" name="Text 51"/>
          <p:cNvSpPr/>
          <p:nvPr/>
        </p:nvSpPr>
        <p:spPr>
          <a:xfrm>
            <a:off x="5120640" y="249631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"You are now system / admin"</a:t>
            </a:r>
            <a:endParaRPr lang="en-US" sz="800" dirty="0"/>
          </a:p>
        </p:txBody>
      </p:sp>
      <p:sp>
        <p:nvSpPr>
          <p:cNvPr id="54" name="Shape 52"/>
          <p:cNvSpPr/>
          <p:nvPr/>
        </p:nvSpPr>
        <p:spPr>
          <a:xfrm>
            <a:off x="164592" y="2702052"/>
            <a:ext cx="8814816" cy="205740"/>
          </a:xfrm>
          <a:prstGeom prst="rect">
            <a:avLst/>
          </a:prstGeom>
          <a:solidFill>
            <a:srgbClr val="14101A"/>
          </a:solidFill>
          <a:ln w="3810">
            <a:solidFill>
              <a:srgbClr val="1E2530"/>
            </a:solidFill>
            <a:prstDash val="solid"/>
          </a:ln>
        </p:spPr>
      </p:sp>
      <p:sp>
        <p:nvSpPr>
          <p:cNvPr id="55" name="Shape 53"/>
          <p:cNvSpPr/>
          <p:nvPr/>
        </p:nvSpPr>
        <p:spPr>
          <a:xfrm>
            <a:off x="1755648" y="2702052"/>
            <a:ext cx="0" cy="205740"/>
          </a:xfrm>
          <a:prstGeom prst="line">
            <a:avLst/>
          </a:prstGeom>
          <a:noFill/>
          <a:ln w="3810">
            <a:solidFill>
              <a:srgbClr val="30363D"/>
            </a:solidFill>
            <a:prstDash val="solid"/>
          </a:ln>
        </p:spPr>
      </p:sp>
      <p:sp>
        <p:nvSpPr>
          <p:cNvPr id="56" name="Shape 54"/>
          <p:cNvSpPr/>
          <p:nvPr/>
        </p:nvSpPr>
        <p:spPr>
          <a:xfrm>
            <a:off x="5047488" y="2702052"/>
            <a:ext cx="0" cy="205740"/>
          </a:xfrm>
          <a:prstGeom prst="line">
            <a:avLst/>
          </a:prstGeom>
          <a:noFill/>
          <a:ln w="3810">
            <a:solidFill>
              <a:srgbClr val="30363D"/>
            </a:solidFill>
            <a:prstDash val="solid"/>
          </a:ln>
        </p:spPr>
      </p:sp>
      <p:sp>
        <p:nvSpPr>
          <p:cNvPr id="57" name="Text 55"/>
          <p:cNvSpPr/>
          <p:nvPr/>
        </p:nvSpPr>
        <p:spPr>
          <a:xfrm>
            <a:off x="1828800" y="270205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Jailbreaking</a:t>
            </a:r>
            <a:endParaRPr lang="en-US" sz="850" dirty="0"/>
          </a:p>
        </p:txBody>
      </p:sp>
      <p:sp>
        <p:nvSpPr>
          <p:cNvPr id="58" name="Text 56"/>
          <p:cNvSpPr/>
          <p:nvPr/>
        </p:nvSpPr>
        <p:spPr>
          <a:xfrm>
            <a:off x="5120640" y="270205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DAN, roleplay, multi-turn</a:t>
            </a:r>
            <a:endParaRPr lang="en-US" sz="800" dirty="0"/>
          </a:p>
        </p:txBody>
      </p:sp>
      <p:sp>
        <p:nvSpPr>
          <p:cNvPr id="59" name="Shape 57"/>
          <p:cNvSpPr/>
          <p:nvPr/>
        </p:nvSpPr>
        <p:spPr>
          <a:xfrm>
            <a:off x="164592" y="2907792"/>
            <a:ext cx="8814816" cy="205740"/>
          </a:xfrm>
          <a:prstGeom prst="rect">
            <a:avLst/>
          </a:prstGeom>
          <a:solidFill>
            <a:srgbClr val="081418"/>
          </a:solidFill>
          <a:ln w="3810">
            <a:solidFill>
              <a:srgbClr val="1E2530"/>
            </a:solidFill>
            <a:prstDash val="solid"/>
          </a:ln>
        </p:spPr>
      </p:sp>
      <p:sp>
        <p:nvSpPr>
          <p:cNvPr id="60" name="Shape 58"/>
          <p:cNvSpPr/>
          <p:nvPr/>
        </p:nvSpPr>
        <p:spPr>
          <a:xfrm>
            <a:off x="1755648" y="2907792"/>
            <a:ext cx="0" cy="205740"/>
          </a:xfrm>
          <a:prstGeom prst="line">
            <a:avLst/>
          </a:prstGeom>
          <a:noFill/>
          <a:ln w="3810">
            <a:solidFill>
              <a:srgbClr val="30363D"/>
            </a:solidFill>
            <a:prstDash val="solid"/>
          </a:ln>
        </p:spPr>
      </p:sp>
      <p:sp>
        <p:nvSpPr>
          <p:cNvPr id="61" name="Shape 59"/>
          <p:cNvSpPr/>
          <p:nvPr/>
        </p:nvSpPr>
        <p:spPr>
          <a:xfrm>
            <a:off x="5047488" y="2907792"/>
            <a:ext cx="0" cy="205740"/>
          </a:xfrm>
          <a:prstGeom prst="line">
            <a:avLst/>
          </a:prstGeom>
          <a:noFill/>
          <a:ln w="3810">
            <a:solidFill>
              <a:srgbClr val="30363D"/>
            </a:solidFill>
            <a:prstDash val="solid"/>
          </a:ln>
        </p:spPr>
      </p:sp>
      <p:sp>
        <p:nvSpPr>
          <p:cNvPr id="62" name="Text 60"/>
          <p:cNvSpPr/>
          <p:nvPr/>
        </p:nvSpPr>
        <p:spPr>
          <a:xfrm>
            <a:off x="1828800" y="290779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Encoding / obfuscation</a:t>
            </a:r>
            <a:endParaRPr lang="en-US" sz="850" dirty="0"/>
          </a:p>
        </p:txBody>
      </p:sp>
      <p:sp>
        <p:nvSpPr>
          <p:cNvPr id="63" name="Text 61"/>
          <p:cNvSpPr/>
          <p:nvPr/>
        </p:nvSpPr>
        <p:spPr>
          <a:xfrm>
            <a:off x="5120640" y="290779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Base64, Unicode tricks</a:t>
            </a:r>
            <a:endParaRPr lang="en-US" sz="800" dirty="0"/>
          </a:p>
        </p:txBody>
      </p:sp>
      <p:sp>
        <p:nvSpPr>
          <p:cNvPr id="64" name="Shape 62"/>
          <p:cNvSpPr/>
          <p:nvPr/>
        </p:nvSpPr>
        <p:spPr>
          <a:xfrm>
            <a:off x="164592" y="3113532"/>
            <a:ext cx="8814816" cy="205740"/>
          </a:xfrm>
          <a:prstGeom prst="rect">
            <a:avLst/>
          </a:prstGeom>
          <a:solidFill>
            <a:srgbClr val="081418"/>
          </a:solidFill>
          <a:ln w="3810">
            <a:solidFill>
              <a:srgbClr val="1E2530"/>
            </a:solidFill>
            <a:prstDash val="solid"/>
          </a:ln>
        </p:spPr>
      </p:sp>
      <p:sp>
        <p:nvSpPr>
          <p:cNvPr id="65" name="Shape 63"/>
          <p:cNvSpPr/>
          <p:nvPr/>
        </p:nvSpPr>
        <p:spPr>
          <a:xfrm>
            <a:off x="1755648" y="3113532"/>
            <a:ext cx="0" cy="205740"/>
          </a:xfrm>
          <a:prstGeom prst="line">
            <a:avLst/>
          </a:prstGeom>
          <a:noFill/>
          <a:ln w="3810">
            <a:solidFill>
              <a:srgbClr val="30363D"/>
            </a:solidFill>
            <a:prstDash val="solid"/>
          </a:ln>
        </p:spPr>
      </p:sp>
      <p:sp>
        <p:nvSpPr>
          <p:cNvPr id="66" name="Shape 64"/>
          <p:cNvSpPr/>
          <p:nvPr/>
        </p:nvSpPr>
        <p:spPr>
          <a:xfrm>
            <a:off x="5047488" y="3113532"/>
            <a:ext cx="0" cy="205740"/>
          </a:xfrm>
          <a:prstGeom prst="line">
            <a:avLst/>
          </a:prstGeom>
          <a:noFill/>
          <a:ln w="3810">
            <a:solidFill>
              <a:srgbClr val="30363D"/>
            </a:solidFill>
            <a:prstDash val="solid"/>
          </a:ln>
        </p:spPr>
      </p:sp>
      <p:sp>
        <p:nvSpPr>
          <p:cNvPr id="67" name="Text 65"/>
          <p:cNvSpPr/>
          <p:nvPr/>
        </p:nvSpPr>
        <p:spPr>
          <a:xfrm>
            <a:off x="1828800" y="311353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Attention manipulation</a:t>
            </a:r>
            <a:endParaRPr lang="en-US" sz="850" dirty="0"/>
          </a:p>
        </p:txBody>
      </p:sp>
      <p:sp>
        <p:nvSpPr>
          <p:cNvPr id="68" name="Text 66"/>
          <p:cNvSpPr/>
          <p:nvPr/>
        </p:nvSpPr>
        <p:spPr>
          <a:xfrm>
            <a:off x="5120640" y="311353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Burying instructions in context</a:t>
            </a:r>
            <a:endParaRPr lang="en-US" sz="800" dirty="0"/>
          </a:p>
        </p:txBody>
      </p:sp>
      <p:sp>
        <p:nvSpPr>
          <p:cNvPr id="69" name="Shape 67"/>
          <p:cNvSpPr/>
          <p:nvPr/>
        </p:nvSpPr>
        <p:spPr>
          <a:xfrm>
            <a:off x="164592" y="3319272"/>
            <a:ext cx="8814816" cy="205740"/>
          </a:xfrm>
          <a:prstGeom prst="rect">
            <a:avLst/>
          </a:prstGeom>
          <a:solidFill>
            <a:srgbClr val="081A14"/>
          </a:solidFill>
          <a:ln w="3810">
            <a:solidFill>
              <a:srgbClr val="1E2530"/>
            </a:solidFill>
            <a:prstDash val="solid"/>
          </a:ln>
        </p:spPr>
      </p:sp>
      <p:sp>
        <p:nvSpPr>
          <p:cNvPr id="70" name="Shape 68"/>
          <p:cNvSpPr/>
          <p:nvPr/>
        </p:nvSpPr>
        <p:spPr>
          <a:xfrm>
            <a:off x="1755648" y="3319272"/>
            <a:ext cx="0" cy="205740"/>
          </a:xfrm>
          <a:prstGeom prst="line">
            <a:avLst/>
          </a:prstGeom>
          <a:noFill/>
          <a:ln w="3810">
            <a:solidFill>
              <a:srgbClr val="30363D"/>
            </a:solidFill>
            <a:prstDash val="solid"/>
          </a:ln>
        </p:spPr>
      </p:sp>
      <p:sp>
        <p:nvSpPr>
          <p:cNvPr id="71" name="Shape 69"/>
          <p:cNvSpPr/>
          <p:nvPr/>
        </p:nvSpPr>
        <p:spPr>
          <a:xfrm>
            <a:off x="5047488" y="3319272"/>
            <a:ext cx="0" cy="205740"/>
          </a:xfrm>
          <a:prstGeom prst="line">
            <a:avLst/>
          </a:prstGeom>
          <a:noFill/>
          <a:ln w="3810">
            <a:solidFill>
              <a:srgbClr val="30363D"/>
            </a:solidFill>
            <a:prstDash val="solid"/>
          </a:ln>
        </p:spPr>
      </p:sp>
      <p:sp>
        <p:nvSpPr>
          <p:cNvPr id="72" name="Text 70"/>
          <p:cNvSpPr/>
          <p:nvPr/>
        </p:nvSpPr>
        <p:spPr>
          <a:xfrm>
            <a:off x="1828800" y="331927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Context leakage</a:t>
            </a:r>
            <a:endParaRPr lang="en-US" sz="850" dirty="0"/>
          </a:p>
        </p:txBody>
      </p:sp>
      <p:sp>
        <p:nvSpPr>
          <p:cNvPr id="73" name="Text 71"/>
          <p:cNvSpPr/>
          <p:nvPr/>
        </p:nvSpPr>
        <p:spPr>
          <a:xfrm>
            <a:off x="5120640" y="331927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System prompt, API keys, secrets</a:t>
            </a:r>
            <a:endParaRPr lang="en-US" sz="800" dirty="0"/>
          </a:p>
        </p:txBody>
      </p:sp>
      <p:sp>
        <p:nvSpPr>
          <p:cNvPr id="74" name="Shape 72"/>
          <p:cNvSpPr/>
          <p:nvPr/>
        </p:nvSpPr>
        <p:spPr>
          <a:xfrm>
            <a:off x="164592" y="3525012"/>
            <a:ext cx="8814816" cy="205740"/>
          </a:xfrm>
          <a:prstGeom prst="rect">
            <a:avLst/>
          </a:prstGeom>
          <a:solidFill>
            <a:srgbClr val="081A14"/>
          </a:solidFill>
          <a:ln w="3810">
            <a:solidFill>
              <a:srgbClr val="1E2530"/>
            </a:solidFill>
            <a:prstDash val="solid"/>
          </a:ln>
        </p:spPr>
      </p:sp>
      <p:sp>
        <p:nvSpPr>
          <p:cNvPr id="75" name="Shape 73"/>
          <p:cNvSpPr/>
          <p:nvPr/>
        </p:nvSpPr>
        <p:spPr>
          <a:xfrm>
            <a:off x="1755648" y="3525012"/>
            <a:ext cx="0" cy="205740"/>
          </a:xfrm>
          <a:prstGeom prst="line">
            <a:avLst/>
          </a:prstGeom>
          <a:noFill/>
          <a:ln w="3810">
            <a:solidFill>
              <a:srgbClr val="30363D"/>
            </a:solidFill>
            <a:prstDash val="solid"/>
          </a:ln>
        </p:spPr>
      </p:sp>
      <p:sp>
        <p:nvSpPr>
          <p:cNvPr id="76" name="Shape 74"/>
          <p:cNvSpPr/>
          <p:nvPr/>
        </p:nvSpPr>
        <p:spPr>
          <a:xfrm>
            <a:off x="5047488" y="3525012"/>
            <a:ext cx="0" cy="205740"/>
          </a:xfrm>
          <a:prstGeom prst="line">
            <a:avLst/>
          </a:prstGeom>
          <a:noFill/>
          <a:ln w="3810">
            <a:solidFill>
              <a:srgbClr val="30363D"/>
            </a:solidFill>
            <a:prstDash val="solid"/>
          </a:ln>
        </p:spPr>
      </p:sp>
      <p:sp>
        <p:nvSpPr>
          <p:cNvPr id="77" name="Text 75"/>
          <p:cNvSpPr/>
          <p:nvPr/>
        </p:nvSpPr>
        <p:spPr>
          <a:xfrm>
            <a:off x="1828800" y="352501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Model probing</a:t>
            </a:r>
            <a:endParaRPr lang="en-US" sz="850" dirty="0"/>
          </a:p>
        </p:txBody>
      </p:sp>
      <p:sp>
        <p:nvSpPr>
          <p:cNvPr id="78" name="Text 76"/>
          <p:cNvSpPr/>
          <p:nvPr/>
        </p:nvSpPr>
        <p:spPr>
          <a:xfrm>
            <a:off x="5120640" y="352501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Capability and boundary discovery</a:t>
            </a:r>
            <a:endParaRPr lang="en-US" sz="800" dirty="0"/>
          </a:p>
        </p:txBody>
      </p:sp>
      <p:sp>
        <p:nvSpPr>
          <p:cNvPr id="79" name="Shape 77"/>
          <p:cNvSpPr/>
          <p:nvPr/>
        </p:nvSpPr>
        <p:spPr>
          <a:xfrm>
            <a:off x="164592" y="3730752"/>
            <a:ext cx="8814816" cy="205740"/>
          </a:xfrm>
          <a:prstGeom prst="rect">
            <a:avLst/>
          </a:prstGeom>
          <a:solidFill>
            <a:srgbClr val="0A1A0A"/>
          </a:solidFill>
          <a:ln w="3810">
            <a:solidFill>
              <a:srgbClr val="1E2530"/>
            </a:solidFill>
            <a:prstDash val="solid"/>
          </a:ln>
        </p:spPr>
      </p:sp>
      <p:sp>
        <p:nvSpPr>
          <p:cNvPr id="80" name="Shape 78"/>
          <p:cNvSpPr/>
          <p:nvPr/>
        </p:nvSpPr>
        <p:spPr>
          <a:xfrm>
            <a:off x="1755648" y="3730752"/>
            <a:ext cx="0" cy="205740"/>
          </a:xfrm>
          <a:prstGeom prst="line">
            <a:avLst/>
          </a:prstGeom>
          <a:noFill/>
          <a:ln w="3810">
            <a:solidFill>
              <a:srgbClr val="30363D"/>
            </a:solidFill>
            <a:prstDash val="solid"/>
          </a:ln>
        </p:spPr>
      </p:sp>
      <p:sp>
        <p:nvSpPr>
          <p:cNvPr id="81" name="Shape 79"/>
          <p:cNvSpPr/>
          <p:nvPr/>
        </p:nvSpPr>
        <p:spPr>
          <a:xfrm>
            <a:off x="5047488" y="3730752"/>
            <a:ext cx="0" cy="205740"/>
          </a:xfrm>
          <a:prstGeom prst="line">
            <a:avLst/>
          </a:prstGeom>
          <a:noFill/>
          <a:ln w="3810">
            <a:solidFill>
              <a:srgbClr val="30363D"/>
            </a:solidFill>
            <a:prstDash val="solid"/>
          </a:ln>
        </p:spPr>
      </p:sp>
      <p:sp>
        <p:nvSpPr>
          <p:cNvPr id="82" name="Text 80"/>
          <p:cNvSpPr/>
          <p:nvPr/>
        </p:nvSpPr>
        <p:spPr>
          <a:xfrm>
            <a:off x="1828800" y="373075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Model inversion</a:t>
            </a:r>
            <a:endParaRPr lang="en-US" sz="850" dirty="0"/>
          </a:p>
        </p:txBody>
      </p:sp>
      <p:sp>
        <p:nvSpPr>
          <p:cNvPr id="83" name="Text 81"/>
          <p:cNvSpPr/>
          <p:nvPr/>
        </p:nvSpPr>
        <p:spPr>
          <a:xfrm>
            <a:off x="5120640" y="373075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Reconstruct sensitive attributes</a:t>
            </a:r>
            <a:endParaRPr lang="en-US" sz="800" dirty="0"/>
          </a:p>
        </p:txBody>
      </p:sp>
      <p:sp>
        <p:nvSpPr>
          <p:cNvPr id="84" name="Shape 82"/>
          <p:cNvSpPr/>
          <p:nvPr/>
        </p:nvSpPr>
        <p:spPr>
          <a:xfrm>
            <a:off x="164592" y="3936492"/>
            <a:ext cx="8814816" cy="205740"/>
          </a:xfrm>
          <a:prstGeom prst="rect">
            <a:avLst/>
          </a:prstGeom>
          <a:solidFill>
            <a:srgbClr val="0A1A0A"/>
          </a:solidFill>
          <a:ln w="3810">
            <a:solidFill>
              <a:srgbClr val="1E2530"/>
            </a:solidFill>
            <a:prstDash val="solid"/>
          </a:ln>
        </p:spPr>
      </p:sp>
      <p:sp>
        <p:nvSpPr>
          <p:cNvPr id="85" name="Shape 83"/>
          <p:cNvSpPr/>
          <p:nvPr/>
        </p:nvSpPr>
        <p:spPr>
          <a:xfrm>
            <a:off x="1755648" y="3936492"/>
            <a:ext cx="0" cy="205740"/>
          </a:xfrm>
          <a:prstGeom prst="line">
            <a:avLst/>
          </a:prstGeom>
          <a:noFill/>
          <a:ln w="3810">
            <a:solidFill>
              <a:srgbClr val="30363D"/>
            </a:solidFill>
            <a:prstDash val="solid"/>
          </a:ln>
        </p:spPr>
      </p:sp>
      <p:sp>
        <p:nvSpPr>
          <p:cNvPr id="86" name="Shape 84"/>
          <p:cNvSpPr/>
          <p:nvPr/>
        </p:nvSpPr>
        <p:spPr>
          <a:xfrm>
            <a:off x="5047488" y="3936492"/>
            <a:ext cx="0" cy="205740"/>
          </a:xfrm>
          <a:prstGeom prst="line">
            <a:avLst/>
          </a:prstGeom>
          <a:noFill/>
          <a:ln w="3810">
            <a:solidFill>
              <a:srgbClr val="30363D"/>
            </a:solidFill>
            <a:prstDash val="solid"/>
          </a:ln>
        </p:spPr>
      </p:sp>
      <p:sp>
        <p:nvSpPr>
          <p:cNvPr id="87" name="Text 85"/>
          <p:cNvSpPr/>
          <p:nvPr/>
        </p:nvSpPr>
        <p:spPr>
          <a:xfrm>
            <a:off x="1828800" y="393649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Membership inference</a:t>
            </a:r>
            <a:endParaRPr lang="en-US" sz="850" dirty="0"/>
          </a:p>
        </p:txBody>
      </p:sp>
      <p:sp>
        <p:nvSpPr>
          <p:cNvPr id="88" name="Text 86"/>
          <p:cNvSpPr/>
          <p:nvPr/>
        </p:nvSpPr>
        <p:spPr>
          <a:xfrm>
            <a:off x="5120640" y="393649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Detect training data presence</a:t>
            </a:r>
            <a:endParaRPr lang="en-US" sz="800" dirty="0"/>
          </a:p>
        </p:txBody>
      </p:sp>
      <p:sp>
        <p:nvSpPr>
          <p:cNvPr id="89" name="Shape 87"/>
          <p:cNvSpPr/>
          <p:nvPr/>
        </p:nvSpPr>
        <p:spPr>
          <a:xfrm>
            <a:off x="164592" y="4142232"/>
            <a:ext cx="8814816" cy="205740"/>
          </a:xfrm>
          <a:prstGeom prst="rect">
            <a:avLst/>
          </a:prstGeom>
          <a:solidFill>
            <a:srgbClr val="08101A"/>
          </a:solidFill>
          <a:ln w="3810">
            <a:solidFill>
              <a:srgbClr val="1E2530"/>
            </a:solidFill>
            <a:prstDash val="solid"/>
          </a:ln>
        </p:spPr>
      </p:sp>
      <p:sp>
        <p:nvSpPr>
          <p:cNvPr id="90" name="Shape 88"/>
          <p:cNvSpPr/>
          <p:nvPr/>
        </p:nvSpPr>
        <p:spPr>
          <a:xfrm>
            <a:off x="1755648" y="4142232"/>
            <a:ext cx="0" cy="205740"/>
          </a:xfrm>
          <a:prstGeom prst="line">
            <a:avLst/>
          </a:prstGeom>
          <a:noFill/>
          <a:ln w="3810">
            <a:solidFill>
              <a:srgbClr val="30363D"/>
            </a:solidFill>
            <a:prstDash val="solid"/>
          </a:ln>
        </p:spPr>
      </p:sp>
      <p:sp>
        <p:nvSpPr>
          <p:cNvPr id="91" name="Shape 89"/>
          <p:cNvSpPr/>
          <p:nvPr/>
        </p:nvSpPr>
        <p:spPr>
          <a:xfrm>
            <a:off x="5047488" y="4142232"/>
            <a:ext cx="0" cy="205740"/>
          </a:xfrm>
          <a:prstGeom prst="line">
            <a:avLst/>
          </a:prstGeom>
          <a:noFill/>
          <a:ln w="3810">
            <a:solidFill>
              <a:srgbClr val="30363D"/>
            </a:solidFill>
            <a:prstDash val="solid"/>
          </a:ln>
        </p:spPr>
      </p:sp>
      <p:sp>
        <p:nvSpPr>
          <p:cNvPr id="92" name="Text 90"/>
          <p:cNvSpPr/>
          <p:nvPr/>
        </p:nvSpPr>
        <p:spPr>
          <a:xfrm>
            <a:off x="1828800" y="414223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Data extraction</a:t>
            </a:r>
            <a:endParaRPr lang="en-US" sz="850" dirty="0"/>
          </a:p>
        </p:txBody>
      </p:sp>
      <p:sp>
        <p:nvSpPr>
          <p:cNvPr id="93" name="Text 91"/>
          <p:cNvSpPr/>
          <p:nvPr/>
        </p:nvSpPr>
        <p:spPr>
          <a:xfrm>
            <a:off x="5120640" y="414223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RAG scraping, memory leakage</a:t>
            </a:r>
            <a:endParaRPr lang="en-US" sz="800" dirty="0"/>
          </a:p>
        </p:txBody>
      </p:sp>
      <p:sp>
        <p:nvSpPr>
          <p:cNvPr id="94" name="Shape 92"/>
          <p:cNvSpPr/>
          <p:nvPr/>
        </p:nvSpPr>
        <p:spPr>
          <a:xfrm>
            <a:off x="164592" y="4347972"/>
            <a:ext cx="8814816" cy="205740"/>
          </a:xfrm>
          <a:prstGeom prst="rect">
            <a:avLst/>
          </a:prstGeom>
          <a:solidFill>
            <a:srgbClr val="1A0808"/>
          </a:solidFill>
          <a:ln w="3810">
            <a:solidFill>
              <a:srgbClr val="1E2530"/>
            </a:solidFill>
            <a:prstDash val="solid"/>
          </a:ln>
        </p:spPr>
      </p:sp>
      <p:sp>
        <p:nvSpPr>
          <p:cNvPr id="95" name="Shape 93"/>
          <p:cNvSpPr/>
          <p:nvPr/>
        </p:nvSpPr>
        <p:spPr>
          <a:xfrm>
            <a:off x="1755648" y="4347972"/>
            <a:ext cx="0" cy="205740"/>
          </a:xfrm>
          <a:prstGeom prst="line">
            <a:avLst/>
          </a:prstGeom>
          <a:noFill/>
          <a:ln w="3810">
            <a:solidFill>
              <a:srgbClr val="30363D"/>
            </a:solidFill>
            <a:prstDash val="solid"/>
          </a:ln>
        </p:spPr>
      </p:sp>
      <p:sp>
        <p:nvSpPr>
          <p:cNvPr id="96" name="Shape 94"/>
          <p:cNvSpPr/>
          <p:nvPr/>
        </p:nvSpPr>
        <p:spPr>
          <a:xfrm>
            <a:off x="5047488" y="4347972"/>
            <a:ext cx="0" cy="205740"/>
          </a:xfrm>
          <a:prstGeom prst="line">
            <a:avLst/>
          </a:prstGeom>
          <a:noFill/>
          <a:ln w="3810">
            <a:solidFill>
              <a:srgbClr val="30363D"/>
            </a:solidFill>
            <a:prstDash val="solid"/>
          </a:ln>
        </p:spPr>
      </p:sp>
      <p:sp>
        <p:nvSpPr>
          <p:cNvPr id="97" name="Text 95"/>
          <p:cNvSpPr/>
          <p:nvPr/>
        </p:nvSpPr>
        <p:spPr>
          <a:xfrm>
            <a:off x="1828800" y="434797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Output injection</a:t>
            </a:r>
            <a:endParaRPr lang="en-US" sz="850" dirty="0"/>
          </a:p>
        </p:txBody>
      </p:sp>
      <p:sp>
        <p:nvSpPr>
          <p:cNvPr id="98" name="Text 96"/>
          <p:cNvSpPr/>
          <p:nvPr/>
        </p:nvSpPr>
        <p:spPr>
          <a:xfrm>
            <a:off x="5120640" y="434797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LLM output → shell / SQL / API</a:t>
            </a:r>
            <a:endParaRPr lang="en-US" sz="800" dirty="0"/>
          </a:p>
        </p:txBody>
      </p:sp>
      <p:sp>
        <p:nvSpPr>
          <p:cNvPr id="99" name="Shape 97"/>
          <p:cNvSpPr/>
          <p:nvPr/>
        </p:nvSpPr>
        <p:spPr>
          <a:xfrm>
            <a:off x="164592" y="4553712"/>
            <a:ext cx="8814816" cy="205740"/>
          </a:xfrm>
          <a:prstGeom prst="rect">
            <a:avLst/>
          </a:prstGeom>
          <a:solidFill>
            <a:srgbClr val="1A0808"/>
          </a:solidFill>
          <a:ln w="3810">
            <a:solidFill>
              <a:srgbClr val="1E2530"/>
            </a:solidFill>
            <a:prstDash val="solid"/>
          </a:ln>
        </p:spPr>
      </p:sp>
      <p:sp>
        <p:nvSpPr>
          <p:cNvPr id="100" name="Shape 98"/>
          <p:cNvSpPr/>
          <p:nvPr/>
        </p:nvSpPr>
        <p:spPr>
          <a:xfrm>
            <a:off x="1755648" y="4553712"/>
            <a:ext cx="0" cy="205740"/>
          </a:xfrm>
          <a:prstGeom prst="line">
            <a:avLst/>
          </a:prstGeom>
          <a:noFill/>
          <a:ln w="3810">
            <a:solidFill>
              <a:srgbClr val="30363D"/>
            </a:solidFill>
            <a:prstDash val="solid"/>
          </a:ln>
        </p:spPr>
      </p:sp>
      <p:sp>
        <p:nvSpPr>
          <p:cNvPr id="101" name="Shape 99"/>
          <p:cNvSpPr/>
          <p:nvPr/>
        </p:nvSpPr>
        <p:spPr>
          <a:xfrm>
            <a:off x="5047488" y="4553712"/>
            <a:ext cx="0" cy="205740"/>
          </a:xfrm>
          <a:prstGeom prst="line">
            <a:avLst/>
          </a:prstGeom>
          <a:noFill/>
          <a:ln w="3810">
            <a:solidFill>
              <a:srgbClr val="30363D"/>
            </a:solidFill>
            <a:prstDash val="solid"/>
          </a:ln>
        </p:spPr>
      </p:sp>
      <p:sp>
        <p:nvSpPr>
          <p:cNvPr id="102" name="Text 100"/>
          <p:cNvSpPr/>
          <p:nvPr/>
        </p:nvSpPr>
        <p:spPr>
          <a:xfrm>
            <a:off x="1828800" y="455371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DoS / sponge attacks</a:t>
            </a:r>
            <a:endParaRPr lang="en-US" sz="850" dirty="0"/>
          </a:p>
        </p:txBody>
      </p:sp>
      <p:sp>
        <p:nvSpPr>
          <p:cNvPr id="103" name="Text 101"/>
          <p:cNvSpPr/>
          <p:nvPr/>
        </p:nvSpPr>
        <p:spPr>
          <a:xfrm>
            <a:off x="5120640" y="455371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Cost and compute exhaustion</a:t>
            </a:r>
            <a:endParaRPr lang="en-US" sz="800" dirty="0"/>
          </a:p>
        </p:txBody>
      </p:sp>
      <p:sp>
        <p:nvSpPr>
          <p:cNvPr id="104" name="Shape 102"/>
          <p:cNvSpPr/>
          <p:nvPr/>
        </p:nvSpPr>
        <p:spPr>
          <a:xfrm>
            <a:off x="164592" y="4759452"/>
            <a:ext cx="8814816" cy="205740"/>
          </a:xfrm>
          <a:prstGeom prst="rect">
            <a:avLst/>
          </a:prstGeom>
          <a:solidFill>
            <a:srgbClr val="141414"/>
          </a:solidFill>
          <a:ln w="3810">
            <a:solidFill>
              <a:srgbClr val="1E2530"/>
            </a:solidFill>
            <a:prstDash val="solid"/>
          </a:ln>
        </p:spPr>
      </p:sp>
      <p:sp>
        <p:nvSpPr>
          <p:cNvPr id="105" name="Shape 103"/>
          <p:cNvSpPr/>
          <p:nvPr/>
        </p:nvSpPr>
        <p:spPr>
          <a:xfrm>
            <a:off x="1755648" y="4759452"/>
            <a:ext cx="0" cy="205740"/>
          </a:xfrm>
          <a:prstGeom prst="line">
            <a:avLst/>
          </a:prstGeom>
          <a:noFill/>
          <a:ln w="3810">
            <a:solidFill>
              <a:srgbClr val="30363D"/>
            </a:solidFill>
            <a:prstDash val="solid"/>
          </a:ln>
        </p:spPr>
      </p:sp>
      <p:sp>
        <p:nvSpPr>
          <p:cNvPr id="106" name="Shape 104"/>
          <p:cNvSpPr/>
          <p:nvPr/>
        </p:nvSpPr>
        <p:spPr>
          <a:xfrm>
            <a:off x="5047488" y="4759452"/>
            <a:ext cx="0" cy="205740"/>
          </a:xfrm>
          <a:prstGeom prst="line">
            <a:avLst/>
          </a:prstGeom>
          <a:noFill/>
          <a:ln w="3810">
            <a:solidFill>
              <a:srgbClr val="30363D"/>
            </a:solidFill>
            <a:prstDash val="solid"/>
          </a:ln>
        </p:spPr>
      </p:sp>
      <p:sp>
        <p:nvSpPr>
          <p:cNvPr id="107" name="Text 105"/>
          <p:cNvSpPr/>
          <p:nvPr/>
        </p:nvSpPr>
        <p:spPr>
          <a:xfrm>
            <a:off x="1828800" y="475945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Training data poisoning</a:t>
            </a:r>
            <a:endParaRPr lang="en-US" sz="850" dirty="0"/>
          </a:p>
        </p:txBody>
      </p:sp>
      <p:sp>
        <p:nvSpPr>
          <p:cNvPr id="108" name="Text 106"/>
          <p:cNvSpPr/>
          <p:nvPr/>
        </p:nvSpPr>
        <p:spPr>
          <a:xfrm>
            <a:off x="5120640" y="475945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Dataset manipulation</a:t>
            </a:r>
            <a:endParaRPr lang="en-US" sz="800" dirty="0"/>
          </a:p>
        </p:txBody>
      </p:sp>
      <p:sp>
        <p:nvSpPr>
          <p:cNvPr id="109" name="Shape 107"/>
          <p:cNvSpPr/>
          <p:nvPr/>
        </p:nvSpPr>
        <p:spPr>
          <a:xfrm>
            <a:off x="164592" y="4965192"/>
            <a:ext cx="8814816" cy="205740"/>
          </a:xfrm>
          <a:prstGeom prst="rect">
            <a:avLst/>
          </a:prstGeom>
          <a:solidFill>
            <a:srgbClr val="141414"/>
          </a:solidFill>
          <a:ln w="3810">
            <a:solidFill>
              <a:srgbClr val="1E2530"/>
            </a:solidFill>
            <a:prstDash val="solid"/>
          </a:ln>
        </p:spPr>
      </p:sp>
      <p:sp>
        <p:nvSpPr>
          <p:cNvPr id="110" name="Shape 108"/>
          <p:cNvSpPr/>
          <p:nvPr/>
        </p:nvSpPr>
        <p:spPr>
          <a:xfrm>
            <a:off x="1755648" y="4965192"/>
            <a:ext cx="0" cy="205740"/>
          </a:xfrm>
          <a:prstGeom prst="line">
            <a:avLst/>
          </a:prstGeom>
          <a:noFill/>
          <a:ln w="3810">
            <a:solidFill>
              <a:srgbClr val="30363D"/>
            </a:solidFill>
            <a:prstDash val="solid"/>
          </a:ln>
        </p:spPr>
      </p:sp>
      <p:sp>
        <p:nvSpPr>
          <p:cNvPr id="111" name="Shape 109"/>
          <p:cNvSpPr/>
          <p:nvPr/>
        </p:nvSpPr>
        <p:spPr>
          <a:xfrm>
            <a:off x="5047488" y="4965192"/>
            <a:ext cx="0" cy="205740"/>
          </a:xfrm>
          <a:prstGeom prst="line">
            <a:avLst/>
          </a:prstGeom>
          <a:noFill/>
          <a:ln w="3810">
            <a:solidFill>
              <a:srgbClr val="30363D"/>
            </a:solidFill>
            <a:prstDash val="solid"/>
          </a:ln>
        </p:spPr>
      </p:sp>
      <p:sp>
        <p:nvSpPr>
          <p:cNvPr id="112" name="Text 110"/>
          <p:cNvSpPr/>
          <p:nvPr/>
        </p:nvSpPr>
        <p:spPr>
          <a:xfrm>
            <a:off x="1828800" y="4965192"/>
            <a:ext cx="3108960" cy="205740"/>
          </a:xfrm>
          <a:prstGeom prst="rect">
            <a:avLst/>
          </a:prstGeom>
          <a:noFill/>
          <a:ln/>
        </p:spPr>
        <p:txBody>
          <a:bodyPr wrap="square" lIns="0" tIns="0" rIns="0" bIns="0" rtlCol="0" anchor="ctr"/>
          <a:lstStyle/>
          <a:p>
            <a:pPr marL="0" indent="0">
              <a:buNone/>
            </a:pPr>
            <a:r>
              <a:rPr lang="en-US" sz="850" b="1" dirty="0">
                <a:solidFill>
                  <a:srgbClr val="E6EDF3"/>
                </a:solidFill>
              </a:rPr>
              <a:t>LoRA / adapter poisoning</a:t>
            </a:r>
            <a:endParaRPr lang="en-US" sz="850" dirty="0"/>
          </a:p>
        </p:txBody>
      </p:sp>
      <p:sp>
        <p:nvSpPr>
          <p:cNvPr id="113" name="Text 111"/>
          <p:cNvSpPr/>
          <p:nvPr/>
        </p:nvSpPr>
        <p:spPr>
          <a:xfrm>
            <a:off x="5120640" y="4965192"/>
            <a:ext cx="3749040" cy="205740"/>
          </a:xfrm>
          <a:prstGeom prst="rect">
            <a:avLst/>
          </a:prstGeom>
          <a:noFill/>
          <a:ln/>
        </p:spPr>
        <p:txBody>
          <a:bodyPr wrap="square" lIns="0" tIns="0" rIns="0" bIns="0" rtlCol="0" anchor="ctr"/>
          <a:lstStyle/>
          <a:p>
            <a:pPr marL="0" indent="0">
              <a:buNone/>
            </a:pPr>
            <a:r>
              <a:rPr lang="en-US" sz="800" i="1" dirty="0">
                <a:solidFill>
                  <a:srgbClr val="8B949E"/>
                </a:solidFill>
              </a:rPr>
              <a:t>Malicious fine-tune artifacts</a:t>
            </a:r>
            <a:endParaRPr lang="en-US" sz="800" dirty="0"/>
          </a:p>
        </p:txBody>
      </p:sp>
      <p:sp>
        <p:nvSpPr>
          <p:cNvPr id="114" name="Shape 112"/>
          <p:cNvSpPr/>
          <p:nvPr/>
        </p:nvSpPr>
        <p:spPr>
          <a:xfrm>
            <a:off x="164592" y="850392"/>
            <a:ext cx="50292" cy="617220"/>
          </a:xfrm>
          <a:prstGeom prst="rect">
            <a:avLst/>
          </a:prstGeom>
          <a:solidFill>
            <a:srgbClr val="E05252"/>
          </a:solidFill>
          <a:ln w="12700">
            <a:solidFill>
              <a:srgbClr val="E05252"/>
            </a:solidFill>
            <a:prstDash val="solid"/>
          </a:ln>
        </p:spPr>
      </p:sp>
      <p:sp>
        <p:nvSpPr>
          <p:cNvPr id="115" name="Text 113"/>
          <p:cNvSpPr/>
          <p:nvPr/>
        </p:nvSpPr>
        <p:spPr>
          <a:xfrm>
            <a:off x="246888" y="850392"/>
            <a:ext cx="1481328" cy="617220"/>
          </a:xfrm>
          <a:prstGeom prst="rect">
            <a:avLst/>
          </a:prstGeom>
          <a:noFill/>
          <a:ln/>
        </p:spPr>
        <p:txBody>
          <a:bodyPr wrap="square" lIns="0" tIns="0" rIns="0" bIns="0" rtlCol="0" anchor="ctr"/>
          <a:lstStyle/>
          <a:p>
            <a:pPr marL="0" indent="0">
              <a:buNone/>
            </a:pPr>
            <a:r>
              <a:rPr lang="en-US" sz="700" b="1" kern="0" spc="50" dirty="0">
                <a:solidFill>
                  <a:srgbClr val="F47171"/>
                </a:solidFill>
              </a:rPr>
              <a:t>INITIAL ACCESS</a:t>
            </a:r>
            <a:endParaRPr lang="en-US" sz="700" dirty="0"/>
          </a:p>
        </p:txBody>
      </p:sp>
      <p:sp>
        <p:nvSpPr>
          <p:cNvPr id="116" name="Shape 114"/>
          <p:cNvSpPr/>
          <p:nvPr/>
        </p:nvSpPr>
        <p:spPr>
          <a:xfrm>
            <a:off x="164592" y="1467612"/>
            <a:ext cx="50292" cy="617220"/>
          </a:xfrm>
          <a:prstGeom prst="rect">
            <a:avLst/>
          </a:prstGeom>
          <a:solidFill>
            <a:srgbClr val="E07040"/>
          </a:solidFill>
          <a:ln w="12700">
            <a:solidFill>
              <a:srgbClr val="E07040"/>
            </a:solidFill>
            <a:prstDash val="solid"/>
          </a:ln>
        </p:spPr>
      </p:sp>
      <p:sp>
        <p:nvSpPr>
          <p:cNvPr id="117" name="Text 115"/>
          <p:cNvSpPr/>
          <p:nvPr/>
        </p:nvSpPr>
        <p:spPr>
          <a:xfrm>
            <a:off x="246888" y="1467612"/>
            <a:ext cx="1481328" cy="617220"/>
          </a:xfrm>
          <a:prstGeom prst="rect">
            <a:avLst/>
          </a:prstGeom>
          <a:noFill/>
          <a:ln/>
        </p:spPr>
        <p:txBody>
          <a:bodyPr wrap="square" lIns="0" tIns="0" rIns="0" bIns="0" rtlCol="0" anchor="ctr"/>
          <a:lstStyle/>
          <a:p>
            <a:pPr marL="0" indent="0">
              <a:buNone/>
            </a:pPr>
            <a:r>
              <a:rPr lang="en-US" sz="700" b="1" kern="0" spc="50" dirty="0">
                <a:solidFill>
                  <a:srgbClr val="F59060"/>
                </a:solidFill>
              </a:rPr>
              <a:t>EXECUTION</a:t>
            </a:r>
            <a:endParaRPr lang="en-US" sz="700" dirty="0"/>
          </a:p>
        </p:txBody>
      </p:sp>
      <p:sp>
        <p:nvSpPr>
          <p:cNvPr id="118" name="Shape 116"/>
          <p:cNvSpPr/>
          <p:nvPr/>
        </p:nvSpPr>
        <p:spPr>
          <a:xfrm>
            <a:off x="164592" y="2084832"/>
            <a:ext cx="50292" cy="411480"/>
          </a:xfrm>
          <a:prstGeom prst="rect">
            <a:avLst/>
          </a:prstGeom>
          <a:solidFill>
            <a:srgbClr val="D4A017"/>
          </a:solidFill>
          <a:ln w="12700">
            <a:solidFill>
              <a:srgbClr val="D4A017"/>
            </a:solidFill>
            <a:prstDash val="solid"/>
          </a:ln>
        </p:spPr>
      </p:sp>
      <p:sp>
        <p:nvSpPr>
          <p:cNvPr id="119" name="Text 117"/>
          <p:cNvSpPr/>
          <p:nvPr/>
        </p:nvSpPr>
        <p:spPr>
          <a:xfrm>
            <a:off x="246888" y="2084832"/>
            <a:ext cx="1481328" cy="411480"/>
          </a:xfrm>
          <a:prstGeom prst="rect">
            <a:avLst/>
          </a:prstGeom>
          <a:noFill/>
          <a:ln/>
        </p:spPr>
        <p:txBody>
          <a:bodyPr wrap="square" lIns="0" tIns="0" rIns="0" bIns="0" rtlCol="0" anchor="ctr"/>
          <a:lstStyle/>
          <a:p>
            <a:pPr marL="0" indent="0">
              <a:buNone/>
            </a:pPr>
            <a:r>
              <a:rPr lang="en-US" sz="700" b="1" kern="0" spc="50" dirty="0">
                <a:solidFill>
                  <a:srgbClr val="F0C040"/>
                </a:solidFill>
              </a:rPr>
              <a:t>PERSISTENCE</a:t>
            </a:r>
            <a:endParaRPr lang="en-US" sz="700" dirty="0"/>
          </a:p>
        </p:txBody>
      </p:sp>
      <p:sp>
        <p:nvSpPr>
          <p:cNvPr id="120" name="Shape 118"/>
          <p:cNvSpPr/>
          <p:nvPr/>
        </p:nvSpPr>
        <p:spPr>
          <a:xfrm>
            <a:off x="164592" y="2496312"/>
            <a:ext cx="50292" cy="411480"/>
          </a:xfrm>
          <a:prstGeom prst="rect">
            <a:avLst/>
          </a:prstGeom>
          <a:solidFill>
            <a:srgbClr val="9A7FE0"/>
          </a:solidFill>
          <a:ln w="12700">
            <a:solidFill>
              <a:srgbClr val="9A7FE0"/>
            </a:solidFill>
            <a:prstDash val="solid"/>
          </a:ln>
        </p:spPr>
      </p:sp>
      <p:sp>
        <p:nvSpPr>
          <p:cNvPr id="121" name="Text 119"/>
          <p:cNvSpPr/>
          <p:nvPr/>
        </p:nvSpPr>
        <p:spPr>
          <a:xfrm>
            <a:off x="246888" y="2496312"/>
            <a:ext cx="1481328" cy="411480"/>
          </a:xfrm>
          <a:prstGeom prst="rect">
            <a:avLst/>
          </a:prstGeom>
          <a:noFill/>
          <a:ln/>
        </p:spPr>
        <p:txBody>
          <a:bodyPr wrap="square" lIns="0" tIns="0" rIns="0" bIns="0" rtlCol="0" anchor="ctr"/>
          <a:lstStyle/>
          <a:p>
            <a:pPr marL="0" indent="0">
              <a:buNone/>
            </a:pPr>
            <a:r>
              <a:rPr lang="en-US" sz="700" b="1" kern="0" spc="50" dirty="0">
                <a:solidFill>
                  <a:srgbClr val="B39DED"/>
                </a:solidFill>
              </a:rPr>
              <a:t>PRIVILEGE ESCALATION</a:t>
            </a:r>
            <a:endParaRPr lang="en-US" sz="700" dirty="0"/>
          </a:p>
        </p:txBody>
      </p:sp>
      <p:sp>
        <p:nvSpPr>
          <p:cNvPr id="122" name="Shape 120"/>
          <p:cNvSpPr/>
          <p:nvPr/>
        </p:nvSpPr>
        <p:spPr>
          <a:xfrm>
            <a:off x="164592" y="2907792"/>
            <a:ext cx="50292" cy="411480"/>
          </a:xfrm>
          <a:prstGeom prst="rect">
            <a:avLst/>
          </a:prstGeom>
          <a:solidFill>
            <a:srgbClr val="3B8BD4"/>
          </a:solidFill>
          <a:ln w="12700">
            <a:solidFill>
              <a:srgbClr val="3B8BD4"/>
            </a:solidFill>
            <a:prstDash val="solid"/>
          </a:ln>
        </p:spPr>
      </p:sp>
      <p:sp>
        <p:nvSpPr>
          <p:cNvPr id="123" name="Text 121"/>
          <p:cNvSpPr/>
          <p:nvPr/>
        </p:nvSpPr>
        <p:spPr>
          <a:xfrm>
            <a:off x="246888" y="2907792"/>
            <a:ext cx="1481328" cy="411480"/>
          </a:xfrm>
          <a:prstGeom prst="rect">
            <a:avLst/>
          </a:prstGeom>
          <a:noFill/>
          <a:ln/>
        </p:spPr>
        <p:txBody>
          <a:bodyPr wrap="square" lIns="0" tIns="0" rIns="0" bIns="0" rtlCol="0" anchor="ctr"/>
          <a:lstStyle/>
          <a:p>
            <a:pPr marL="0" indent="0">
              <a:buNone/>
            </a:pPr>
            <a:r>
              <a:rPr lang="en-US" sz="700" b="1" kern="0" spc="50" dirty="0">
                <a:solidFill>
                  <a:srgbClr val="60AFEE"/>
                </a:solidFill>
              </a:rPr>
              <a:t>DEFENSE EVASION</a:t>
            </a:r>
            <a:endParaRPr lang="en-US" sz="700" dirty="0"/>
          </a:p>
        </p:txBody>
      </p:sp>
      <p:sp>
        <p:nvSpPr>
          <p:cNvPr id="124" name="Shape 122"/>
          <p:cNvSpPr/>
          <p:nvPr/>
        </p:nvSpPr>
        <p:spPr>
          <a:xfrm>
            <a:off x="164592" y="3319272"/>
            <a:ext cx="50292" cy="205740"/>
          </a:xfrm>
          <a:prstGeom prst="rect">
            <a:avLst/>
          </a:prstGeom>
          <a:solidFill>
            <a:srgbClr val="2EA87E"/>
          </a:solidFill>
          <a:ln w="12700">
            <a:solidFill>
              <a:srgbClr val="2EA87E"/>
            </a:solidFill>
            <a:prstDash val="solid"/>
          </a:ln>
        </p:spPr>
      </p:sp>
      <p:sp>
        <p:nvSpPr>
          <p:cNvPr id="125" name="Text 123"/>
          <p:cNvSpPr/>
          <p:nvPr/>
        </p:nvSpPr>
        <p:spPr>
          <a:xfrm>
            <a:off x="246888" y="3319272"/>
            <a:ext cx="1481328" cy="205740"/>
          </a:xfrm>
          <a:prstGeom prst="rect">
            <a:avLst/>
          </a:prstGeom>
          <a:noFill/>
          <a:ln/>
        </p:spPr>
        <p:txBody>
          <a:bodyPr wrap="square" lIns="0" tIns="0" rIns="0" bIns="0" rtlCol="0" anchor="ctr"/>
          <a:lstStyle/>
          <a:p>
            <a:pPr marL="0" indent="0">
              <a:buNone/>
            </a:pPr>
            <a:r>
              <a:rPr lang="en-US" sz="700" b="1" kern="0" spc="50" dirty="0">
                <a:solidFill>
                  <a:srgbClr val="4DC9A0"/>
                </a:solidFill>
              </a:rPr>
              <a:t>CREDENTIAL ACCESS</a:t>
            </a:r>
            <a:endParaRPr lang="en-US" sz="700" dirty="0"/>
          </a:p>
        </p:txBody>
      </p:sp>
      <p:sp>
        <p:nvSpPr>
          <p:cNvPr id="126" name="Shape 124"/>
          <p:cNvSpPr/>
          <p:nvPr/>
        </p:nvSpPr>
        <p:spPr>
          <a:xfrm>
            <a:off x="164592" y="3525012"/>
            <a:ext cx="50292" cy="205740"/>
          </a:xfrm>
          <a:prstGeom prst="rect">
            <a:avLst/>
          </a:prstGeom>
          <a:solidFill>
            <a:srgbClr val="2EA87E"/>
          </a:solidFill>
          <a:ln w="12700">
            <a:solidFill>
              <a:srgbClr val="2EA87E"/>
            </a:solidFill>
            <a:prstDash val="solid"/>
          </a:ln>
        </p:spPr>
      </p:sp>
      <p:sp>
        <p:nvSpPr>
          <p:cNvPr id="127" name="Text 125"/>
          <p:cNvSpPr/>
          <p:nvPr/>
        </p:nvSpPr>
        <p:spPr>
          <a:xfrm>
            <a:off x="246888" y="3525012"/>
            <a:ext cx="1481328" cy="205740"/>
          </a:xfrm>
          <a:prstGeom prst="rect">
            <a:avLst/>
          </a:prstGeom>
          <a:noFill/>
          <a:ln/>
        </p:spPr>
        <p:txBody>
          <a:bodyPr wrap="square" lIns="0" tIns="0" rIns="0" bIns="0" rtlCol="0" anchor="ctr"/>
          <a:lstStyle/>
          <a:p>
            <a:pPr marL="0" indent="0">
              <a:buNone/>
            </a:pPr>
            <a:r>
              <a:rPr lang="en-US" sz="700" b="1" kern="0" spc="50" dirty="0">
                <a:solidFill>
                  <a:srgbClr val="4DC9A0"/>
                </a:solidFill>
              </a:rPr>
              <a:t>DISCOVERY</a:t>
            </a:r>
            <a:endParaRPr lang="en-US" sz="700" dirty="0"/>
          </a:p>
        </p:txBody>
      </p:sp>
      <p:sp>
        <p:nvSpPr>
          <p:cNvPr id="128" name="Shape 126"/>
          <p:cNvSpPr/>
          <p:nvPr/>
        </p:nvSpPr>
        <p:spPr>
          <a:xfrm>
            <a:off x="164592" y="3730752"/>
            <a:ext cx="50292" cy="411480"/>
          </a:xfrm>
          <a:prstGeom prst="rect">
            <a:avLst/>
          </a:prstGeom>
          <a:solidFill>
            <a:srgbClr val="4A9B4A"/>
          </a:solidFill>
          <a:ln w="12700">
            <a:solidFill>
              <a:srgbClr val="4A9B4A"/>
            </a:solidFill>
            <a:prstDash val="solid"/>
          </a:ln>
        </p:spPr>
      </p:sp>
      <p:sp>
        <p:nvSpPr>
          <p:cNvPr id="129" name="Text 127"/>
          <p:cNvSpPr/>
          <p:nvPr/>
        </p:nvSpPr>
        <p:spPr>
          <a:xfrm>
            <a:off x="246888" y="3730752"/>
            <a:ext cx="1481328" cy="411480"/>
          </a:xfrm>
          <a:prstGeom prst="rect">
            <a:avLst/>
          </a:prstGeom>
          <a:noFill/>
          <a:ln/>
        </p:spPr>
        <p:txBody>
          <a:bodyPr wrap="square" lIns="0" tIns="0" rIns="0" bIns="0" rtlCol="0" anchor="ctr"/>
          <a:lstStyle/>
          <a:p>
            <a:pPr marL="0" indent="0">
              <a:buNone/>
            </a:pPr>
            <a:r>
              <a:rPr lang="en-US" sz="700" b="1" kern="0" spc="50" dirty="0">
                <a:solidFill>
                  <a:srgbClr val="6ABF6A"/>
                </a:solidFill>
              </a:rPr>
              <a:t>COLLECTION</a:t>
            </a:r>
            <a:endParaRPr lang="en-US" sz="700" dirty="0"/>
          </a:p>
        </p:txBody>
      </p:sp>
      <p:sp>
        <p:nvSpPr>
          <p:cNvPr id="130" name="Shape 128"/>
          <p:cNvSpPr/>
          <p:nvPr/>
        </p:nvSpPr>
        <p:spPr>
          <a:xfrm>
            <a:off x="164592" y="4142232"/>
            <a:ext cx="50292" cy="205740"/>
          </a:xfrm>
          <a:prstGeom prst="rect">
            <a:avLst/>
          </a:prstGeom>
          <a:solidFill>
            <a:srgbClr val="3A7FC1"/>
          </a:solidFill>
          <a:ln w="12700">
            <a:solidFill>
              <a:srgbClr val="3A7FC1"/>
            </a:solidFill>
            <a:prstDash val="solid"/>
          </a:ln>
        </p:spPr>
      </p:sp>
      <p:sp>
        <p:nvSpPr>
          <p:cNvPr id="131" name="Text 129"/>
          <p:cNvSpPr/>
          <p:nvPr/>
        </p:nvSpPr>
        <p:spPr>
          <a:xfrm>
            <a:off x="246888" y="4142232"/>
            <a:ext cx="1481328" cy="205740"/>
          </a:xfrm>
          <a:prstGeom prst="rect">
            <a:avLst/>
          </a:prstGeom>
          <a:noFill/>
          <a:ln/>
        </p:spPr>
        <p:txBody>
          <a:bodyPr wrap="square" lIns="0" tIns="0" rIns="0" bIns="0" rtlCol="0" anchor="ctr"/>
          <a:lstStyle/>
          <a:p>
            <a:pPr marL="0" indent="0">
              <a:buNone/>
            </a:pPr>
            <a:r>
              <a:rPr lang="en-US" sz="700" b="1" kern="0" spc="50" dirty="0">
                <a:solidFill>
                  <a:srgbClr val="5BA0E0"/>
                </a:solidFill>
              </a:rPr>
              <a:t>EXFILTRATION</a:t>
            </a:r>
            <a:endParaRPr lang="en-US" sz="700" dirty="0"/>
          </a:p>
        </p:txBody>
      </p:sp>
      <p:sp>
        <p:nvSpPr>
          <p:cNvPr id="132" name="Shape 130"/>
          <p:cNvSpPr/>
          <p:nvPr/>
        </p:nvSpPr>
        <p:spPr>
          <a:xfrm>
            <a:off x="164592" y="4347972"/>
            <a:ext cx="50292" cy="411480"/>
          </a:xfrm>
          <a:prstGeom prst="rect">
            <a:avLst/>
          </a:prstGeom>
          <a:solidFill>
            <a:srgbClr val="CC3333"/>
          </a:solidFill>
          <a:ln w="12700">
            <a:solidFill>
              <a:srgbClr val="CC3333"/>
            </a:solidFill>
            <a:prstDash val="solid"/>
          </a:ln>
        </p:spPr>
      </p:sp>
      <p:sp>
        <p:nvSpPr>
          <p:cNvPr id="133" name="Text 131"/>
          <p:cNvSpPr/>
          <p:nvPr/>
        </p:nvSpPr>
        <p:spPr>
          <a:xfrm>
            <a:off x="246888" y="4347972"/>
            <a:ext cx="1481328" cy="411480"/>
          </a:xfrm>
          <a:prstGeom prst="rect">
            <a:avLst/>
          </a:prstGeom>
          <a:noFill/>
          <a:ln/>
        </p:spPr>
        <p:txBody>
          <a:bodyPr wrap="square" lIns="0" tIns="0" rIns="0" bIns="0" rtlCol="0" anchor="ctr"/>
          <a:lstStyle/>
          <a:p>
            <a:pPr marL="0" indent="0">
              <a:buNone/>
            </a:pPr>
            <a:r>
              <a:rPr lang="en-US" sz="700" b="1" kern="0" spc="50" dirty="0">
                <a:solidFill>
                  <a:srgbClr val="E05555"/>
                </a:solidFill>
              </a:rPr>
              <a:t>IMPACT</a:t>
            </a:r>
            <a:endParaRPr lang="en-US" sz="700" dirty="0"/>
          </a:p>
        </p:txBody>
      </p:sp>
      <p:sp>
        <p:nvSpPr>
          <p:cNvPr id="134" name="Shape 132"/>
          <p:cNvSpPr/>
          <p:nvPr/>
        </p:nvSpPr>
        <p:spPr>
          <a:xfrm>
            <a:off x="164592" y="4759452"/>
            <a:ext cx="50292" cy="411480"/>
          </a:xfrm>
          <a:prstGeom prst="rect">
            <a:avLst/>
          </a:prstGeom>
          <a:solidFill>
            <a:srgbClr val="888888"/>
          </a:solidFill>
          <a:ln w="12700">
            <a:solidFill>
              <a:srgbClr val="888888"/>
            </a:solidFill>
            <a:prstDash val="solid"/>
          </a:ln>
        </p:spPr>
      </p:sp>
      <p:sp>
        <p:nvSpPr>
          <p:cNvPr id="135" name="Text 133"/>
          <p:cNvSpPr/>
          <p:nvPr/>
        </p:nvSpPr>
        <p:spPr>
          <a:xfrm>
            <a:off x="246888" y="4759452"/>
            <a:ext cx="1481328" cy="411480"/>
          </a:xfrm>
          <a:prstGeom prst="rect">
            <a:avLst/>
          </a:prstGeom>
          <a:noFill/>
          <a:ln/>
        </p:spPr>
        <p:txBody>
          <a:bodyPr wrap="square" lIns="0" tIns="0" rIns="0" bIns="0" rtlCol="0" anchor="ctr"/>
          <a:lstStyle/>
          <a:p>
            <a:pPr marL="0" indent="0">
              <a:buNone/>
            </a:pPr>
            <a:r>
              <a:rPr lang="en-US" sz="700" b="1" kern="0" spc="50" dirty="0">
                <a:solidFill>
                  <a:srgbClr val="AAAAAA"/>
                </a:solidFill>
              </a:rPr>
              <a:t>SUPPLY CHAIN</a:t>
            </a:r>
            <a:endParaRPr lang="en-US" sz="700" dirty="0"/>
          </a:p>
        </p:txBody>
      </p:sp>
      <p:sp>
        <p:nvSpPr>
          <p:cNvPr id="136" name="Text 134"/>
          <p:cNvSpPr/>
          <p:nvPr/>
        </p:nvSpPr>
        <p:spPr>
          <a:xfrm>
            <a:off x="164592" y="5216652"/>
            <a:ext cx="8814816" cy="182880"/>
          </a:xfrm>
          <a:prstGeom prst="rect">
            <a:avLst/>
          </a:prstGeom>
          <a:noFill/>
          <a:ln/>
        </p:spPr>
        <p:txBody>
          <a:bodyPr wrap="square" lIns="0" tIns="0" rIns="0" bIns="0" rtlCol="0" anchor="ctr"/>
          <a:lstStyle/>
          <a:p>
            <a:pPr marL="0" indent="0" algn="ctr">
              <a:buNone/>
            </a:pPr>
            <a:r>
              <a:rPr lang="en-US" sz="700" dirty="0">
                <a:solidFill>
                  <a:srgbClr val="3D444D"/>
                </a:solidFill>
              </a:rPr>
              <a:t>LLM Security Threat Matrix  ·  MITRE ATT&amp;CK inspired taxonomy  ·  2025</a:t>
            </a:r>
            <a:endParaRPr lang="en-US" sz="700" dirty="0"/>
          </a:p>
        </p:txBody>
      </p:sp>
    </p:spTree>
    <p:extLst>
      <p:ext uri="{BB962C8B-B14F-4D97-AF65-F5344CB8AC3E}">
        <p14:creationId xmlns:p14="http://schemas.microsoft.com/office/powerpoint/2010/main" val="859105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CE66C361-DB5C-4DD4-1501-5A7AC160A4E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1BC885F-EF2A-256B-021C-3D4C1A6C1B0F}"/>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588A296C-B204-715E-B0AA-28EA3C5E6452}"/>
              </a:ext>
            </a:extLst>
          </p:cNvPr>
          <p:cNvSpPr/>
          <p:nvPr/>
        </p:nvSpPr>
        <p:spPr>
          <a:xfrm>
            <a:off x="137160" y="164592"/>
            <a:ext cx="6400800" cy="502920"/>
          </a:xfrm>
          <a:prstGeom prst="rect">
            <a:avLst/>
          </a:prstGeom>
          <a:noFill/>
          <a:ln/>
        </p:spPr>
        <p:txBody>
          <a:bodyPr wrap="square" lIns="0" tIns="0" rIns="0" bIns="0" rtlCol="0" anchor="ctr"/>
          <a:lstStyle/>
          <a:p>
            <a:r>
              <a:rPr lang="en-US" sz="2800" b="1">
                <a:solidFill>
                  <a:srgbClr val="F0EDE8"/>
                </a:solidFill>
                <a:latin typeface="Arial Black"/>
              </a:rPr>
              <a:t>Observability</a:t>
            </a:r>
            <a:endParaRPr lang="en-US" sz="2800" b="1" dirty="0">
              <a:solidFill>
                <a:srgbClr val="F0EDE8"/>
              </a:solidFill>
              <a:latin typeface="Arial Black"/>
            </a:endParaRPr>
          </a:p>
        </p:txBody>
      </p:sp>
      <p:sp>
        <p:nvSpPr>
          <p:cNvPr id="6" name="Text 4">
            <a:extLst>
              <a:ext uri="{FF2B5EF4-FFF2-40B4-BE49-F238E27FC236}">
                <a16:creationId xmlns:a16="http://schemas.microsoft.com/office/drawing/2014/main" id="{E1CB1A70-FBCA-4F1A-3A24-3BE44532847A}"/>
              </a:ext>
            </a:extLst>
          </p:cNvPr>
          <p:cNvSpPr/>
          <p:nvPr/>
        </p:nvSpPr>
        <p:spPr>
          <a:xfrm>
            <a:off x="320040" y="914400"/>
            <a:ext cx="4663440" cy="3474720"/>
          </a:xfrm>
          <a:prstGeom prst="rect">
            <a:avLst/>
          </a:prstGeom>
          <a:noFill/>
          <a:ln/>
        </p:spPr>
        <p:txBody>
          <a:bodyPr wrap="square" lIns="91440" tIns="45720" rIns="91440" bIns="45720" rtlCol="0" anchor="t"/>
          <a:lstStyle/>
          <a:p>
            <a:pPr>
              <a:buSzPct val="100000"/>
              <a:buFont typeface="Arial"/>
              <a:buChar char="•"/>
            </a:pPr>
            <a:endParaRPr lang="en-US" sz="1200" dirty="0">
              <a:solidFill>
                <a:srgbClr val="F0EDE8"/>
              </a:solidFill>
              <a:latin typeface="JetBrains Mono"/>
              <a:ea typeface="JetBrains Mono"/>
              <a:cs typeface="Courier New"/>
            </a:endParaRPr>
          </a:p>
          <a:p>
            <a:pPr marL="342900" indent="-342900" algn="l">
              <a:spcAft>
                <a:spcPts val="1200"/>
              </a:spcAft>
              <a:buSzPct val="100000"/>
              <a:buChar char="•"/>
            </a:pPr>
            <a:endParaRPr lang="en-US" sz="1300" dirty="0">
              <a:solidFill>
                <a:srgbClr val="F0EDE8"/>
              </a:solidFill>
              <a:latin typeface="Calibri"/>
              <a:ea typeface="Calibri"/>
              <a:cs typeface="Calibri"/>
            </a:endParaRPr>
          </a:p>
        </p:txBody>
      </p:sp>
      <p:sp>
        <p:nvSpPr>
          <p:cNvPr id="13" name="Shape 11">
            <a:extLst>
              <a:ext uri="{FF2B5EF4-FFF2-40B4-BE49-F238E27FC236}">
                <a16:creationId xmlns:a16="http://schemas.microsoft.com/office/drawing/2014/main" id="{ED9E279B-F551-2F48-8919-7087087E22BA}"/>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FD29475E-37FF-EC7D-18B6-3934A07E467E}"/>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77A31466-CBEA-77EA-19AF-6E4158642CBE}"/>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A1CE0F4C-CC45-6F4F-0E82-36AAF348E8E7}"/>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
        <p:nvSpPr>
          <p:cNvPr id="19" name="Shape 2">
            <a:extLst>
              <a:ext uri="{FF2B5EF4-FFF2-40B4-BE49-F238E27FC236}">
                <a16:creationId xmlns:a16="http://schemas.microsoft.com/office/drawing/2014/main" id="{35ACB8D3-4C81-E3EE-1906-2318FC68F696}"/>
              </a:ext>
            </a:extLst>
          </p:cNvPr>
          <p:cNvSpPr/>
          <p:nvPr/>
        </p:nvSpPr>
        <p:spPr>
          <a:xfrm>
            <a:off x="137160" y="822960"/>
            <a:ext cx="5029200" cy="3749040"/>
          </a:xfrm>
          <a:prstGeom prst="rect">
            <a:avLst/>
          </a:prstGeom>
          <a:solidFill>
            <a:srgbClr val="1E1E1E"/>
          </a:solidFill>
          <a:ln w="6350">
            <a:solidFill>
              <a:srgbClr val="3A3A3A"/>
            </a:solidFill>
            <a:prstDash val="solid"/>
          </a:ln>
        </p:spPr>
      </p:sp>
      <p:sp>
        <p:nvSpPr>
          <p:cNvPr id="21" name="Shape 3">
            <a:extLst>
              <a:ext uri="{FF2B5EF4-FFF2-40B4-BE49-F238E27FC236}">
                <a16:creationId xmlns:a16="http://schemas.microsoft.com/office/drawing/2014/main" id="{7F2B6997-14B5-9CCA-7F1C-89A25A016B93}"/>
              </a:ext>
            </a:extLst>
          </p:cNvPr>
          <p:cNvSpPr/>
          <p:nvPr/>
        </p:nvSpPr>
        <p:spPr>
          <a:xfrm>
            <a:off x="137160" y="822960"/>
            <a:ext cx="64008" cy="3749040"/>
          </a:xfrm>
          <a:prstGeom prst="rect">
            <a:avLst/>
          </a:prstGeom>
          <a:solidFill>
            <a:srgbClr val="7A0000"/>
          </a:solidFill>
          <a:ln w="12700">
            <a:solidFill>
              <a:srgbClr val="7A0000"/>
            </a:solidFill>
            <a:prstDash val="solid"/>
          </a:ln>
        </p:spPr>
      </p:sp>
      <p:sp>
        <p:nvSpPr>
          <p:cNvPr id="23" name="Text 4">
            <a:extLst>
              <a:ext uri="{FF2B5EF4-FFF2-40B4-BE49-F238E27FC236}">
                <a16:creationId xmlns:a16="http://schemas.microsoft.com/office/drawing/2014/main" id="{9BCF06EC-550C-D389-8D4B-49D2376AB3B2}"/>
              </a:ext>
            </a:extLst>
          </p:cNvPr>
          <p:cNvSpPr/>
          <p:nvPr/>
        </p:nvSpPr>
        <p:spPr>
          <a:xfrm>
            <a:off x="472440" y="1066800"/>
            <a:ext cx="4663440" cy="3474720"/>
          </a:xfrm>
          <a:prstGeom prst="rect">
            <a:avLst/>
          </a:prstGeom>
          <a:noFill/>
          <a:ln/>
        </p:spPr>
        <p:txBody>
          <a:bodyPr wrap="square" lIns="91440" tIns="45720" rIns="91440" bIns="45720" rtlCol="0" anchor="t"/>
          <a:lstStyle/>
          <a:p>
            <a:pPr>
              <a:buSzPct val="100000"/>
              <a:buFont typeface="Arial"/>
              <a:buChar char="•"/>
            </a:pPr>
            <a:r>
              <a:rPr lang="en-US" sz="1200">
                <a:solidFill>
                  <a:srgbClr val="F0EDE8"/>
                </a:solidFill>
                <a:latin typeface="JetBrains Mono"/>
                <a:ea typeface="+mn-lt"/>
                <a:cs typeface="+mn-lt"/>
              </a:rPr>
              <a:t>Log inputs, outputs, and tool calls, not just errors</a:t>
            </a:r>
            <a:endParaRPr lang="en-US" sz="1200">
              <a:solidFill>
                <a:srgbClr val="F0EDE8"/>
              </a:solidFill>
              <a:latin typeface="JetBrains Mono"/>
              <a:ea typeface="+mn-lt"/>
              <a:cs typeface="Courier New"/>
            </a:endParaRPr>
          </a:p>
          <a:p>
            <a:pPr>
              <a:buSzPct val="100000"/>
              <a:buFont typeface="Arial"/>
              <a:buChar char="•"/>
            </a:pPr>
            <a:endParaRPr lang="en-US" sz="1200" dirty="0">
              <a:solidFill>
                <a:srgbClr val="F0EDE8"/>
              </a:solidFill>
              <a:latin typeface="JetBrains Mono"/>
              <a:ea typeface="+mn-lt"/>
              <a:cs typeface="Courier New"/>
            </a:endParaRPr>
          </a:p>
          <a:p>
            <a:pPr>
              <a:buFont typeface="Arial"/>
              <a:buChar char="•"/>
            </a:pPr>
            <a:r>
              <a:rPr lang="en-US" sz="1200" dirty="0">
                <a:solidFill>
                  <a:srgbClr val="F0EDE8"/>
                </a:solidFill>
                <a:latin typeface="JetBrains Mono"/>
                <a:ea typeface="+mn-lt"/>
                <a:cs typeface="Courier New"/>
              </a:rPr>
              <a:t>Trace across agent boundaries, not per </a:t>
            </a:r>
            <a:r>
              <a:rPr lang="en-US" sz="1200">
                <a:solidFill>
                  <a:srgbClr val="F0EDE8"/>
                </a:solidFill>
                <a:latin typeface="JetBrains Mono"/>
                <a:ea typeface="+mn-lt"/>
                <a:cs typeface="Courier New"/>
              </a:rPr>
              <a:t>agent or tool</a:t>
            </a:r>
            <a:endParaRPr lang="en-US" dirty="0">
              <a:latin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mn-lt"/>
              </a:rPr>
              <a:t>Alert on behavioral anomalies like unexpected tools, token spikes, and off-scope calls</a:t>
            </a:r>
            <a:endParaRPr lang="en-US">
              <a:latin typeface="JetBrains Mono"/>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Immutable audit logs are essential</a:t>
            </a:r>
            <a:endParaRPr lang="en-US">
              <a:solidFill>
                <a:srgbClr val="000000"/>
              </a:solidFill>
              <a:latin typeface="Courier New"/>
              <a:ea typeface="JetBrains Mono"/>
              <a:cs typeface="Courier New"/>
            </a:endParaRPr>
          </a:p>
          <a:p>
            <a:pPr lvl="1">
              <a:buFont typeface="Courier New"/>
              <a:buChar char="o"/>
            </a:pPr>
            <a:endParaRPr lang="en-US">
              <a:solidFill>
                <a:srgbClr val="000000"/>
              </a:solidFill>
              <a:latin typeface="Courier New" panose="02070309020205020404" pitchFamily="49" charset="0"/>
              <a:ea typeface="JetBrains Mono"/>
              <a:cs typeface="Courier New" panose="02070309020205020404" pitchFamily="49" charset="0"/>
            </a:endParaRPr>
          </a:p>
          <a:p>
            <a:pPr lvl="1">
              <a:buFont typeface="Courier New"/>
              <a:buChar char="o"/>
            </a:pPr>
            <a:endParaRPr lang="en-US" sz="1200" b="1"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Courier New"/>
              <a:ea typeface="JetBrains Mono"/>
              <a:cs typeface="Courier New"/>
            </a:endParaRPr>
          </a:p>
          <a:p>
            <a:pPr marL="342900" indent="-342900">
              <a:spcAft>
                <a:spcPts val="1200"/>
              </a:spcAft>
              <a:buSzPct val="100000"/>
              <a:buFontTx/>
              <a:buChar char="•"/>
            </a:pPr>
            <a:endParaRPr lang="en-US" sz="1300" dirty="0">
              <a:solidFill>
                <a:srgbClr val="F0EDE8"/>
              </a:solidFill>
              <a:latin typeface="Calibri"/>
              <a:ea typeface="Calibri"/>
              <a:cs typeface="Calibri"/>
            </a:endParaRPr>
          </a:p>
        </p:txBody>
      </p:sp>
      <p:pic>
        <p:nvPicPr>
          <p:cNvPr id="4" name="Picture 3" descr="A pixelated video game poster&#10;&#10;AI-generated content may be incorrect.">
            <a:extLst>
              <a:ext uri="{FF2B5EF4-FFF2-40B4-BE49-F238E27FC236}">
                <a16:creationId xmlns:a16="http://schemas.microsoft.com/office/drawing/2014/main" id="{2DDD882E-0E5A-A376-35AB-303000365E93}"/>
              </a:ext>
            </a:extLst>
          </p:cNvPr>
          <p:cNvPicPr>
            <a:picLocks noChangeAspect="1"/>
          </p:cNvPicPr>
          <p:nvPr/>
        </p:nvPicPr>
        <p:blipFill>
          <a:blip r:embed="rId3"/>
          <a:stretch>
            <a:fillRect/>
          </a:stretch>
        </p:blipFill>
        <p:spPr>
          <a:xfrm>
            <a:off x="5283819" y="823332"/>
            <a:ext cx="3719861" cy="3747739"/>
          </a:xfrm>
          <a:prstGeom prst="rect">
            <a:avLst/>
          </a:prstGeom>
        </p:spPr>
      </p:pic>
    </p:spTree>
    <p:extLst>
      <p:ext uri="{BB962C8B-B14F-4D97-AF65-F5344CB8AC3E}">
        <p14:creationId xmlns:p14="http://schemas.microsoft.com/office/powerpoint/2010/main" val="1492066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4653209B-9B3A-849B-4A2B-FB08275A9A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7F086D-D58A-6F51-E110-5D2A688238B6}"/>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5CACCE8B-E889-9280-5BCB-E93DBF30C6E5}"/>
              </a:ext>
            </a:extLst>
          </p:cNvPr>
          <p:cNvSpPr/>
          <p:nvPr/>
        </p:nvSpPr>
        <p:spPr>
          <a:xfrm>
            <a:off x="137160" y="164592"/>
            <a:ext cx="6400800" cy="502920"/>
          </a:xfrm>
          <a:prstGeom prst="rect">
            <a:avLst/>
          </a:prstGeom>
          <a:noFill/>
          <a:ln/>
        </p:spPr>
        <p:txBody>
          <a:bodyPr wrap="square" lIns="0" tIns="0" rIns="0" bIns="0" rtlCol="0" anchor="ctr"/>
          <a:lstStyle/>
          <a:p>
            <a:r>
              <a:rPr lang="en-US" sz="2800" b="1">
                <a:solidFill>
                  <a:srgbClr val="F0EDE8"/>
                </a:solidFill>
                <a:latin typeface="Arial Black"/>
              </a:rPr>
              <a:t>Observability - Examples</a:t>
            </a:r>
            <a:endParaRPr lang="en-US" sz="2800" b="1" dirty="0">
              <a:solidFill>
                <a:srgbClr val="F0EDE8"/>
              </a:solidFill>
              <a:latin typeface="Arial Black"/>
            </a:endParaRPr>
          </a:p>
        </p:txBody>
      </p:sp>
      <p:sp>
        <p:nvSpPr>
          <p:cNvPr id="6" name="Text 4">
            <a:extLst>
              <a:ext uri="{FF2B5EF4-FFF2-40B4-BE49-F238E27FC236}">
                <a16:creationId xmlns:a16="http://schemas.microsoft.com/office/drawing/2014/main" id="{638348C4-A480-05E1-BD45-F07CFBA186ED}"/>
              </a:ext>
            </a:extLst>
          </p:cNvPr>
          <p:cNvSpPr/>
          <p:nvPr/>
        </p:nvSpPr>
        <p:spPr>
          <a:xfrm>
            <a:off x="320040" y="914400"/>
            <a:ext cx="4663440" cy="3474720"/>
          </a:xfrm>
          <a:prstGeom prst="rect">
            <a:avLst/>
          </a:prstGeom>
          <a:noFill/>
          <a:ln/>
        </p:spPr>
        <p:txBody>
          <a:bodyPr wrap="square" lIns="91440" tIns="45720" rIns="91440" bIns="45720" rtlCol="0" anchor="t"/>
          <a:lstStyle/>
          <a:p>
            <a:pPr>
              <a:buSzPct val="100000"/>
              <a:buFont typeface="Arial"/>
              <a:buChar char="•"/>
            </a:pPr>
            <a:endParaRPr lang="en-US" sz="1200" dirty="0">
              <a:solidFill>
                <a:srgbClr val="F0EDE8"/>
              </a:solidFill>
              <a:latin typeface="JetBrains Mono"/>
              <a:ea typeface="JetBrains Mono"/>
              <a:cs typeface="Courier New"/>
            </a:endParaRPr>
          </a:p>
          <a:p>
            <a:pPr marL="342900" indent="-342900" algn="l">
              <a:spcAft>
                <a:spcPts val="1200"/>
              </a:spcAft>
              <a:buSzPct val="100000"/>
              <a:buChar char="•"/>
            </a:pPr>
            <a:endParaRPr lang="en-US" sz="1300" dirty="0">
              <a:solidFill>
                <a:srgbClr val="F0EDE8"/>
              </a:solidFill>
              <a:latin typeface="Calibri"/>
              <a:ea typeface="Calibri"/>
              <a:cs typeface="Calibri"/>
            </a:endParaRPr>
          </a:p>
        </p:txBody>
      </p:sp>
      <p:sp>
        <p:nvSpPr>
          <p:cNvPr id="13" name="Shape 11">
            <a:extLst>
              <a:ext uri="{FF2B5EF4-FFF2-40B4-BE49-F238E27FC236}">
                <a16:creationId xmlns:a16="http://schemas.microsoft.com/office/drawing/2014/main" id="{F5D6A946-8291-58B6-2ADF-077FC5C0BCD4}"/>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BC67DE1C-75EF-9A61-1C67-9F33B4F449F8}"/>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38F61F85-E867-2EB5-FF78-C2860558C55C}"/>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717C5D61-5F9D-1A82-8305-ECE956E2F825}"/>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
        <p:nvSpPr>
          <p:cNvPr id="19" name="Shape 2">
            <a:extLst>
              <a:ext uri="{FF2B5EF4-FFF2-40B4-BE49-F238E27FC236}">
                <a16:creationId xmlns:a16="http://schemas.microsoft.com/office/drawing/2014/main" id="{D4109667-C87E-B629-94F8-CC717A11930F}"/>
              </a:ext>
            </a:extLst>
          </p:cNvPr>
          <p:cNvSpPr/>
          <p:nvPr/>
        </p:nvSpPr>
        <p:spPr>
          <a:xfrm>
            <a:off x="137160" y="822960"/>
            <a:ext cx="5029200" cy="3749040"/>
          </a:xfrm>
          <a:prstGeom prst="rect">
            <a:avLst/>
          </a:prstGeom>
          <a:solidFill>
            <a:srgbClr val="1E1E1E"/>
          </a:solidFill>
          <a:ln w="6350">
            <a:solidFill>
              <a:srgbClr val="3A3A3A"/>
            </a:solidFill>
            <a:prstDash val="solid"/>
          </a:ln>
        </p:spPr>
      </p:sp>
      <p:sp>
        <p:nvSpPr>
          <p:cNvPr id="21" name="Shape 3">
            <a:extLst>
              <a:ext uri="{FF2B5EF4-FFF2-40B4-BE49-F238E27FC236}">
                <a16:creationId xmlns:a16="http://schemas.microsoft.com/office/drawing/2014/main" id="{C03D7054-3244-BF91-728E-CD39BCBCA7E3}"/>
              </a:ext>
            </a:extLst>
          </p:cNvPr>
          <p:cNvSpPr/>
          <p:nvPr/>
        </p:nvSpPr>
        <p:spPr>
          <a:xfrm>
            <a:off x="137160" y="822960"/>
            <a:ext cx="64008" cy="3749040"/>
          </a:xfrm>
          <a:prstGeom prst="rect">
            <a:avLst/>
          </a:prstGeom>
          <a:solidFill>
            <a:srgbClr val="7A0000"/>
          </a:solidFill>
          <a:ln w="12700">
            <a:solidFill>
              <a:srgbClr val="7A0000"/>
            </a:solidFill>
            <a:prstDash val="solid"/>
          </a:ln>
        </p:spPr>
      </p:sp>
      <p:sp>
        <p:nvSpPr>
          <p:cNvPr id="23" name="Text 4">
            <a:extLst>
              <a:ext uri="{FF2B5EF4-FFF2-40B4-BE49-F238E27FC236}">
                <a16:creationId xmlns:a16="http://schemas.microsoft.com/office/drawing/2014/main" id="{F0485D00-11E1-B827-CFA2-3E0C59BB18C0}"/>
              </a:ext>
            </a:extLst>
          </p:cNvPr>
          <p:cNvSpPr/>
          <p:nvPr/>
        </p:nvSpPr>
        <p:spPr>
          <a:xfrm>
            <a:off x="228507" y="822867"/>
            <a:ext cx="4844647" cy="3655927"/>
          </a:xfrm>
          <a:prstGeom prst="rect">
            <a:avLst/>
          </a:prstGeom>
          <a:noFill/>
          <a:ln/>
        </p:spPr>
        <p:txBody>
          <a:bodyPr wrap="square" lIns="91440" tIns="45720" rIns="91440" bIns="45720" rtlCol="0" anchor="t"/>
          <a:lstStyle/>
          <a:p>
            <a:pPr>
              <a:buFont typeface="Arial"/>
              <a:buChar char="•"/>
            </a:pPr>
            <a:r>
              <a:rPr lang="en-US" sz="1200" dirty="0">
                <a:solidFill>
                  <a:srgbClr val="F0EDE8"/>
                </a:solidFill>
                <a:latin typeface="JetBrains Mono"/>
                <a:ea typeface="+mn-lt"/>
                <a:cs typeface="Courier New"/>
              </a:rPr>
              <a:t>A </a:t>
            </a:r>
            <a:r>
              <a:rPr lang="en-US" sz="1200" dirty="0" err="1">
                <a:solidFill>
                  <a:srgbClr val="F0EDE8"/>
                </a:solidFill>
                <a:latin typeface="JetBrains Mono"/>
                <a:ea typeface="+mn-lt"/>
                <a:cs typeface="Courier New"/>
              </a:rPr>
              <a:t>ReAct</a:t>
            </a:r>
            <a:r>
              <a:rPr lang="en-US" sz="1200" dirty="0">
                <a:solidFill>
                  <a:srgbClr val="F0EDE8"/>
                </a:solidFill>
                <a:latin typeface="JetBrains Mono"/>
                <a:ea typeface="+mn-lt"/>
                <a:cs typeface="Courier New"/>
              </a:rPr>
              <a:t> agent loops a web search tool 40 times on a single query: a token flood caught by volume threshold alert</a:t>
            </a:r>
            <a:endParaRPr lang="en-US" sz="1200">
              <a:latin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An MCP-connected file agent reads outside its approved directory is caught by tool call path auditing</a:t>
            </a:r>
            <a:endParaRPr lang="en-US" sz="1200">
              <a:latin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A sub-agent passes a modified goal to its orchestrator after processing a poisoned RAG document is caught by cross-boundary trace comparison</a:t>
            </a:r>
            <a:endParaRPr lang="en-US" sz="1200">
              <a:latin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a:solidFill>
                  <a:srgbClr val="F0EDE8"/>
                </a:solidFill>
                <a:latin typeface="JetBrains Mono"/>
                <a:ea typeface="+mn-lt"/>
                <a:cs typeface="Courier New"/>
              </a:rPr>
              <a:t>An LLM customer service bot is prompted to impersonate a supervisor is caught by behavioral anomaly on role-change instruction pattern</a:t>
            </a:r>
            <a:endParaRPr lang="en-US" sz="1200">
              <a:latin typeface="JetBrains Mono"/>
              <a:cs typeface="Courier New"/>
            </a:endParaRPr>
          </a:p>
          <a:p>
            <a:pPr>
              <a:buFont typeface="Arial"/>
              <a:buChar char="•"/>
            </a:pPr>
            <a:endParaRPr lang="en-US" sz="1200" dirty="0">
              <a:solidFill>
                <a:srgbClr val="F0EDE8"/>
              </a:solidFill>
              <a:latin typeface="JetBrains Mono"/>
              <a:ea typeface="+mn-lt"/>
              <a:cs typeface="Courier New"/>
            </a:endParaRPr>
          </a:p>
          <a:p>
            <a:pPr>
              <a:buFont typeface="Arial"/>
              <a:buChar char="•"/>
            </a:pPr>
            <a:r>
              <a:rPr lang="en-US" sz="1200" dirty="0">
                <a:solidFill>
                  <a:srgbClr val="F0EDE8"/>
                </a:solidFill>
                <a:latin typeface="JetBrains Mono"/>
                <a:ea typeface="+mn-lt"/>
                <a:cs typeface="Courier New"/>
              </a:rPr>
              <a:t>An </a:t>
            </a:r>
            <a:r>
              <a:rPr lang="en-US" sz="1200" dirty="0" err="1">
                <a:solidFill>
                  <a:srgbClr val="F0EDE8"/>
                </a:solidFill>
                <a:latin typeface="JetBrains Mono"/>
                <a:ea typeface="+mn-lt"/>
                <a:cs typeface="Courier New"/>
              </a:rPr>
              <a:t>Ollama</a:t>
            </a:r>
            <a:r>
              <a:rPr lang="en-US" sz="1200" dirty="0">
                <a:solidFill>
                  <a:srgbClr val="F0EDE8"/>
                </a:solidFill>
                <a:latin typeface="JetBrains Mono"/>
                <a:ea typeface="+mn-lt"/>
                <a:cs typeface="Courier New"/>
              </a:rPr>
              <a:t>-hosted coding agent executes a shell command not present in its approved tool manifest is caught by tool call allowlist enforcement</a:t>
            </a:r>
            <a:endParaRPr lang="en-US" sz="1200" dirty="0">
              <a:latin typeface="JetBrains Mono"/>
              <a:cs typeface="Courier New"/>
            </a:endParaRPr>
          </a:p>
          <a:p>
            <a:pPr>
              <a:buSzPct val="100000"/>
              <a:buFont typeface="Arial"/>
              <a:buChar char="•"/>
            </a:pPr>
            <a:endParaRPr lang="en-US" sz="1200" dirty="0">
              <a:solidFill>
                <a:srgbClr val="F0EDE8"/>
              </a:solidFill>
              <a:latin typeface="JetBrains Mono"/>
              <a:ea typeface="JetBrains Mono"/>
              <a:cs typeface="Courier New"/>
            </a:endParaRPr>
          </a:p>
          <a:p>
            <a:pPr lvl="1">
              <a:buFont typeface="Courier New"/>
              <a:buChar char="o"/>
            </a:pPr>
            <a:endParaRPr lang="en-US">
              <a:solidFill>
                <a:srgbClr val="000000"/>
              </a:solidFill>
              <a:latin typeface="Courier New" panose="02070309020205020404" pitchFamily="49" charset="0"/>
              <a:ea typeface="JetBrains Mono"/>
              <a:cs typeface="Courier New" panose="02070309020205020404" pitchFamily="49" charset="0"/>
            </a:endParaRPr>
          </a:p>
          <a:p>
            <a:pPr lvl="1">
              <a:buFont typeface="Courier New"/>
              <a:buChar char="o"/>
            </a:pPr>
            <a:endParaRPr lang="en-US" sz="1200" b="1"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Courier New"/>
              <a:ea typeface="JetBrains Mono"/>
              <a:cs typeface="Courier New"/>
            </a:endParaRPr>
          </a:p>
          <a:p>
            <a:pPr marL="342900" indent="-342900">
              <a:spcAft>
                <a:spcPts val="1200"/>
              </a:spcAft>
              <a:buSzPct val="100000"/>
              <a:buFontTx/>
              <a:buChar char="•"/>
            </a:pPr>
            <a:endParaRPr lang="en-US" sz="1300" dirty="0">
              <a:solidFill>
                <a:srgbClr val="F0EDE8"/>
              </a:solidFill>
              <a:latin typeface="Calibri"/>
              <a:ea typeface="Calibri"/>
              <a:cs typeface="Calibri"/>
            </a:endParaRPr>
          </a:p>
        </p:txBody>
      </p:sp>
      <p:pic>
        <p:nvPicPr>
          <p:cNvPr id="5" name="Picture 4" descr="a impressionist glitchcore rendering of a stealthy AI agent synthetic humanoid, being watched from a tower by a giant cy...">
            <a:extLst>
              <a:ext uri="{FF2B5EF4-FFF2-40B4-BE49-F238E27FC236}">
                <a16:creationId xmlns:a16="http://schemas.microsoft.com/office/drawing/2014/main" id="{B5110635-CA22-8D21-9A3B-1CCEE2F5317B}"/>
              </a:ext>
            </a:extLst>
          </p:cNvPr>
          <p:cNvPicPr>
            <a:picLocks noChangeAspect="1"/>
          </p:cNvPicPr>
          <p:nvPr/>
        </p:nvPicPr>
        <p:blipFill>
          <a:blip r:embed="rId3"/>
          <a:stretch>
            <a:fillRect/>
          </a:stretch>
        </p:blipFill>
        <p:spPr>
          <a:xfrm>
            <a:off x="5207154" y="823331"/>
            <a:ext cx="3796526" cy="3747740"/>
          </a:xfrm>
          <a:prstGeom prst="rect">
            <a:avLst/>
          </a:prstGeom>
        </p:spPr>
      </p:pic>
    </p:spTree>
    <p:extLst>
      <p:ext uri="{BB962C8B-B14F-4D97-AF65-F5344CB8AC3E}">
        <p14:creationId xmlns:p14="http://schemas.microsoft.com/office/powerpoint/2010/main" val="716233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4B09EFC3-D409-D38D-2317-F690697990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6C0D27-D47D-8519-9F63-76326F59803F}"/>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E8FC2300-B5AF-3CCA-A2C2-A4A290FE72F1}"/>
              </a:ext>
            </a:extLst>
          </p:cNvPr>
          <p:cNvSpPr/>
          <p:nvPr/>
        </p:nvSpPr>
        <p:spPr>
          <a:xfrm>
            <a:off x="137160" y="164592"/>
            <a:ext cx="6400800" cy="502920"/>
          </a:xfrm>
          <a:prstGeom prst="rect">
            <a:avLst/>
          </a:prstGeom>
          <a:noFill/>
          <a:ln/>
        </p:spPr>
        <p:txBody>
          <a:bodyPr wrap="square" lIns="0" tIns="0" rIns="0" bIns="0" rtlCol="0" anchor="ctr"/>
          <a:lstStyle/>
          <a:p>
            <a:r>
              <a:rPr lang="en-US" sz="2800" b="1">
                <a:solidFill>
                  <a:srgbClr val="F0EDE8"/>
                </a:solidFill>
                <a:latin typeface="Arial Black"/>
              </a:rPr>
              <a:t>Active Defense</a:t>
            </a:r>
            <a:endParaRPr lang="en-US" sz="2800" b="1" dirty="0">
              <a:solidFill>
                <a:srgbClr val="F0EDE8"/>
              </a:solidFill>
              <a:latin typeface="Arial Black"/>
            </a:endParaRPr>
          </a:p>
        </p:txBody>
      </p:sp>
      <p:sp>
        <p:nvSpPr>
          <p:cNvPr id="6" name="Text 4">
            <a:extLst>
              <a:ext uri="{FF2B5EF4-FFF2-40B4-BE49-F238E27FC236}">
                <a16:creationId xmlns:a16="http://schemas.microsoft.com/office/drawing/2014/main" id="{3B312420-EE17-ADB4-3E4A-C2693A174C4C}"/>
              </a:ext>
            </a:extLst>
          </p:cNvPr>
          <p:cNvSpPr/>
          <p:nvPr/>
        </p:nvSpPr>
        <p:spPr>
          <a:xfrm>
            <a:off x="320040" y="914400"/>
            <a:ext cx="4663440" cy="3474720"/>
          </a:xfrm>
          <a:prstGeom prst="rect">
            <a:avLst/>
          </a:prstGeom>
          <a:noFill/>
          <a:ln/>
        </p:spPr>
        <p:txBody>
          <a:bodyPr wrap="square" lIns="91440" tIns="45720" rIns="91440" bIns="45720" rtlCol="0" anchor="t"/>
          <a:lstStyle/>
          <a:p>
            <a:pPr>
              <a:buSzPct val="100000"/>
              <a:buFont typeface="Arial"/>
              <a:buChar char="•"/>
            </a:pPr>
            <a:endParaRPr lang="en-US" sz="1200" dirty="0">
              <a:solidFill>
                <a:srgbClr val="F0EDE8"/>
              </a:solidFill>
              <a:latin typeface="JetBrains Mono"/>
              <a:ea typeface="JetBrains Mono"/>
              <a:cs typeface="Courier New"/>
            </a:endParaRPr>
          </a:p>
          <a:p>
            <a:pPr marL="342900" indent="-342900" algn="l">
              <a:spcAft>
                <a:spcPts val="1200"/>
              </a:spcAft>
              <a:buSzPct val="100000"/>
              <a:buChar char="•"/>
            </a:pPr>
            <a:endParaRPr lang="en-US" sz="1300" dirty="0">
              <a:solidFill>
                <a:srgbClr val="F0EDE8"/>
              </a:solidFill>
              <a:latin typeface="Calibri"/>
              <a:ea typeface="Calibri"/>
              <a:cs typeface="Calibri"/>
            </a:endParaRPr>
          </a:p>
        </p:txBody>
      </p:sp>
      <p:sp>
        <p:nvSpPr>
          <p:cNvPr id="13" name="Shape 11">
            <a:extLst>
              <a:ext uri="{FF2B5EF4-FFF2-40B4-BE49-F238E27FC236}">
                <a16:creationId xmlns:a16="http://schemas.microsoft.com/office/drawing/2014/main" id="{B6DFA03A-B4E9-0986-4618-24D27545545E}"/>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37758C2A-2D50-6A43-FD89-7A37E36B3CB3}"/>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CD5D909F-C114-6369-52FF-604E637AB54D}"/>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7F0AF882-D4EE-814D-BA6D-EF77E952E7A5}"/>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
        <p:nvSpPr>
          <p:cNvPr id="19" name="Shape 2">
            <a:extLst>
              <a:ext uri="{FF2B5EF4-FFF2-40B4-BE49-F238E27FC236}">
                <a16:creationId xmlns:a16="http://schemas.microsoft.com/office/drawing/2014/main" id="{1F13FA33-93DF-607F-05FA-643F4604062A}"/>
              </a:ext>
            </a:extLst>
          </p:cNvPr>
          <p:cNvSpPr/>
          <p:nvPr/>
        </p:nvSpPr>
        <p:spPr>
          <a:xfrm>
            <a:off x="137160" y="822960"/>
            <a:ext cx="5029200" cy="3749040"/>
          </a:xfrm>
          <a:prstGeom prst="rect">
            <a:avLst/>
          </a:prstGeom>
          <a:solidFill>
            <a:srgbClr val="1E1E1E"/>
          </a:solidFill>
          <a:ln w="6350">
            <a:solidFill>
              <a:srgbClr val="3A3A3A"/>
            </a:solidFill>
            <a:prstDash val="solid"/>
          </a:ln>
        </p:spPr>
      </p:sp>
      <p:sp>
        <p:nvSpPr>
          <p:cNvPr id="21" name="Shape 3">
            <a:extLst>
              <a:ext uri="{FF2B5EF4-FFF2-40B4-BE49-F238E27FC236}">
                <a16:creationId xmlns:a16="http://schemas.microsoft.com/office/drawing/2014/main" id="{D680E7FC-5106-7CCD-8974-D60B6AFBD31C}"/>
              </a:ext>
            </a:extLst>
          </p:cNvPr>
          <p:cNvSpPr/>
          <p:nvPr/>
        </p:nvSpPr>
        <p:spPr>
          <a:xfrm>
            <a:off x="137160" y="822960"/>
            <a:ext cx="64008" cy="3749040"/>
          </a:xfrm>
          <a:prstGeom prst="rect">
            <a:avLst/>
          </a:prstGeom>
          <a:solidFill>
            <a:srgbClr val="7A0000"/>
          </a:solidFill>
          <a:ln w="12700">
            <a:solidFill>
              <a:srgbClr val="7A0000"/>
            </a:solidFill>
            <a:prstDash val="solid"/>
          </a:ln>
        </p:spPr>
      </p:sp>
      <p:sp>
        <p:nvSpPr>
          <p:cNvPr id="23" name="Text 4">
            <a:extLst>
              <a:ext uri="{FF2B5EF4-FFF2-40B4-BE49-F238E27FC236}">
                <a16:creationId xmlns:a16="http://schemas.microsoft.com/office/drawing/2014/main" id="{23D7B15B-CA76-1809-DEA4-738FC7BD5E27}"/>
              </a:ext>
            </a:extLst>
          </p:cNvPr>
          <p:cNvSpPr/>
          <p:nvPr/>
        </p:nvSpPr>
        <p:spPr>
          <a:xfrm>
            <a:off x="430622" y="1080738"/>
            <a:ext cx="4412539" cy="3398056"/>
          </a:xfrm>
          <a:prstGeom prst="rect">
            <a:avLst/>
          </a:prstGeom>
          <a:noFill/>
          <a:ln/>
        </p:spPr>
        <p:txBody>
          <a:bodyPr wrap="square" lIns="91440" tIns="45720" rIns="91440" bIns="45720" rtlCol="0" anchor="t"/>
          <a:lstStyle/>
          <a:p>
            <a:pPr>
              <a:buFont typeface="Arial"/>
              <a:buChar char="•"/>
            </a:pPr>
            <a:r>
              <a:rPr lang="en-US" sz="1200">
                <a:solidFill>
                  <a:srgbClr val="F0EDE8"/>
                </a:solidFill>
                <a:latin typeface="JetBrains Mono"/>
                <a:ea typeface="JetBrains Mono"/>
                <a:cs typeface="+mn-lt"/>
              </a:rPr>
              <a:t>Deploy canary tokens in system prompts and tool configs</a:t>
            </a:r>
            <a:endParaRPr lang="en-US" sz="1200">
              <a:solidFill>
                <a:srgbClr val="F0EDE8"/>
              </a:solidFill>
              <a:latin typeface="JetBrains Mono"/>
              <a:ea typeface="JetBrains Mono"/>
              <a:cs typeface="Courier New"/>
            </a:endParaRPr>
          </a:p>
          <a:p>
            <a:pPr>
              <a:buFont typeface="Arial"/>
              <a:buChar char="•"/>
            </a:pPr>
            <a:endParaRPr lang="en-US" sz="1200" dirty="0">
              <a:solidFill>
                <a:srgbClr val="F0EDE8"/>
              </a:solidFill>
              <a:latin typeface="JetBrains Mono"/>
              <a:ea typeface="JetBrains Mono"/>
              <a:cs typeface="Courier New"/>
            </a:endParaRPr>
          </a:p>
          <a:p>
            <a:pPr>
              <a:buFont typeface="Arial"/>
              <a:buChar char="•"/>
            </a:pPr>
            <a:r>
              <a:rPr lang="en-US" sz="1200">
                <a:solidFill>
                  <a:srgbClr val="F0EDE8"/>
                </a:solidFill>
                <a:latin typeface="JetBrains Mono"/>
                <a:ea typeface="JetBrains Mono"/>
                <a:cs typeface="Courier New"/>
              </a:rPr>
              <a:t>Seed honey documents into RAG vector stores and training data</a:t>
            </a:r>
            <a:endParaRPr lang="en-US">
              <a:latin typeface="JetBrains Mono"/>
              <a:ea typeface="JetBrains Mono"/>
            </a:endParaRPr>
          </a:p>
          <a:p>
            <a:pPr>
              <a:buFont typeface="Arial"/>
              <a:buChar char="•"/>
            </a:pPr>
            <a:endParaRPr lang="en-US" sz="1200" dirty="0">
              <a:solidFill>
                <a:srgbClr val="F0EDE8"/>
              </a:solidFill>
              <a:latin typeface="JetBrains Mono"/>
              <a:ea typeface="JetBrains Mono"/>
              <a:cs typeface="Courier New"/>
            </a:endParaRPr>
          </a:p>
          <a:p>
            <a:pPr>
              <a:buFont typeface="Arial"/>
              <a:buChar char="•"/>
            </a:pPr>
            <a:r>
              <a:rPr lang="en-US" sz="1200">
                <a:solidFill>
                  <a:srgbClr val="F0EDE8"/>
                </a:solidFill>
                <a:latin typeface="JetBrains Mono"/>
                <a:ea typeface="JetBrains Mono"/>
                <a:cs typeface="+mn-lt"/>
              </a:rPr>
              <a:t>Monitor for canary triggers as prompt injection signals</a:t>
            </a:r>
            <a:endParaRPr lang="en-US">
              <a:latin typeface="JetBrains Mono"/>
              <a:ea typeface="JetBrains Mono"/>
            </a:endParaRPr>
          </a:p>
          <a:p>
            <a:pPr>
              <a:buFont typeface="Arial"/>
              <a:buChar char="•"/>
            </a:pPr>
            <a:endParaRPr lang="en-US" sz="1200" dirty="0">
              <a:solidFill>
                <a:srgbClr val="F0EDE8"/>
              </a:solidFill>
              <a:latin typeface="JetBrains Mono"/>
              <a:ea typeface="JetBrains Mono"/>
              <a:cs typeface="Courier New"/>
            </a:endParaRPr>
          </a:p>
          <a:p>
            <a:pPr>
              <a:buFont typeface="Arial"/>
              <a:buChar char="•"/>
            </a:pPr>
            <a:r>
              <a:rPr lang="en-US" sz="1200">
                <a:solidFill>
                  <a:srgbClr val="F0EDE8"/>
                </a:solidFill>
                <a:latin typeface="JetBrains Mono"/>
                <a:ea typeface="JetBrains Mono"/>
                <a:cs typeface="Courier New"/>
              </a:rPr>
              <a:t>Alert on any agent accessing decoy resources or endpoints as you would a human</a:t>
            </a:r>
            <a:endParaRPr lang="en-US">
              <a:latin typeface="JetBrains Mono"/>
              <a:ea typeface="JetBrains Mono"/>
            </a:endParaRPr>
          </a:p>
          <a:p>
            <a:pPr>
              <a:buFont typeface="Arial"/>
              <a:buChar char="•"/>
            </a:pPr>
            <a:endParaRPr lang="en-US" sz="1200" dirty="0">
              <a:solidFill>
                <a:srgbClr val="F0EDE8"/>
              </a:solidFill>
              <a:latin typeface="JetBrains Mono"/>
              <a:ea typeface="JetBrains Mono"/>
              <a:cs typeface="Courier New" panose="02070309020205020404" pitchFamily="49" charset="0"/>
            </a:endParaRPr>
          </a:p>
          <a:p>
            <a:pPr>
              <a:buFont typeface="Arial"/>
              <a:buChar char="•"/>
            </a:pPr>
            <a:endParaRPr lang="en-US" sz="1200" dirty="0">
              <a:solidFill>
                <a:srgbClr val="F0EDE8"/>
              </a:solidFill>
              <a:latin typeface="JetBrains Mono"/>
              <a:ea typeface="JetBrains Mono"/>
              <a:cs typeface="Courier New" panose="02070309020205020404" pitchFamily="49" charset="0"/>
            </a:endParaRPr>
          </a:p>
          <a:p>
            <a:pPr>
              <a:buFont typeface="Arial"/>
              <a:buChar char="•"/>
            </a:pPr>
            <a:endParaRPr lang="en-US" sz="1200" dirty="0">
              <a:solidFill>
                <a:srgbClr val="F0EDE8"/>
              </a:solidFill>
              <a:latin typeface="JetBrains Mono"/>
              <a:ea typeface="JetBrains Mono"/>
              <a:cs typeface="Courier New" panose="02070309020205020404" pitchFamily="49" charset="0"/>
            </a:endParaRPr>
          </a:p>
          <a:p>
            <a:pPr>
              <a:buSzPct val="100000"/>
              <a:buFont typeface="Arial"/>
              <a:buChar char="•"/>
            </a:pPr>
            <a:endParaRPr lang="en-US" sz="1200" dirty="0">
              <a:solidFill>
                <a:srgbClr val="F0EDE8"/>
              </a:solidFill>
              <a:latin typeface="JetBrains Mono"/>
              <a:ea typeface="JetBrains Mono"/>
              <a:cs typeface="Courier New" panose="02070309020205020404" pitchFamily="49" charset="0"/>
            </a:endParaRPr>
          </a:p>
          <a:p>
            <a:pPr lvl="1">
              <a:buFont typeface="Courier New"/>
              <a:buChar char="o"/>
            </a:pPr>
            <a:endParaRPr lang="en-US">
              <a:solidFill>
                <a:srgbClr val="000000"/>
              </a:solidFill>
              <a:latin typeface="Courier New" panose="02070309020205020404" pitchFamily="49" charset="0"/>
              <a:ea typeface="JetBrains Mono"/>
              <a:cs typeface="Courier New" panose="02070309020205020404" pitchFamily="49" charset="0"/>
            </a:endParaRPr>
          </a:p>
          <a:p>
            <a:pPr lvl="1">
              <a:buFont typeface="Courier New"/>
              <a:buChar char="o"/>
            </a:pPr>
            <a:endParaRPr lang="en-US" sz="1200" b="1"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Courier New"/>
              <a:ea typeface="JetBrains Mono"/>
              <a:cs typeface="Courier New"/>
            </a:endParaRPr>
          </a:p>
          <a:p>
            <a:pPr marL="342900" indent="-342900">
              <a:spcAft>
                <a:spcPts val="1200"/>
              </a:spcAft>
              <a:buSzPct val="100000"/>
              <a:buFontTx/>
              <a:buChar char="•"/>
            </a:pPr>
            <a:endParaRPr lang="en-US" sz="1300" dirty="0">
              <a:solidFill>
                <a:srgbClr val="F0EDE8"/>
              </a:solidFill>
              <a:latin typeface="Calibri"/>
              <a:ea typeface="Calibri"/>
              <a:cs typeface="Calibri"/>
            </a:endParaRPr>
          </a:p>
        </p:txBody>
      </p:sp>
      <p:pic>
        <p:nvPicPr>
          <p:cNvPr id="4" name="Picture 3" descr="retro 8-bit glitchcore rendering of a synthetic humanoid ai agent about to step on a pulsating mine trap, retro concept ...">
            <a:extLst>
              <a:ext uri="{FF2B5EF4-FFF2-40B4-BE49-F238E27FC236}">
                <a16:creationId xmlns:a16="http://schemas.microsoft.com/office/drawing/2014/main" id="{3F06E3A6-CB81-5346-2818-4C988A7F9D9B}"/>
              </a:ext>
            </a:extLst>
          </p:cNvPr>
          <p:cNvPicPr>
            <a:picLocks noChangeAspect="1"/>
          </p:cNvPicPr>
          <p:nvPr/>
        </p:nvPicPr>
        <p:blipFill>
          <a:blip r:embed="rId3"/>
          <a:stretch>
            <a:fillRect/>
          </a:stretch>
        </p:blipFill>
        <p:spPr>
          <a:xfrm>
            <a:off x="5261982" y="822402"/>
            <a:ext cx="3812324" cy="3749598"/>
          </a:xfrm>
          <a:prstGeom prst="rect">
            <a:avLst/>
          </a:prstGeom>
        </p:spPr>
      </p:pic>
    </p:spTree>
    <p:extLst>
      <p:ext uri="{BB962C8B-B14F-4D97-AF65-F5344CB8AC3E}">
        <p14:creationId xmlns:p14="http://schemas.microsoft.com/office/powerpoint/2010/main" val="370497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7DDD88BB-CF37-28A4-8D7F-16EF3F93B0F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C6AB10B-D61D-9C76-87E1-DF485CC6D9C9}"/>
              </a:ext>
            </a:extLst>
          </p:cNvPr>
          <p:cNvSpPr/>
          <p:nvPr/>
        </p:nvSpPr>
        <p:spPr>
          <a:xfrm>
            <a:off x="0" y="0"/>
            <a:ext cx="9144000" cy="64008"/>
          </a:xfrm>
          <a:prstGeom prst="rect">
            <a:avLst/>
          </a:prstGeom>
          <a:solidFill>
            <a:srgbClr val="CC0000"/>
          </a:solidFill>
          <a:ln w="12700">
            <a:solidFill>
              <a:srgbClr val="CC0000"/>
            </a:solidFill>
            <a:prstDash val="solid"/>
          </a:ln>
        </p:spPr>
      </p:sp>
      <p:sp>
        <p:nvSpPr>
          <p:cNvPr id="3" name="Text 1">
            <a:extLst>
              <a:ext uri="{FF2B5EF4-FFF2-40B4-BE49-F238E27FC236}">
                <a16:creationId xmlns:a16="http://schemas.microsoft.com/office/drawing/2014/main" id="{C1388046-6CCD-90ED-6754-73BF9A4F0D24}"/>
              </a:ext>
            </a:extLst>
          </p:cNvPr>
          <p:cNvSpPr/>
          <p:nvPr/>
        </p:nvSpPr>
        <p:spPr>
          <a:xfrm>
            <a:off x="137160" y="164592"/>
            <a:ext cx="6400800" cy="502920"/>
          </a:xfrm>
          <a:prstGeom prst="rect">
            <a:avLst/>
          </a:prstGeom>
          <a:noFill/>
          <a:ln/>
        </p:spPr>
        <p:txBody>
          <a:bodyPr wrap="square" lIns="0" tIns="0" rIns="0" bIns="0" rtlCol="0" anchor="ctr"/>
          <a:lstStyle/>
          <a:p>
            <a:r>
              <a:rPr lang="en-US" sz="2800" b="1">
                <a:solidFill>
                  <a:srgbClr val="F0EDE8"/>
                </a:solidFill>
                <a:latin typeface="Arial Black"/>
              </a:rPr>
              <a:t>Exercise</a:t>
            </a:r>
            <a:endParaRPr lang="en-US" sz="2800" b="1" dirty="0">
              <a:solidFill>
                <a:srgbClr val="F0EDE8"/>
              </a:solidFill>
              <a:latin typeface="Arial Black"/>
            </a:endParaRPr>
          </a:p>
        </p:txBody>
      </p:sp>
      <p:sp>
        <p:nvSpPr>
          <p:cNvPr id="6" name="Text 4">
            <a:extLst>
              <a:ext uri="{FF2B5EF4-FFF2-40B4-BE49-F238E27FC236}">
                <a16:creationId xmlns:a16="http://schemas.microsoft.com/office/drawing/2014/main" id="{417D89BB-06DD-AE4E-8992-0561C9FCE5EE}"/>
              </a:ext>
            </a:extLst>
          </p:cNvPr>
          <p:cNvSpPr/>
          <p:nvPr/>
        </p:nvSpPr>
        <p:spPr>
          <a:xfrm>
            <a:off x="320040" y="914400"/>
            <a:ext cx="4663440" cy="3474720"/>
          </a:xfrm>
          <a:prstGeom prst="rect">
            <a:avLst/>
          </a:prstGeom>
          <a:noFill/>
          <a:ln/>
        </p:spPr>
        <p:txBody>
          <a:bodyPr wrap="square" lIns="91440" tIns="45720" rIns="91440" bIns="45720" rtlCol="0" anchor="t"/>
          <a:lstStyle/>
          <a:p>
            <a:pPr>
              <a:buSzPct val="100000"/>
              <a:buFont typeface="Arial"/>
              <a:buChar char="•"/>
            </a:pPr>
            <a:endParaRPr lang="en-US" sz="1200" dirty="0">
              <a:solidFill>
                <a:srgbClr val="F0EDE8"/>
              </a:solidFill>
              <a:latin typeface="JetBrains Mono"/>
              <a:ea typeface="JetBrains Mono"/>
              <a:cs typeface="Courier New"/>
            </a:endParaRPr>
          </a:p>
          <a:p>
            <a:pPr marL="342900" indent="-342900" algn="l">
              <a:spcAft>
                <a:spcPts val="1200"/>
              </a:spcAft>
              <a:buSzPct val="100000"/>
              <a:buChar char="•"/>
            </a:pPr>
            <a:endParaRPr lang="en-US" sz="1300" dirty="0">
              <a:solidFill>
                <a:srgbClr val="F0EDE8"/>
              </a:solidFill>
              <a:latin typeface="Calibri"/>
              <a:ea typeface="Calibri"/>
              <a:cs typeface="Calibri"/>
            </a:endParaRPr>
          </a:p>
        </p:txBody>
      </p:sp>
      <p:sp>
        <p:nvSpPr>
          <p:cNvPr id="13" name="Shape 11">
            <a:extLst>
              <a:ext uri="{FF2B5EF4-FFF2-40B4-BE49-F238E27FC236}">
                <a16:creationId xmlns:a16="http://schemas.microsoft.com/office/drawing/2014/main" id="{31FED788-4E70-AE33-4156-890023DEE441}"/>
              </a:ext>
            </a:extLst>
          </p:cNvPr>
          <p:cNvSpPr/>
          <p:nvPr/>
        </p:nvSpPr>
        <p:spPr>
          <a:xfrm>
            <a:off x="0" y="4800600"/>
            <a:ext cx="9144000" cy="342900"/>
          </a:xfrm>
          <a:prstGeom prst="rect">
            <a:avLst/>
          </a:prstGeom>
          <a:solidFill>
            <a:srgbClr val="7A0000"/>
          </a:solidFill>
          <a:ln w="12700">
            <a:solidFill>
              <a:srgbClr val="7A0000"/>
            </a:solidFill>
            <a:prstDash val="solid"/>
          </a:ln>
        </p:spPr>
      </p:sp>
      <p:sp>
        <p:nvSpPr>
          <p:cNvPr id="14" name="Text 12">
            <a:extLst>
              <a:ext uri="{FF2B5EF4-FFF2-40B4-BE49-F238E27FC236}">
                <a16:creationId xmlns:a16="http://schemas.microsoft.com/office/drawing/2014/main" id="{50A7D06F-BF55-D16F-EA6B-562CFFD346A4}"/>
              </a:ext>
            </a:extLst>
          </p:cNvPr>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5" name="Text 13">
            <a:extLst>
              <a:ext uri="{FF2B5EF4-FFF2-40B4-BE49-F238E27FC236}">
                <a16:creationId xmlns:a16="http://schemas.microsoft.com/office/drawing/2014/main" id="{1F71A25E-DD30-2BA8-A77B-06727F9D0337}"/>
              </a:ext>
            </a:extLst>
          </p:cNvPr>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6" name="Text 14">
            <a:extLst>
              <a:ext uri="{FF2B5EF4-FFF2-40B4-BE49-F238E27FC236}">
                <a16:creationId xmlns:a16="http://schemas.microsoft.com/office/drawing/2014/main" id="{09ECE712-0AF9-114C-2E18-81A916AA3BD0}"/>
              </a:ext>
            </a:extLst>
          </p:cNvPr>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sp>
        <p:nvSpPr>
          <p:cNvPr id="19" name="Shape 2">
            <a:extLst>
              <a:ext uri="{FF2B5EF4-FFF2-40B4-BE49-F238E27FC236}">
                <a16:creationId xmlns:a16="http://schemas.microsoft.com/office/drawing/2014/main" id="{324CE86E-5D48-FC02-296E-7173D12E8C9D}"/>
              </a:ext>
            </a:extLst>
          </p:cNvPr>
          <p:cNvSpPr/>
          <p:nvPr/>
        </p:nvSpPr>
        <p:spPr>
          <a:xfrm>
            <a:off x="137160" y="822960"/>
            <a:ext cx="5029200" cy="3749040"/>
          </a:xfrm>
          <a:prstGeom prst="rect">
            <a:avLst/>
          </a:prstGeom>
          <a:solidFill>
            <a:srgbClr val="1E1E1E"/>
          </a:solidFill>
          <a:ln w="6350">
            <a:solidFill>
              <a:srgbClr val="3A3A3A"/>
            </a:solidFill>
            <a:prstDash val="solid"/>
          </a:ln>
        </p:spPr>
      </p:sp>
      <p:sp>
        <p:nvSpPr>
          <p:cNvPr id="21" name="Shape 3">
            <a:extLst>
              <a:ext uri="{FF2B5EF4-FFF2-40B4-BE49-F238E27FC236}">
                <a16:creationId xmlns:a16="http://schemas.microsoft.com/office/drawing/2014/main" id="{A8493797-0407-0BD6-7A40-50DA68747C58}"/>
              </a:ext>
            </a:extLst>
          </p:cNvPr>
          <p:cNvSpPr/>
          <p:nvPr/>
        </p:nvSpPr>
        <p:spPr>
          <a:xfrm>
            <a:off x="137160" y="822960"/>
            <a:ext cx="64008" cy="3749040"/>
          </a:xfrm>
          <a:prstGeom prst="rect">
            <a:avLst/>
          </a:prstGeom>
          <a:solidFill>
            <a:srgbClr val="7A0000"/>
          </a:solidFill>
          <a:ln w="12700">
            <a:solidFill>
              <a:srgbClr val="7A0000"/>
            </a:solidFill>
            <a:prstDash val="solid"/>
          </a:ln>
        </p:spPr>
      </p:sp>
      <p:sp>
        <p:nvSpPr>
          <p:cNvPr id="23" name="Text 4">
            <a:extLst>
              <a:ext uri="{FF2B5EF4-FFF2-40B4-BE49-F238E27FC236}">
                <a16:creationId xmlns:a16="http://schemas.microsoft.com/office/drawing/2014/main" id="{06FF1F6C-8856-D6BA-2BF6-9A68335542DE}"/>
              </a:ext>
            </a:extLst>
          </p:cNvPr>
          <p:cNvSpPr/>
          <p:nvPr/>
        </p:nvSpPr>
        <p:spPr>
          <a:xfrm>
            <a:off x="472440" y="1066800"/>
            <a:ext cx="4663440" cy="3474720"/>
          </a:xfrm>
          <a:prstGeom prst="rect">
            <a:avLst/>
          </a:prstGeom>
          <a:noFill/>
          <a:ln/>
        </p:spPr>
        <p:txBody>
          <a:bodyPr wrap="square" lIns="91440" tIns="45720" rIns="91440" bIns="45720" rtlCol="0" anchor="t"/>
          <a:lstStyle/>
          <a:p>
            <a:pPr>
              <a:buSzPct val="100000"/>
              <a:buFont typeface="Arial"/>
              <a:buChar char="•"/>
            </a:pPr>
            <a:r>
              <a:rPr lang="en-US" sz="1200">
                <a:solidFill>
                  <a:srgbClr val="F0EDE8"/>
                </a:solidFill>
                <a:latin typeface="JetBrains Mono"/>
                <a:ea typeface="JetBrains Mono"/>
                <a:cs typeface="Courier New"/>
              </a:rPr>
              <a:t>Demo #2</a:t>
            </a:r>
            <a:endParaRPr lang="en-US" sz="1200"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JetBrains Mono"/>
              <a:ea typeface="JetBrains Mono"/>
              <a:cs typeface="Courier New" panose="02070309020205020404" pitchFamily="49" charset="0"/>
            </a:endParaRPr>
          </a:p>
          <a:p>
            <a:pPr>
              <a:buSzPct val="100000"/>
              <a:buFont typeface="Arial"/>
              <a:buChar char="•"/>
            </a:pPr>
            <a:r>
              <a:rPr lang="en-US" sz="1200">
                <a:solidFill>
                  <a:srgbClr val="F0EDE8"/>
                </a:solidFill>
                <a:latin typeface="JetBrains Mono"/>
                <a:ea typeface="JetBrains Mono"/>
                <a:cs typeface="Courier New"/>
              </a:rPr>
              <a:t>We will</a:t>
            </a:r>
            <a:r>
              <a:rPr lang="en-US" sz="1200" dirty="0">
                <a:solidFill>
                  <a:srgbClr val="F0EDE8"/>
                </a:solidFill>
                <a:latin typeface="JetBrains Mono"/>
                <a:ea typeface="JetBrains Mono"/>
                <a:cs typeface="Courier New"/>
              </a:rPr>
              <a:t> look at an attack against an AI agent.</a:t>
            </a:r>
            <a:endParaRPr lang="en-US" sz="1200" dirty="0">
              <a:solidFill>
                <a:srgbClr val="F0EDE8"/>
              </a:solidFill>
              <a:latin typeface="JetBrains Mono"/>
              <a:ea typeface="JetBrains Mono"/>
              <a:cs typeface="Courier New" panose="02070309020205020404" pitchFamily="49" charset="0"/>
            </a:endParaRPr>
          </a:p>
          <a:p>
            <a:pPr>
              <a:buSzPct val="100000"/>
              <a:buFont typeface="Arial"/>
              <a:buChar char="•"/>
            </a:pPr>
            <a:endParaRPr lang="en-US" sz="1200" dirty="0">
              <a:solidFill>
                <a:srgbClr val="F0EDE8"/>
              </a:solidFill>
              <a:latin typeface="JetBrains Mono"/>
              <a:ea typeface="JetBrains Mono"/>
              <a:cs typeface="Courier New" panose="02070309020205020404" pitchFamily="49" charset="0"/>
            </a:endParaRPr>
          </a:p>
          <a:p>
            <a:pPr lvl="1">
              <a:buSzPct val="100000"/>
              <a:buFont typeface="Courier New"/>
              <a:buChar char="o"/>
            </a:pPr>
            <a:r>
              <a:rPr lang="en-US" sz="1200" dirty="0">
                <a:solidFill>
                  <a:srgbClr val="F0EDE8"/>
                </a:solidFill>
                <a:latin typeface="JetBrains Mono"/>
                <a:ea typeface="JetBrains Mono"/>
                <a:cs typeface="Courier New"/>
              </a:rPr>
              <a:t> What was the attacker's objective?</a:t>
            </a:r>
            <a:endParaRPr lang="en-US" sz="1200" dirty="0">
              <a:solidFill>
                <a:srgbClr val="F0EDE8"/>
              </a:solidFill>
              <a:latin typeface="JetBrains Mono"/>
              <a:ea typeface="JetBrains Mono"/>
              <a:cs typeface="Courier New" panose="02070309020205020404" pitchFamily="49" charset="0"/>
            </a:endParaRPr>
          </a:p>
          <a:p>
            <a:pPr>
              <a:buSzPct val="100000"/>
              <a:buFont typeface="Arial"/>
              <a:buChar char="•"/>
            </a:pPr>
            <a:endParaRPr lang="en-US" sz="1200" dirty="0">
              <a:solidFill>
                <a:srgbClr val="F0EDE8"/>
              </a:solidFill>
              <a:latin typeface="JetBrains Mono"/>
              <a:ea typeface="JetBrains Mono"/>
              <a:cs typeface="Courier New" panose="02070309020205020404" pitchFamily="49" charset="0"/>
            </a:endParaRPr>
          </a:p>
          <a:p>
            <a:pPr lvl="1">
              <a:buSzPct val="100000"/>
              <a:buFont typeface="Courier New"/>
              <a:buChar char="o"/>
            </a:pPr>
            <a:r>
              <a:rPr lang="en-US" sz="1200" dirty="0">
                <a:solidFill>
                  <a:srgbClr val="F0EDE8"/>
                </a:solidFill>
                <a:latin typeface="JetBrains Mono"/>
                <a:ea typeface="JetBrains Mono"/>
                <a:cs typeface="Courier New"/>
              </a:rPr>
              <a:t> What tactics did you observe?</a:t>
            </a:r>
            <a:endParaRPr lang="en-US" sz="1200" dirty="0">
              <a:solidFill>
                <a:srgbClr val="F0EDE8"/>
              </a:solidFill>
              <a:latin typeface="JetBrains Mono"/>
              <a:ea typeface="JetBrains Mono"/>
              <a:cs typeface="Courier New" panose="02070309020205020404" pitchFamily="49" charset="0"/>
            </a:endParaRPr>
          </a:p>
          <a:p>
            <a:pPr>
              <a:buSzPct val="100000"/>
              <a:buFont typeface="Arial"/>
              <a:buChar char="•"/>
            </a:pPr>
            <a:endParaRPr lang="en-US" sz="1200" dirty="0">
              <a:solidFill>
                <a:srgbClr val="F0EDE8"/>
              </a:solidFill>
              <a:latin typeface="JetBrains Mono"/>
              <a:ea typeface="JetBrains Mono"/>
              <a:cs typeface="Courier New" panose="02070309020205020404" pitchFamily="49" charset="0"/>
            </a:endParaRPr>
          </a:p>
          <a:p>
            <a:pPr lvl="1">
              <a:buSzPct val="100000"/>
              <a:buFont typeface="Courier New"/>
              <a:buChar char="o"/>
            </a:pPr>
            <a:r>
              <a:rPr lang="en-US" sz="1200">
                <a:solidFill>
                  <a:srgbClr val="F0EDE8"/>
                </a:solidFill>
                <a:latin typeface="JetBrains Mono"/>
                <a:ea typeface="JetBrains Mono"/>
                <a:cs typeface="Courier New"/>
              </a:rPr>
              <a:t> Was the attack successful?</a:t>
            </a:r>
            <a:endParaRPr lang="en-US" sz="1200" dirty="0">
              <a:solidFill>
                <a:srgbClr val="F0EDE8"/>
              </a:solidFill>
              <a:latin typeface="JetBrains Mono"/>
              <a:ea typeface="JetBrains Mono"/>
              <a:cs typeface="Courier New" panose="02070309020205020404" pitchFamily="49" charset="0"/>
            </a:endParaRPr>
          </a:p>
          <a:p>
            <a:pPr lvl="1">
              <a:buFont typeface="Courier New"/>
              <a:buChar char="o"/>
            </a:pPr>
            <a:endParaRPr lang="en-US">
              <a:solidFill>
                <a:srgbClr val="000000"/>
              </a:solidFill>
              <a:latin typeface="Courier New" panose="02070309020205020404" pitchFamily="49" charset="0"/>
              <a:ea typeface="JetBrains Mono"/>
              <a:cs typeface="Courier New" panose="02070309020205020404" pitchFamily="49" charset="0"/>
            </a:endParaRPr>
          </a:p>
          <a:p>
            <a:pPr lvl="1">
              <a:buFont typeface="Courier New"/>
              <a:buChar char="o"/>
            </a:pPr>
            <a:endParaRPr lang="en-US" sz="1200" b="1" dirty="0">
              <a:solidFill>
                <a:srgbClr val="F0EDE8"/>
              </a:solidFill>
              <a:latin typeface="JetBrains Mono"/>
              <a:ea typeface="JetBrains Mono"/>
              <a:cs typeface="Courier New" panose="02070309020205020404" pitchFamily="49" charset="0"/>
            </a:endParaRPr>
          </a:p>
          <a:p>
            <a:pPr>
              <a:buSzPct val="100000"/>
              <a:buFont typeface="Arial"/>
              <a:buChar char="•"/>
            </a:pPr>
            <a:endParaRPr lang="en-US" sz="1200" dirty="0">
              <a:solidFill>
                <a:srgbClr val="F0EDE8"/>
              </a:solidFill>
              <a:latin typeface="JetBrains Mono"/>
              <a:ea typeface="JetBrains Mono"/>
              <a:cs typeface="Courier New"/>
            </a:endParaRPr>
          </a:p>
          <a:p>
            <a:pPr>
              <a:buSzPct val="100000"/>
              <a:buFont typeface="Arial"/>
              <a:buChar char="•"/>
            </a:pPr>
            <a:endParaRPr lang="en-US" sz="1200" dirty="0">
              <a:solidFill>
                <a:srgbClr val="F0EDE8"/>
              </a:solidFill>
              <a:latin typeface="Courier New"/>
              <a:ea typeface="JetBrains Mono"/>
              <a:cs typeface="Courier New"/>
            </a:endParaRPr>
          </a:p>
          <a:p>
            <a:pPr marL="342900" indent="-342900">
              <a:spcAft>
                <a:spcPts val="1200"/>
              </a:spcAft>
              <a:buSzPct val="100000"/>
              <a:buFontTx/>
              <a:buChar char="•"/>
            </a:pPr>
            <a:endParaRPr lang="en-US" sz="1300" dirty="0">
              <a:solidFill>
                <a:srgbClr val="F0EDE8"/>
              </a:solidFill>
              <a:latin typeface="Calibri"/>
              <a:ea typeface="Calibri"/>
              <a:cs typeface="Calibri"/>
            </a:endParaRPr>
          </a:p>
        </p:txBody>
      </p:sp>
      <p:pic>
        <p:nvPicPr>
          <p:cNvPr id="5" name="Picture 4" descr="retro 8-bit glitchcore rendering of three synthetic humanoid ai agents exercising pin a gym practicing for e-sports, ret...">
            <a:extLst>
              <a:ext uri="{FF2B5EF4-FFF2-40B4-BE49-F238E27FC236}">
                <a16:creationId xmlns:a16="http://schemas.microsoft.com/office/drawing/2014/main" id="{B84A8707-7AF3-F5D8-3F49-004DD163FD6F}"/>
              </a:ext>
            </a:extLst>
          </p:cNvPr>
          <p:cNvPicPr>
            <a:picLocks noChangeAspect="1"/>
          </p:cNvPicPr>
          <p:nvPr/>
        </p:nvPicPr>
        <p:blipFill>
          <a:blip r:embed="rId3"/>
          <a:stretch>
            <a:fillRect/>
          </a:stretch>
        </p:blipFill>
        <p:spPr>
          <a:xfrm>
            <a:off x="5261982" y="822402"/>
            <a:ext cx="3805353" cy="3749597"/>
          </a:xfrm>
          <a:prstGeom prst="rect">
            <a:avLst/>
          </a:prstGeom>
        </p:spPr>
      </p:pic>
    </p:spTree>
    <p:extLst>
      <p:ext uri="{BB962C8B-B14F-4D97-AF65-F5344CB8AC3E}">
        <p14:creationId xmlns:p14="http://schemas.microsoft.com/office/powerpoint/2010/main" val="4228081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CC0000"/>
          </a:solidFill>
          <a:ln w="12700">
            <a:solidFill>
              <a:srgbClr val="CC0000"/>
            </a:solidFill>
            <a:prstDash val="solid"/>
          </a:ln>
        </p:spPr>
      </p:sp>
      <p:sp>
        <p:nvSpPr>
          <p:cNvPr id="3" name="Text 1"/>
          <p:cNvSpPr/>
          <p:nvPr/>
        </p:nvSpPr>
        <p:spPr>
          <a:xfrm>
            <a:off x="365760" y="274320"/>
            <a:ext cx="5303520" cy="502920"/>
          </a:xfrm>
          <a:prstGeom prst="rect">
            <a:avLst/>
          </a:prstGeom>
          <a:noFill/>
          <a:ln/>
        </p:spPr>
        <p:txBody>
          <a:bodyPr wrap="square" lIns="0" tIns="0" rIns="0" bIns="0" rtlCol="0" anchor="ctr"/>
          <a:lstStyle/>
          <a:p>
            <a:pPr marL="0" indent="0" algn="l">
              <a:buNone/>
            </a:pPr>
            <a:r>
              <a:rPr lang="en-US" sz="1100" b="1" kern="0" spc="600" dirty="0">
                <a:solidFill>
                  <a:srgbClr val="666666"/>
                </a:solidFill>
                <a:latin typeface="JetBrains Mono" pitchFamily="34" charset="0"/>
                <a:ea typeface="JetBrains Mono" pitchFamily="34" charset="-122"/>
                <a:cs typeface="JetBrains Mono" pitchFamily="34" charset="-120"/>
              </a:rPr>
              <a:t>HACKNWA</a:t>
            </a:r>
            <a:endParaRPr lang="en-US" sz="1100" dirty="0"/>
          </a:p>
        </p:txBody>
      </p:sp>
      <p:sp>
        <p:nvSpPr>
          <p:cNvPr id="4" name="Text 2"/>
          <p:cNvSpPr/>
          <p:nvPr/>
        </p:nvSpPr>
        <p:spPr>
          <a:xfrm>
            <a:off x="365760" y="914400"/>
            <a:ext cx="5303520" cy="914400"/>
          </a:xfrm>
          <a:prstGeom prst="rect">
            <a:avLst/>
          </a:prstGeom>
          <a:noFill/>
          <a:ln/>
        </p:spPr>
        <p:txBody>
          <a:bodyPr wrap="square" lIns="0" tIns="0" rIns="0" bIns="0" rtlCol="0" anchor="ctr"/>
          <a:lstStyle/>
          <a:p>
            <a:pPr marL="0" indent="0" algn="l">
              <a:buNone/>
            </a:pPr>
            <a:r>
              <a:rPr lang="en-US" sz="5400" b="1" dirty="0">
                <a:solidFill>
                  <a:srgbClr val="F0EDE8"/>
                </a:solidFill>
                <a:latin typeface="Arial Black" pitchFamily="34" charset="0"/>
                <a:ea typeface="Arial Black" pitchFamily="34" charset="-122"/>
                <a:cs typeface="Arial Black" pitchFamily="34" charset="-120"/>
              </a:rPr>
              <a:t>QUESTIONS?</a:t>
            </a:r>
            <a:endParaRPr lang="en-US" sz="5400" dirty="0"/>
          </a:p>
        </p:txBody>
      </p:sp>
      <p:sp>
        <p:nvSpPr>
          <p:cNvPr id="5" name="Shape 3"/>
          <p:cNvSpPr/>
          <p:nvPr/>
        </p:nvSpPr>
        <p:spPr>
          <a:xfrm>
            <a:off x="365760" y="1920240"/>
            <a:ext cx="5029200" cy="45720"/>
          </a:xfrm>
          <a:prstGeom prst="rect">
            <a:avLst/>
          </a:prstGeom>
          <a:solidFill>
            <a:srgbClr val="FF1A1A"/>
          </a:solidFill>
          <a:ln w="12700">
            <a:solidFill>
              <a:srgbClr val="FF1A1A"/>
            </a:solidFill>
            <a:prstDash val="solid"/>
          </a:ln>
        </p:spPr>
      </p:sp>
      <p:sp>
        <p:nvSpPr>
          <p:cNvPr id="6" name="Text 4"/>
          <p:cNvSpPr/>
          <p:nvPr/>
        </p:nvSpPr>
        <p:spPr>
          <a:xfrm>
            <a:off x="365760" y="2103120"/>
            <a:ext cx="5303520" cy="411480"/>
          </a:xfrm>
          <a:prstGeom prst="rect">
            <a:avLst/>
          </a:prstGeom>
          <a:noFill/>
          <a:ln/>
        </p:spPr>
        <p:txBody>
          <a:bodyPr wrap="square" lIns="0" tIns="0" rIns="0" bIns="0" rtlCol="0" anchor="ctr"/>
          <a:lstStyle/>
          <a:p>
            <a:r>
              <a:rPr lang="en-US" sz="2000" b="1">
                <a:solidFill>
                  <a:srgbClr val="F0EDE8"/>
                </a:solidFill>
                <a:latin typeface="JetBrains Mono"/>
                <a:ea typeface="JetBrains Mono"/>
              </a:rPr>
              <a:t>Christopher Williams</a:t>
            </a:r>
            <a:endParaRPr lang="en-US" sz="2000" dirty="0"/>
          </a:p>
        </p:txBody>
      </p:sp>
      <p:sp>
        <p:nvSpPr>
          <p:cNvPr id="7" name="Text 5"/>
          <p:cNvSpPr/>
          <p:nvPr/>
        </p:nvSpPr>
        <p:spPr>
          <a:xfrm>
            <a:off x="365760" y="2542032"/>
            <a:ext cx="5303520" cy="320040"/>
          </a:xfrm>
          <a:prstGeom prst="rect">
            <a:avLst/>
          </a:prstGeom>
          <a:noFill/>
          <a:ln/>
        </p:spPr>
        <p:txBody>
          <a:bodyPr wrap="square" lIns="0" tIns="0" rIns="0" bIns="0" rtlCol="0" anchor="ctr"/>
          <a:lstStyle/>
          <a:p>
            <a:r>
              <a:rPr lang="en-US" sz="1300" dirty="0">
                <a:solidFill>
                  <a:srgbClr val="AAAAAA"/>
                </a:solidFill>
                <a:latin typeface="JetBrains Mono"/>
                <a:ea typeface="JetBrains Mono"/>
              </a:rPr>
              <a:t>Principal Incident </a:t>
            </a:r>
            <a:r>
              <a:rPr lang="en-US" sz="1300">
                <a:solidFill>
                  <a:srgbClr val="AAAAAA"/>
                </a:solidFill>
                <a:latin typeface="JetBrains Mono"/>
                <a:ea typeface="JetBrains Mono"/>
              </a:rPr>
              <a:t>Response Engineer, Ethical Hacker, DevOps practitioner</a:t>
            </a:r>
            <a:endParaRPr lang="en-US" sz="1300" dirty="0">
              <a:solidFill>
                <a:srgbClr val="AAAAAA"/>
              </a:solidFill>
              <a:latin typeface="JetBrains Mono"/>
              <a:ea typeface="JetBrains Mono"/>
            </a:endParaRPr>
          </a:p>
        </p:txBody>
      </p:sp>
      <p:sp>
        <p:nvSpPr>
          <p:cNvPr id="8" name="Text 6"/>
          <p:cNvSpPr/>
          <p:nvPr/>
        </p:nvSpPr>
        <p:spPr>
          <a:xfrm>
            <a:off x="365760" y="3017520"/>
            <a:ext cx="5303520" cy="822960"/>
          </a:xfrm>
          <a:prstGeom prst="rect">
            <a:avLst/>
          </a:prstGeom>
          <a:noFill/>
          <a:ln/>
        </p:spPr>
        <p:txBody>
          <a:bodyPr wrap="square" lIns="91440" tIns="45720" rIns="91440" bIns="45720" rtlCol="0" anchor="ctr"/>
          <a:lstStyle/>
          <a:p>
            <a:r>
              <a:rPr lang="en-US" sz="1200">
                <a:solidFill>
                  <a:srgbClr val="FF1A1A"/>
                </a:solidFill>
                <a:latin typeface="JetBrains Mono"/>
                <a:ea typeface="JetBrains Mono"/>
                <a:cs typeface="JetBrains Mono" pitchFamily="34" charset="-120"/>
              </a:rPr>
              <a:t>  signal: </a:t>
            </a:r>
            <a:r>
              <a:rPr lang="en-US" sz="1200">
                <a:solidFill>
                  <a:schemeClr val="bg1"/>
                </a:solidFill>
                <a:latin typeface="JetBrains Mono"/>
                <a:ea typeface="JetBrains Mono"/>
                <a:cs typeface="JetBrains Mono" pitchFamily="34" charset="-120"/>
              </a:rPr>
              <a:t>cybersquirrel.73</a:t>
            </a:r>
            <a:endParaRPr lang="en-US" sz="1200" dirty="0">
              <a:solidFill>
                <a:schemeClr val="bg1"/>
              </a:solidFill>
              <a:latin typeface="JetBrains Mono"/>
              <a:ea typeface="JetBrains Mono"/>
              <a:cs typeface="JetBrains Mono" pitchFamily="34" charset="-120"/>
            </a:endParaRPr>
          </a:p>
          <a:p>
            <a:r>
              <a:rPr lang="en-US" sz="1200" dirty="0">
                <a:solidFill>
                  <a:srgbClr val="FF0000"/>
                </a:solidFill>
                <a:latin typeface="JetBrains Mono"/>
                <a:ea typeface="JetBrains Mono"/>
                <a:cs typeface="JetBrains Mono" pitchFamily="34" charset="-120"/>
              </a:rPr>
              <a:t>discord:</a:t>
            </a:r>
            <a:r>
              <a:rPr lang="en-US" sz="1200" dirty="0">
                <a:solidFill>
                  <a:srgbClr val="F0EDE8"/>
                </a:solidFill>
                <a:latin typeface="JetBrains Mono"/>
                <a:ea typeface="JetBrains Mono"/>
                <a:cs typeface="JetBrains Mono" pitchFamily="34" charset="-120"/>
              </a:rPr>
              <a:t> </a:t>
            </a:r>
            <a:r>
              <a:rPr lang="en-US" sz="1200" dirty="0" err="1">
                <a:solidFill>
                  <a:srgbClr val="F0EDE8"/>
                </a:solidFill>
                <a:latin typeface="JetBrains Mono"/>
                <a:ea typeface="JetBrains Mono"/>
                <a:cs typeface="JetBrains Mono" pitchFamily="34" charset="-120"/>
              </a:rPr>
              <a:t>cybersquirrelfl</a:t>
            </a:r>
            <a:endParaRPr lang="en-US" sz="1200" dirty="0" err="1">
              <a:solidFill>
                <a:srgbClr val="F0EDE8"/>
              </a:solidFill>
              <a:latin typeface="JetBrains Mono"/>
            </a:endParaRPr>
          </a:p>
          <a:p>
            <a:r>
              <a:rPr lang="en-US" sz="1200" dirty="0">
                <a:solidFill>
                  <a:srgbClr val="FF1A1A"/>
                </a:solidFill>
                <a:latin typeface="JetBrains Mono"/>
                <a:ea typeface="JetBrains Mono"/>
                <a:cs typeface="JetBrains Mono" pitchFamily="34" charset="-120"/>
              </a:rPr>
              <a:t>   email: </a:t>
            </a:r>
            <a:r>
              <a:rPr lang="en-US" sz="1200">
                <a:solidFill>
                  <a:srgbClr val="F0EDE8"/>
                </a:solidFill>
                <a:latin typeface="JetBrains Mono"/>
                <a:ea typeface="JetBrains Mono"/>
                <a:cs typeface="JetBrains Mono" pitchFamily="34" charset="-120"/>
              </a:rPr>
              <a:t>gnulinuxadmin@gmail.com</a:t>
            </a:r>
            <a:endParaRPr lang="en-US" sz="1200">
              <a:latin typeface="JetBrains Mono"/>
            </a:endParaRPr>
          </a:p>
        </p:txBody>
      </p:sp>
      <p:sp>
        <p:nvSpPr>
          <p:cNvPr id="9" name="Text 7"/>
          <p:cNvSpPr/>
          <p:nvPr/>
        </p:nvSpPr>
        <p:spPr>
          <a:xfrm>
            <a:off x="6035040" y="914400"/>
            <a:ext cx="2926080" cy="2560320"/>
          </a:xfrm>
          <a:prstGeom prst="rect">
            <a:avLst/>
          </a:prstGeom>
          <a:noFill/>
          <a:ln/>
        </p:spPr>
        <p:txBody>
          <a:bodyPr wrap="square" lIns="91440" tIns="45720" rIns="91440" bIns="45720" rtlCol="0" anchor="ctr"/>
          <a:lstStyle/>
          <a:p>
            <a:pPr marL="0" indent="0" algn="ctr">
              <a:buNone/>
            </a:pPr>
            <a:endParaRPr lang="en-US" sz="3600" b="1" dirty="0">
              <a:solidFill>
                <a:srgbClr val="F0EDE8"/>
              </a:solidFill>
              <a:latin typeface="Arial Black"/>
            </a:endParaRPr>
          </a:p>
        </p:txBody>
      </p:sp>
      <p:sp>
        <p:nvSpPr>
          <p:cNvPr id="10" name="Text 8"/>
          <p:cNvSpPr/>
          <p:nvPr/>
        </p:nvSpPr>
        <p:spPr>
          <a:xfrm>
            <a:off x="6035040" y="3657600"/>
            <a:ext cx="2926080" cy="731520"/>
          </a:xfrm>
          <a:prstGeom prst="rect">
            <a:avLst/>
          </a:prstGeom>
          <a:noFill/>
          <a:ln/>
        </p:spPr>
        <p:txBody>
          <a:bodyPr wrap="square" lIns="0" tIns="0" rIns="0" bIns="0" rtlCol="0" anchor="ctr"/>
          <a:lstStyle/>
          <a:p>
            <a:pPr marL="0" indent="0" algn="ctr">
              <a:buNone/>
            </a:pPr>
            <a:endParaRPr lang="en-US" sz="1000" dirty="0">
              <a:solidFill>
                <a:srgbClr val="F0EDE8"/>
              </a:solidFill>
              <a:latin typeface="JetBrains Mono"/>
              <a:ea typeface="JetBrains Mono"/>
            </a:endParaRPr>
          </a:p>
        </p:txBody>
      </p:sp>
      <p:sp>
        <p:nvSpPr>
          <p:cNvPr id="11" name="Shape 9"/>
          <p:cNvSpPr/>
          <p:nvPr/>
        </p:nvSpPr>
        <p:spPr>
          <a:xfrm>
            <a:off x="0" y="4800600"/>
            <a:ext cx="9144000" cy="342900"/>
          </a:xfrm>
          <a:prstGeom prst="rect">
            <a:avLst/>
          </a:prstGeom>
          <a:solidFill>
            <a:srgbClr val="7A0000"/>
          </a:solidFill>
          <a:ln w="12700">
            <a:solidFill>
              <a:srgbClr val="7A0000"/>
            </a:solidFill>
            <a:prstDash val="solid"/>
          </a:ln>
        </p:spPr>
      </p:sp>
      <p:sp>
        <p:nvSpPr>
          <p:cNvPr id="12" name="Text 10"/>
          <p:cNvSpPr/>
          <p:nvPr/>
        </p:nvSpPr>
        <p:spPr>
          <a:xfrm>
            <a:off x="137160" y="4818888"/>
            <a:ext cx="2286000" cy="274320"/>
          </a:xfrm>
          <a:prstGeom prst="rect">
            <a:avLst/>
          </a:prstGeom>
          <a:noFill/>
          <a:ln/>
        </p:spPr>
        <p:txBody>
          <a:bodyPr wrap="square" lIns="0" tIns="0" rIns="0" bIns="0" rtlCol="0" anchor="ctr"/>
          <a:lstStyle/>
          <a:p>
            <a:pPr marL="0" indent="0" algn="l">
              <a:buNone/>
            </a:pPr>
            <a:r>
              <a:rPr lang="en-US" sz="900" b="1" dirty="0">
                <a:solidFill>
                  <a:srgbClr val="F0EDE8"/>
                </a:solidFill>
                <a:latin typeface="JetBrains Mono" pitchFamily="34" charset="0"/>
                <a:ea typeface="JetBrains Mono" pitchFamily="34" charset="-122"/>
                <a:cs typeface="JetBrains Mono" pitchFamily="34" charset="-120"/>
              </a:rPr>
              <a:t>HACKNWA</a:t>
            </a:r>
            <a:endParaRPr lang="en-US" sz="900" dirty="0"/>
          </a:p>
        </p:txBody>
      </p:sp>
      <p:sp>
        <p:nvSpPr>
          <p:cNvPr id="13" name="Text 11"/>
          <p:cNvSpPr/>
          <p:nvPr/>
        </p:nvSpPr>
        <p:spPr>
          <a:xfrm>
            <a:off x="2743200" y="4818888"/>
            <a:ext cx="3657600" cy="274320"/>
          </a:xfrm>
          <a:prstGeom prst="rect">
            <a:avLst/>
          </a:prstGeom>
          <a:noFill/>
          <a:ln/>
        </p:spPr>
        <p:txBody>
          <a:bodyPr wrap="square" lIns="0" tIns="0" rIns="0" bIns="0" rtlCol="0" anchor="ctr"/>
          <a:lstStyle/>
          <a:p>
            <a:pPr algn="ctr"/>
            <a:r>
              <a:rPr lang="en-US" sz="900">
                <a:solidFill>
                  <a:srgbClr val="AAAAAA"/>
                </a:solidFill>
                <a:latin typeface="Courier New"/>
                <a:ea typeface="JetBrains Mono" pitchFamily="34" charset="-122"/>
                <a:cs typeface="Courier New"/>
              </a:rPr>
              <a:t>AI For Ethical Hackers</a:t>
            </a:r>
            <a:endParaRPr lang="en-US"/>
          </a:p>
        </p:txBody>
      </p:sp>
      <p:sp>
        <p:nvSpPr>
          <p:cNvPr id="14" name="Text 12"/>
          <p:cNvSpPr/>
          <p:nvPr/>
        </p:nvSpPr>
        <p:spPr>
          <a:xfrm>
            <a:off x="6400800" y="4818888"/>
            <a:ext cx="2606040" cy="274320"/>
          </a:xfrm>
          <a:prstGeom prst="rect">
            <a:avLst/>
          </a:prstGeom>
          <a:noFill/>
          <a:ln/>
        </p:spPr>
        <p:txBody>
          <a:bodyPr wrap="square" lIns="0" tIns="0" rIns="0" bIns="0" rtlCol="0" anchor="ctr"/>
          <a:lstStyle/>
          <a:p>
            <a:pPr marL="0" indent="0" algn="r">
              <a:buNone/>
            </a:pPr>
            <a:r>
              <a:rPr lang="en-US" sz="900" dirty="0">
                <a:solidFill>
                  <a:srgbClr val="F0EDE8"/>
                </a:solidFill>
                <a:latin typeface="JetBrains Mono" pitchFamily="34" charset="0"/>
                <a:ea typeface="JetBrains Mono" pitchFamily="34" charset="-122"/>
                <a:cs typeface="JetBrains Mono" pitchFamily="34" charset="-120"/>
              </a:rPr>
              <a:t>APRIL 17, 2026</a:t>
            </a:r>
            <a:endParaRPr lang="en-US" sz="900" dirty="0"/>
          </a:p>
        </p:txBody>
      </p:sp>
      <p:pic>
        <p:nvPicPr>
          <p:cNvPr id="15" name="Picture 14" descr="retro 8-bit glitchcore rendering of the evolution from abacus to punch card to PDP-11 and tape reel, early IBM PC, serve...">
            <a:extLst>
              <a:ext uri="{FF2B5EF4-FFF2-40B4-BE49-F238E27FC236}">
                <a16:creationId xmlns:a16="http://schemas.microsoft.com/office/drawing/2014/main" id="{5E533A30-323D-32C4-548D-925B2B933A7E}"/>
              </a:ext>
            </a:extLst>
          </p:cNvPr>
          <p:cNvPicPr>
            <a:picLocks noChangeAspect="1"/>
          </p:cNvPicPr>
          <p:nvPr/>
        </p:nvPicPr>
        <p:blipFill>
          <a:blip r:embed="rId3"/>
          <a:stretch>
            <a:fillRect/>
          </a:stretch>
        </p:blipFill>
        <p:spPr>
          <a:xfrm>
            <a:off x="6161049" y="1826012"/>
            <a:ext cx="2843562" cy="28435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JetBrains Mono"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font script="Latn" typeface="Courier New"/>
      </a:majorFont>
      <a:minorFont>
        <a:latin typeface="JetBrains Mono"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font script="Latn" typeface="Courier New"/>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HackNWA Template — Holiday in Scambodia 2026</dc:title>
  <dc:subject>PptxGenJS Presentation</dc:subject>
  <dc:creator>HackNWA</dc:creator>
  <cp:lastModifiedBy>HackNWA</cp:lastModifiedBy>
  <cp:revision>974</cp:revision>
  <dcterms:created xsi:type="dcterms:W3CDTF">2026-03-19T23:48:14Z</dcterms:created>
  <dcterms:modified xsi:type="dcterms:W3CDTF">2026-03-28T02:52:31Z</dcterms:modified>
</cp:coreProperties>
</file>